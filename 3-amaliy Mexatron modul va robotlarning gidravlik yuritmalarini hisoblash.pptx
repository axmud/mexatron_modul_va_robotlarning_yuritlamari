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Noto Sans" panose="020B0502040504020204"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Taqdimot amaliy_mashgulot_3 uslubiy koʻrsatmasi asosida tayyorlangan: nazariya, sxemalar, toʻrt bosqichli amaliy hisob va nazorat savollari.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Gidravlik yuritmalarning asosiy afzalligi: ishchi suyuqlik amalda siqilmaydi va 10…30 MPa (100…300 bar) bosimda ishlaydi, shuning uchun quvvat zichligi va mexanik qattiqlik juda yuqori.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Hujjatdagi 2-jadval. 1-nazorat savoli: gidravlik yuritmaning ogʻir yuk koʻtaruvchi robotlardagi afzalliklari.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2-nazorat savoli: Paskal qonuni mexanik afzallikni qanday taʼminlaydi. Kuch ortadi, lekin katta porshen yoʻli A/a marta kichik boʻladi: energiya saqlanadi.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Robotlarning chiziqli koʻchish boʻgʻinlarida ikki tomonlama taʼsir etuvchi gidrosilindrlar qoʻllanadi. Qaytish yoʻlida P₂ ishchi bosim, P₁ esa aks bosim boʻladi.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3-nazorat savoli: D va d qaysi mezonlar boʻyicha hisoblanadi, K_z nimani anglatadi. K_z noaniq yuklamalar va dinamik zarbalarga zaxira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Q_max robotning barcha boʻgʻinlari bir vaqtda harakatlangan holat uchun hisoblanadi.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5-nazorat savoli: Q_nasos va P_el formulalari hamda FIK koeffitsiyentlarining taʼsiri. 600 koeffitsiyenti bar·l/min ni kW ga oʻtkazadi.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Servotaqsimlagichning uch holati: P→B/A→T (qaytish), yopiq (toʻxtash), P→A/B→T (chiqish). Saqlash klapani bosim P_w dan oshganda moyni bakka tashlaydi.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Siciliano va boshq. (Robotics: Modelling, Planning and Control) boʻyicha. 4-nazorat savoli: Q_c va Q_l qanday hisobga olinadi.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Blok-sxema hujjatdagi 2-rasm asosida (Siciliano va boshq. modeli). Har bir blok servo tenglamalaridan biriga mos keladi.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 S/t = 0,5/2,5 = 0,2 m/s. Masalani talabalar bilan birga toʻrt bosqichda yeching.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Tezlanish a = 0,5 m/s² deb qabul qilingan. Ishqalanish ogʻirlik kuchining 8 % i deb olingan.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K_z = 1,25. Eslatma: ishqalanish ham f_ishq, ham η_m orqali hisobga olingan, P₂ esa A₁ formulasida qatnashmaydi — natija zaxirali. Tekshiruv: P_w·A₁ − P₂·A₂ = 46,8 − 2,1 = 44,7 kN &gt; 27,7 kN.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Tanlangan nasos nazariy sarfi 32·1450/1000 = 46,4 l/min; haqiqiy (η_v = 0,92) 42,7 l/min ≥ 41,1 l/min (oqishlar bilan talab) — nasos yetarli.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η_tot = η_v·η_m·η_g = 0,82. Motor zaxirasi: 15/13,63 ≈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Hujjatdagi 1-jadval. 46,40 l/min — tanlangan nasosning nazariy sarfi (V_q·n).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1–5-savollar hujjatdan; 6-savol natijalar jadvali boʻyicha qoʻshimcha. Hisobotda hisoblash bosqichlari toʻliq bayon etiladi va standart parametrlar asoslanadi.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26720"/>
          </a:xfrm>
          <a:prstGeom prst="rect">
            <a:avLst/>
          </a:prstGeom>
          <a:noFill/>
          <a:ln/>
        </p:spPr>
        <p:txBody>
          <a:bodyPr wrap="square" lIns="0" tIns="0" rIns="0" bIns="0" rtlCol="0" anchor="t"/>
          <a:lstStyle>
            <a:lvl1pPr algn="l" indent="0" marL="0">
              <a:lnSpc>
                <a:spcPct val="115000"/>
              </a:lnSpc>
              <a:buNone/>
              <a:defRPr lang="en-US" sz="3000" dirty="0">
                <a:solidFill>
                  <a:srgbClr val="17212B"/>
                </a:solidFill>
                <a:latin typeface="Noto Sans" pitchFamily="34" charset="0"/>
                <a:ea typeface="Noto Sans" pitchFamily="34" charset="-122"/>
                <a:cs typeface="Noto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33878"/>
            <a:ext cx="10566400" cy="4211322"/>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26720"/>
          </a:xfrm>
          <a:prstGeom prst="rect">
            <a:avLst/>
          </a:prstGeom>
          <a:noFill/>
          <a:ln/>
        </p:spPr>
        <p:txBody>
          <a:bodyPr wrap="square" lIns="0" tIns="0" rIns="0" bIns="0" rtlCol="0" anchor="t"/>
          <a:lstStyle>
            <a:lvl1pPr algn="l" indent="0" marL="0">
              <a:lnSpc>
                <a:spcPct val="115000"/>
              </a:lnSpc>
              <a:buNone/>
              <a:defRPr lang="en-US" sz="3000" dirty="0">
                <a:solidFill>
                  <a:srgbClr val="17212B"/>
                </a:solidFill>
                <a:latin typeface="Noto Sans" pitchFamily="34" charset="0"/>
                <a:ea typeface="Noto Sans" pitchFamily="34" charset="-122"/>
                <a:cs typeface="Noto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33878"/>
            <a:ext cx="10566400" cy="4211322"/>
          </a:xfrm>
          <a:prstGeom prst="rect">
            <a:avLst/>
          </a:prstGeom>
          <a:noFill/>
          <a:ln/>
        </p:spPr>
        <p:txBody>
          <a:bodyPr wrap="square" lIns="0" tIns="0" rIns="0" bIns="0" rtlCol="0" anchor="t"/>
          <a:lstStyle>
            <a:lvl1pPr algn="l" indent="0" marL="0">
              <a:lnSpc>
                <a:spcPct val="140000"/>
              </a:lnSpc>
              <a:buNone/>
              <a:defRPr lang="en-US" sz="1600" dirty="0">
                <a:solidFill>
                  <a:srgbClr val="17212B"/>
                </a:solidFill>
                <a:latin typeface="Noto Sans" pitchFamily="34" charset="0"/>
                <a:ea typeface="Noto Sans" pitchFamily="34" charset="-122"/>
                <a:cs typeface="No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8A3C"/>
                </a:solidFill>
                <a:latin typeface="Noto Sans" pitchFamily="34" charset="0"/>
                <a:ea typeface="Noto Sans" pitchFamily="34" charset="-122"/>
                <a:cs typeface="Noto Sans" pitchFamily="34" charset="-120"/>
              </a:rPr>
              <a:t>AMALIY MASHGʻULOT №3</a:t>
            </a:r>
            <a:endParaRPr lang="en-US" sz="1400" dirty="0"/>
          </a:p>
        </p:txBody>
      </p:sp>
      <p:sp>
        <p:nvSpPr>
          <p:cNvPr id="3" name="Text 1"/>
          <p:cNvSpPr/>
          <p:nvPr>
            <p:ph type="title"/>
          </p:nvPr>
        </p:nvSpPr>
        <p:spPr>
          <a:xfrm>
            <a:off x="812800" y="126492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1EEE6"/>
                </a:solidFill>
                <a:latin typeface="Noto Sans" pitchFamily="34" charset="0"/>
                <a:ea typeface="Noto Sans" pitchFamily="34" charset="-122"/>
                <a:cs typeface="Noto Sans" pitchFamily="34" charset="-120"/>
              </a:rPr>
              <a:t>Mexatron modul va robotlarning gidravlik yuritmalarini hisoblash</a:t>
            </a:r>
            <a:endParaRPr lang="en-US" sz="4000" dirty="0"/>
          </a:p>
        </p:txBody>
      </p:sp>
      <p:sp>
        <p:nvSpPr>
          <p:cNvPr id="4" name="Shape 2"/>
          <p:cNvSpPr/>
          <p:nvPr/>
        </p:nvSpPr>
        <p:spPr>
          <a:xfrm>
            <a:off x="812800" y="2585720"/>
            <a:ext cx="1016000" cy="50800"/>
          </a:xfrm>
          <a:prstGeom prst="roundRect">
            <a:avLst>
              <a:gd name="adj" fmla="val 50000"/>
            </a:avLst>
          </a:prstGeom>
          <a:solidFill>
            <a:srgbClr val="F08A3C"/>
          </a:solidFill>
          <a:ln/>
        </p:spPr>
      </p:sp>
      <p:sp>
        <p:nvSpPr>
          <p:cNvPr id="5" name="Text 3"/>
          <p:cNvSpPr/>
          <p:nvPr/>
        </p:nvSpPr>
        <p:spPr>
          <a:xfrm>
            <a:off x="812800" y="5496560"/>
            <a:ext cx="452395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FB0C2"/>
                </a:solidFill>
                <a:latin typeface="Noto Sans" pitchFamily="34" charset="0"/>
                <a:ea typeface="Noto Sans" pitchFamily="34" charset="-122"/>
                <a:cs typeface="Noto Sans" pitchFamily="34" charset="-120"/>
              </a:rPr>
              <a:t>FAN</a:t>
            </a:r>
            <a:endParaRPr lang="en-US" sz="1200" dirty="0"/>
          </a:p>
        </p:txBody>
      </p:sp>
      <p:sp>
        <p:nvSpPr>
          <p:cNvPr id="6" name="Text 4"/>
          <p:cNvSpPr/>
          <p:nvPr/>
        </p:nvSpPr>
        <p:spPr>
          <a:xfrm>
            <a:off x="812800" y="5760720"/>
            <a:ext cx="500178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EEE6"/>
                </a:solidFill>
                <a:latin typeface="Noto Sans" pitchFamily="34" charset="0"/>
                <a:ea typeface="Noto Sans" pitchFamily="34" charset="-122"/>
                <a:cs typeface="Noto Sans" pitchFamily="34" charset="-120"/>
              </a:rPr>
              <a:t>Mexatron modul va robotlarning yuritmalari</a:t>
            </a:r>
            <a:endParaRPr lang="en-US" sz="1600" dirty="0"/>
          </a:p>
        </p:txBody>
      </p:sp>
      <p:sp>
        <p:nvSpPr>
          <p:cNvPr id="7" name="Text 5"/>
          <p:cNvSpPr/>
          <p:nvPr/>
        </p:nvSpPr>
        <p:spPr>
          <a:xfrm>
            <a:off x="5814589" y="5496560"/>
            <a:ext cx="399689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FB0C2"/>
                </a:solidFill>
                <a:latin typeface="Noto Sans" pitchFamily="34" charset="0"/>
                <a:ea typeface="Noto Sans" pitchFamily="34" charset="-122"/>
                <a:cs typeface="Noto Sans" pitchFamily="34" charset="-120"/>
              </a:rPr>
              <a:t>AMALIY MISOL</a:t>
            </a:r>
            <a:endParaRPr lang="en-US" sz="1200" dirty="0"/>
          </a:p>
        </p:txBody>
      </p:sp>
      <p:sp>
        <p:nvSpPr>
          <p:cNvPr id="8" name="Text 6"/>
          <p:cNvSpPr/>
          <p:nvPr/>
        </p:nvSpPr>
        <p:spPr>
          <a:xfrm>
            <a:off x="5814589" y="5760720"/>
            <a:ext cx="46565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EEE6"/>
                </a:solidFill>
                <a:latin typeface="Noto Sans" pitchFamily="34" charset="0"/>
                <a:ea typeface="Noto Sans" pitchFamily="34" charset="-122"/>
                <a:cs typeface="Noto Sans" pitchFamily="34" charset="-120"/>
              </a:rPr>
              <a:t>2500 kg yukni koʻtaruvchi robot boʻgʻini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0"/>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Ishning maqsadi</a:t>
            </a:r>
            <a:endParaRPr lang="en-US" sz="3000" dirty="0"/>
          </a:p>
        </p:txBody>
      </p:sp>
      <p:sp>
        <p:nvSpPr>
          <p:cNvPr id="4" name="Text 2"/>
          <p:cNvSpPr/>
          <p:nvPr/>
        </p:nvSpPr>
        <p:spPr>
          <a:xfrm>
            <a:off x="812800" y="1732280"/>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7212B"/>
                </a:solidFill>
                <a:latin typeface="Noto Sans" pitchFamily="34" charset="0"/>
                <a:ea typeface="Noto Sans" pitchFamily="34" charset="-122"/>
                <a:cs typeface="Noto Sans" pitchFamily="34" charset="-120"/>
              </a:rPr>
              <a:t>Ogʻir yuk koʻtaruvchi robot va mexatron modullarning gidravlik yuritmalarini dinamik yuklama boʻyicha hisoblash va tanlash koʻnikmalarini shakllantirish.</a:t>
            </a:r>
            <a:endParaRPr lang="en-US" sz="1700" dirty="0"/>
          </a:p>
        </p:txBody>
      </p:sp>
      <p:sp>
        <p:nvSpPr>
          <p:cNvPr id="5" name="Shape 3"/>
          <p:cNvSpPr/>
          <p:nvPr/>
        </p:nvSpPr>
        <p:spPr>
          <a:xfrm>
            <a:off x="815975" y="2543175"/>
            <a:ext cx="2520950" cy="1830070"/>
          </a:xfrm>
          <a:prstGeom prst="roundRect">
            <a:avLst>
              <a:gd name="adj" fmla="val 4684"/>
            </a:avLst>
          </a:prstGeom>
          <a:solidFill>
            <a:srgbClr val="FBFAF7"/>
          </a:solidFill>
          <a:ln w="6350">
            <a:solidFill>
              <a:srgbClr val="DCD7CB"/>
            </a:solidFill>
            <a:prstDash val="solid"/>
          </a:ln>
        </p:spPr>
      </p:sp>
      <p:sp>
        <p:nvSpPr>
          <p:cNvPr id="6" name="Text 4"/>
          <p:cNvSpPr/>
          <p:nvPr/>
        </p:nvSpPr>
        <p:spPr>
          <a:xfrm>
            <a:off x="1008380" y="2735580"/>
            <a:ext cx="22002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621A"/>
                </a:solidFill>
                <a:latin typeface="Noto Sans" pitchFamily="34" charset="0"/>
                <a:ea typeface="Noto Sans" pitchFamily="34" charset="-122"/>
                <a:cs typeface="Noto Sans" pitchFamily="34" charset="-120"/>
              </a:rPr>
              <a:t>01</a:t>
            </a:r>
            <a:endParaRPr lang="en-US" sz="2000" dirty="0"/>
          </a:p>
        </p:txBody>
      </p:sp>
      <p:sp>
        <p:nvSpPr>
          <p:cNvPr id="7" name="Text 5"/>
          <p:cNvSpPr/>
          <p:nvPr/>
        </p:nvSpPr>
        <p:spPr>
          <a:xfrm>
            <a:off x="1008380" y="3167380"/>
            <a:ext cx="22002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Noto Sans" pitchFamily="34" charset="0"/>
                <a:ea typeface="Noto Sans" pitchFamily="34" charset="-122"/>
                <a:cs typeface="Noto Sans" pitchFamily="34" charset="-120"/>
              </a:rPr>
              <a:t>Ijro organlari</a:t>
            </a:r>
            <a:endParaRPr lang="en-US" sz="1600" dirty="0"/>
          </a:p>
        </p:txBody>
      </p:sp>
      <p:sp>
        <p:nvSpPr>
          <p:cNvPr id="8" name="Text 6"/>
          <p:cNvSpPr/>
          <p:nvPr/>
        </p:nvSpPr>
        <p:spPr>
          <a:xfrm>
            <a:off x="1008380" y="3487420"/>
            <a:ext cx="220022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Robot boʻgʻinlari uchun gidrosilindr va gidromotor parametrlarini hisoblash</a:t>
            </a:r>
            <a:endParaRPr lang="en-US" sz="1300" dirty="0"/>
          </a:p>
        </p:txBody>
      </p:sp>
      <p:sp>
        <p:nvSpPr>
          <p:cNvPr id="9" name="Shape 7"/>
          <p:cNvSpPr/>
          <p:nvPr/>
        </p:nvSpPr>
        <p:spPr>
          <a:xfrm>
            <a:off x="3495675" y="2543175"/>
            <a:ext cx="2520950" cy="1830070"/>
          </a:xfrm>
          <a:prstGeom prst="roundRect">
            <a:avLst>
              <a:gd name="adj" fmla="val 4684"/>
            </a:avLst>
          </a:prstGeom>
          <a:solidFill>
            <a:srgbClr val="FBFAF7"/>
          </a:solidFill>
          <a:ln w="6350">
            <a:solidFill>
              <a:srgbClr val="DCD7CB"/>
            </a:solidFill>
            <a:prstDash val="solid"/>
          </a:ln>
        </p:spPr>
      </p:sp>
      <p:sp>
        <p:nvSpPr>
          <p:cNvPr id="10" name="Text 8"/>
          <p:cNvSpPr/>
          <p:nvPr/>
        </p:nvSpPr>
        <p:spPr>
          <a:xfrm>
            <a:off x="3688080" y="2735580"/>
            <a:ext cx="22002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621A"/>
                </a:solidFill>
                <a:latin typeface="Noto Sans" pitchFamily="34" charset="0"/>
                <a:ea typeface="Noto Sans" pitchFamily="34" charset="-122"/>
                <a:cs typeface="Noto Sans" pitchFamily="34" charset="-120"/>
              </a:rPr>
              <a:t>02</a:t>
            </a:r>
            <a:endParaRPr lang="en-US" sz="2000" dirty="0"/>
          </a:p>
        </p:txBody>
      </p:sp>
      <p:sp>
        <p:nvSpPr>
          <p:cNvPr id="11" name="Text 9"/>
          <p:cNvSpPr/>
          <p:nvPr/>
        </p:nvSpPr>
        <p:spPr>
          <a:xfrm>
            <a:off x="3688080" y="3167380"/>
            <a:ext cx="22002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Noto Sans" pitchFamily="34" charset="0"/>
                <a:ea typeface="Noto Sans" pitchFamily="34" charset="-122"/>
                <a:cs typeface="Noto Sans" pitchFamily="34" charset="-120"/>
              </a:rPr>
              <a:t>Quvvat manbai</a:t>
            </a:r>
            <a:endParaRPr lang="en-US" sz="1600" dirty="0"/>
          </a:p>
        </p:txBody>
      </p:sp>
      <p:sp>
        <p:nvSpPr>
          <p:cNvPr id="12" name="Text 10"/>
          <p:cNvSpPr/>
          <p:nvPr/>
        </p:nvSpPr>
        <p:spPr>
          <a:xfrm>
            <a:off x="3688080" y="3487420"/>
            <a:ext cx="220022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Nasos unumdorligi, ishchi bosim va elektromotor quvvatini tanlash</a:t>
            </a:r>
            <a:endParaRPr lang="en-US" sz="1300" dirty="0"/>
          </a:p>
        </p:txBody>
      </p:sp>
      <p:sp>
        <p:nvSpPr>
          <p:cNvPr id="13" name="Shape 11"/>
          <p:cNvSpPr/>
          <p:nvPr/>
        </p:nvSpPr>
        <p:spPr>
          <a:xfrm>
            <a:off x="6175375" y="2543175"/>
            <a:ext cx="2520950" cy="1830070"/>
          </a:xfrm>
          <a:prstGeom prst="roundRect">
            <a:avLst>
              <a:gd name="adj" fmla="val 4684"/>
            </a:avLst>
          </a:prstGeom>
          <a:solidFill>
            <a:srgbClr val="FBFAF7"/>
          </a:solidFill>
          <a:ln w="6350">
            <a:solidFill>
              <a:srgbClr val="DCD7CB"/>
            </a:solidFill>
            <a:prstDash val="solid"/>
          </a:ln>
        </p:spPr>
      </p:sp>
      <p:sp>
        <p:nvSpPr>
          <p:cNvPr id="14" name="Text 12"/>
          <p:cNvSpPr/>
          <p:nvPr/>
        </p:nvSpPr>
        <p:spPr>
          <a:xfrm>
            <a:off x="6367780" y="2735580"/>
            <a:ext cx="22002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621A"/>
                </a:solidFill>
                <a:latin typeface="Noto Sans" pitchFamily="34" charset="0"/>
                <a:ea typeface="Noto Sans" pitchFamily="34" charset="-122"/>
                <a:cs typeface="Noto Sans" pitchFamily="34" charset="-120"/>
              </a:rPr>
              <a:t>03</a:t>
            </a:r>
            <a:endParaRPr lang="en-US" sz="2000" dirty="0"/>
          </a:p>
        </p:txBody>
      </p:sp>
      <p:sp>
        <p:nvSpPr>
          <p:cNvPr id="15" name="Text 13"/>
          <p:cNvSpPr/>
          <p:nvPr/>
        </p:nvSpPr>
        <p:spPr>
          <a:xfrm>
            <a:off x="6367780" y="3167380"/>
            <a:ext cx="22002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Noto Sans" pitchFamily="34" charset="0"/>
                <a:ea typeface="Noto Sans" pitchFamily="34" charset="-122"/>
                <a:cs typeface="Noto Sans" pitchFamily="34" charset="-120"/>
              </a:rPr>
              <a:t>Servoyuritma</a:t>
            </a:r>
            <a:endParaRPr lang="en-US" sz="1600" dirty="0"/>
          </a:p>
        </p:txBody>
      </p:sp>
      <p:sp>
        <p:nvSpPr>
          <p:cNvPr id="16" name="Text 14"/>
          <p:cNvSpPr/>
          <p:nvPr/>
        </p:nvSpPr>
        <p:spPr>
          <a:xfrm>
            <a:off x="6367780" y="3487420"/>
            <a:ext cx="220022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Servotaqsimlagich va gidroyuritmaning dinamik modelini tuzish</a:t>
            </a:r>
            <a:endParaRPr lang="en-US" sz="1300" dirty="0"/>
          </a:p>
        </p:txBody>
      </p:sp>
      <p:sp>
        <p:nvSpPr>
          <p:cNvPr id="17" name="Shape 15"/>
          <p:cNvSpPr/>
          <p:nvPr/>
        </p:nvSpPr>
        <p:spPr>
          <a:xfrm>
            <a:off x="8855075" y="2543175"/>
            <a:ext cx="2520950" cy="1830070"/>
          </a:xfrm>
          <a:prstGeom prst="roundRect">
            <a:avLst>
              <a:gd name="adj" fmla="val 4684"/>
            </a:avLst>
          </a:prstGeom>
          <a:solidFill>
            <a:srgbClr val="FBFAF7"/>
          </a:solidFill>
          <a:ln w="6350">
            <a:solidFill>
              <a:srgbClr val="DCD7CB"/>
            </a:solidFill>
            <a:prstDash val="solid"/>
          </a:ln>
        </p:spPr>
      </p:sp>
      <p:sp>
        <p:nvSpPr>
          <p:cNvPr id="18" name="Text 16"/>
          <p:cNvSpPr/>
          <p:nvPr/>
        </p:nvSpPr>
        <p:spPr>
          <a:xfrm>
            <a:off x="9047480" y="2735580"/>
            <a:ext cx="22002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621A"/>
                </a:solidFill>
                <a:latin typeface="Noto Sans" pitchFamily="34" charset="0"/>
                <a:ea typeface="Noto Sans" pitchFamily="34" charset="-122"/>
                <a:cs typeface="Noto Sans" pitchFamily="34" charset="-120"/>
              </a:rPr>
              <a:t>04</a:t>
            </a:r>
            <a:endParaRPr lang="en-US" sz="2000" dirty="0"/>
          </a:p>
        </p:txBody>
      </p:sp>
      <p:sp>
        <p:nvSpPr>
          <p:cNvPr id="19" name="Text 17"/>
          <p:cNvSpPr/>
          <p:nvPr/>
        </p:nvSpPr>
        <p:spPr>
          <a:xfrm>
            <a:off x="9047480" y="3167380"/>
            <a:ext cx="220022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12B"/>
                </a:solidFill>
                <a:latin typeface="Noto Sans" pitchFamily="34" charset="0"/>
                <a:ea typeface="Noto Sans" pitchFamily="34" charset="-122"/>
                <a:cs typeface="Noto Sans" pitchFamily="34" charset="-120"/>
              </a:rPr>
              <a:t>FIK</a:t>
            </a:r>
            <a:endParaRPr lang="en-US" sz="1600" dirty="0"/>
          </a:p>
        </p:txBody>
      </p:sp>
      <p:sp>
        <p:nvSpPr>
          <p:cNvPr id="20" name="Text 18"/>
          <p:cNvSpPr/>
          <p:nvPr/>
        </p:nvSpPr>
        <p:spPr>
          <a:xfrm>
            <a:off x="9047480" y="3487420"/>
            <a:ext cx="220022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Tizimning hajmiy va umumiy energetik FIK ini baholash</a:t>
            </a:r>
            <a:endParaRPr lang="en-US" sz="1300" dirty="0"/>
          </a:p>
        </p:txBody>
      </p:sp>
      <p:sp>
        <p:nvSpPr>
          <p:cNvPr id="21" name="Text 19"/>
          <p:cNvSpPr/>
          <p:nvPr/>
        </p:nvSpPr>
        <p:spPr>
          <a:xfrm>
            <a:off x="812800" y="6238239"/>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2" name="Text 20"/>
          <p:cNvSpPr/>
          <p:nvPr/>
        </p:nvSpPr>
        <p:spPr>
          <a:xfrm>
            <a:off x="11241193" y="6238239"/>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KIRISH</a:t>
            </a:r>
            <a:endParaRPr lang="en-US" sz="1200" dirty="0"/>
          </a:p>
        </p:txBody>
      </p:sp>
      <p:sp>
        <p:nvSpPr>
          <p:cNvPr id="3" name="Text 1"/>
          <p:cNvSpPr/>
          <p:nvPr>
            <p:ph type="title"/>
          </p:nvPr>
        </p:nvSpPr>
        <p:spPr>
          <a:xfrm>
            <a:off x="812800" y="1102361"/>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Yuritmalar turlarini solishtirish</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42440"/>
          <a:ext cx="10556240" cy="2684780"/>
        </p:xfrm>
        <a:graphic>
          <a:graphicData uri="http://schemas.openxmlformats.org/drawingml/2006/table">
            <a:tbl>
              <a:tblPr/>
              <a:tblGrid>
                <a:gridCol w="2850185"/>
                <a:gridCol w="2533498"/>
                <a:gridCol w="2639060"/>
                <a:gridCol w="2533498"/>
              </a:tblGrid>
              <a:tr h="383540">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Koʻrsatkich</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Elektr</a:t>
                      </a:r>
                      <a:endParaRPr lang="en-US" sz="1400" dirty="0">
                        <a:latin typeface="Noto Sans" charset="0"/>
                        <a:ea typeface="Noto Sans" charset="0"/>
                        <a:cs typeface="Noto Sans" charset="0"/>
                      </a:endParaRPr>
                    </a:p>
                  </a:txBody>
                  <a:tcPr marL="62230" marR="62230" marT="62230" marB="62230" anchor="t">
                    <a:lnL w="12700" cap="flat" cmpd="sng" algn="ctr">
                      <a:solidFill>
                        <a:srgbClr val="B4B2AE"/>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Gidravlik</a:t>
                      </a:r>
                      <a:endParaRPr lang="en-US" sz="1400" dirty="0">
                        <a:latin typeface="Noto Sans" charset="0"/>
                        <a:ea typeface="Noto Sans" charset="0"/>
                        <a:cs typeface="Noto Sans" charset="0"/>
                      </a:endParaRPr>
                    </a:p>
                  </a:txBody>
                  <a:tcPr marL="62230" marR="62230" marT="62230" marB="62230" anchor="t">
                    <a:lnL w="12700" cap="flat" cmpd="sng" algn="ctr">
                      <a:solidFill>
                        <a:srgbClr val="B4B2AE"/>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Pnevmatik</a:t>
                      </a:r>
                      <a:endParaRPr lang="en-US" sz="1400" dirty="0">
                        <a:latin typeface="Noto Sans" charset="0"/>
                        <a:ea typeface="Noto Sans" charset="0"/>
                        <a:cs typeface="Noto Sans" charset="0"/>
                      </a:endParaRPr>
                    </a:p>
                  </a:txBody>
                  <a:tcPr marL="62230" marR="62230" marT="62230" marB="62230" anchor="t">
                    <a:lnL w="12700" cap="flat" cmpd="sng" algn="ctr">
                      <a:solidFill>
                        <a:srgbClr val="B4B2AE"/>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r>
              <a:tr h="383540">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Quvvat / massa</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0,5…1,5 kW/kg</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5…10 kW/kg</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0,2…0,5 kW/kg</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83540">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Ishchi bosim</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10…30 MPa</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0,4…0,8 MPa</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r>
              <a:tr h="383540">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Qattiqlik</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Yuqori (reduktorli)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Juda yuqori (siqilmas)</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Past (gaz siqiluvchan)</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83540">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Pozitsiyalash aniqligi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±0,01 mm</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±0,05 mm</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±1…2 mm</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r>
              <a:tr h="383540">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Oʻtkazish polosasi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100…500 Hz</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50…150 Hz</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10…30 Hz</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83540">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Umumiy FIK</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80…90 %</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70…82 %</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30…45 %</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r>
            </a:tbl>
          </a:graphicData>
        </a:graphic>
      </p:graphicFrame>
      <p:sp>
        <p:nvSpPr>
          <p:cNvPr id="5" name="Text 2"/>
          <p:cNvSpPr/>
          <p:nvPr/>
        </p:nvSpPr>
        <p:spPr>
          <a:xfrm>
            <a:off x="812800" y="46304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Xulosa:</a:t>
            </a:r>
            <a:r>
              <a:rPr lang="en-US" sz="1400" dirty="0">
                <a:solidFill>
                  <a:srgbClr val="17212B"/>
                </a:solidFill>
                <a:latin typeface="Noto Sans" pitchFamily="34" charset="0"/>
                <a:ea typeface="Noto Sans" pitchFamily="34" charset="-122"/>
                <a:cs typeface="Noto Sans" pitchFamily="34" charset="-120"/>
              </a:rPr>
              <a:t> katta yuk va yuqori qattiqlik kerak boʻlganda gidravlik yuritma eng kuchli tanlov.</a:t>
            </a:r>
            <a:endParaRPr lang="en-US" sz="1400" dirty="0"/>
          </a:p>
        </p:txBody>
      </p:sp>
      <p:sp>
        <p:nvSpPr>
          <p:cNvPr id="6" name="Text 3"/>
          <p:cNvSpPr/>
          <p:nvPr/>
        </p:nvSpPr>
        <p:spPr>
          <a:xfrm>
            <a:off x="812800" y="6238239"/>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7" name="Text 4"/>
          <p:cNvSpPr/>
          <p:nvPr/>
        </p:nvSpPr>
        <p:spPr>
          <a:xfrm>
            <a:off x="11241193" y="6238239"/>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NAZARIY ASOSLAR</a:t>
            </a:r>
            <a:endParaRPr lang="en-US" sz="1200" dirty="0"/>
          </a:p>
        </p:txBody>
      </p:sp>
      <p:sp>
        <p:nvSpPr>
          <p:cNvPr id="3" name="Text 1"/>
          <p:cNvSpPr/>
          <p:nvPr>
            <p:ph type="title"/>
          </p:nvPr>
        </p:nvSpPr>
        <p:spPr>
          <a:xfrm>
            <a:off x="812800" y="1102361"/>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Paskal qonuni va mexanik afzallik</a:t>
            </a:r>
            <a:endParaRPr lang="en-US" sz="3000" dirty="0"/>
          </a:p>
        </p:txBody>
      </p:sp>
      <p:pic>
        <p:nvPicPr>
          <p:cNvPr id="4" name="Image 0" descr="Paskal qonuni: kichik porshenga berilgan f kuch katta porshenda F kuchni hosil qiladi">    </p:cNvPr>
          <p:cNvPicPr>
            <a:picLocks noChangeAspect="1"/>
          </p:cNvPicPr>
          <p:nvPr/>
        </p:nvPicPr>
        <p:blipFill>
          <a:blip r:embed="rId1"/>
          <a:srcRect l="0" r="0" t="0" b="0"/>
          <a:stretch/>
        </p:blipFill>
        <p:spPr>
          <a:xfrm>
            <a:off x="812800" y="1732280"/>
            <a:ext cx="5080000" cy="3048000"/>
          </a:xfrm>
          <a:prstGeom prst="rect">
            <a:avLst/>
          </a:prstGeom>
        </p:spPr>
      </p:pic>
      <p:sp>
        <p:nvSpPr>
          <p:cNvPr id="5" name="Text 2"/>
          <p:cNvSpPr/>
          <p:nvPr/>
        </p:nvSpPr>
        <p:spPr>
          <a:xfrm>
            <a:off x="1701800" y="2430780"/>
            <a:ext cx="431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Noto Sans" pitchFamily="34" charset="0"/>
                <a:ea typeface="Noto Sans" pitchFamily="34" charset="-122"/>
                <a:cs typeface="Noto Sans" pitchFamily="34" charset="-120"/>
              </a:rPr>
              <a:t>f</a:t>
            </a:r>
            <a:endParaRPr lang="en-US" sz="1500" dirty="0"/>
          </a:p>
        </p:txBody>
      </p:sp>
      <p:sp>
        <p:nvSpPr>
          <p:cNvPr id="6" name="Text 3"/>
          <p:cNvSpPr/>
          <p:nvPr/>
        </p:nvSpPr>
        <p:spPr>
          <a:xfrm>
            <a:off x="4749800" y="2113280"/>
            <a:ext cx="5588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Noto Sans" pitchFamily="34" charset="0"/>
                <a:ea typeface="Noto Sans" pitchFamily="34" charset="-122"/>
                <a:cs typeface="Noto Sans" pitchFamily="34" charset="-120"/>
              </a:rPr>
              <a:t>F</a:t>
            </a:r>
            <a:endParaRPr lang="en-US" sz="1500" dirty="0"/>
          </a:p>
        </p:txBody>
      </p:sp>
      <p:sp>
        <p:nvSpPr>
          <p:cNvPr id="7" name="Text 4"/>
          <p:cNvSpPr/>
          <p:nvPr/>
        </p:nvSpPr>
        <p:spPr>
          <a:xfrm>
            <a:off x="1168400" y="3891280"/>
            <a:ext cx="81280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7212B"/>
                </a:solidFill>
                <a:latin typeface="Noto Sans" pitchFamily="34" charset="0"/>
                <a:ea typeface="Noto Sans" pitchFamily="34" charset="-122"/>
                <a:cs typeface="Noto Sans" pitchFamily="34" charset="-120"/>
              </a:rPr>
              <a:t>a</a:t>
            </a:r>
            <a:endParaRPr lang="en-US" sz="1400" dirty="0"/>
          </a:p>
        </p:txBody>
      </p:sp>
      <p:sp>
        <p:nvSpPr>
          <p:cNvPr id="8" name="Text 5"/>
          <p:cNvSpPr/>
          <p:nvPr/>
        </p:nvSpPr>
        <p:spPr>
          <a:xfrm>
            <a:off x="3576320" y="3637280"/>
            <a:ext cx="209296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7212B"/>
                </a:solidFill>
                <a:latin typeface="Noto Sans" pitchFamily="34" charset="0"/>
                <a:ea typeface="Noto Sans" pitchFamily="34" charset="-122"/>
                <a:cs typeface="Noto Sans" pitchFamily="34" charset="-120"/>
              </a:rPr>
              <a:t>A</a:t>
            </a:r>
            <a:endParaRPr lang="en-US" sz="1400" dirty="0"/>
          </a:p>
        </p:txBody>
      </p:sp>
      <p:sp>
        <p:nvSpPr>
          <p:cNvPr id="9" name="Text 6"/>
          <p:cNvSpPr/>
          <p:nvPr/>
        </p:nvSpPr>
        <p:spPr>
          <a:xfrm>
            <a:off x="2184400" y="4081780"/>
            <a:ext cx="1193800" cy="238760"/>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1D5F9E"/>
                </a:solidFill>
                <a:latin typeface="Noto Sans" pitchFamily="34" charset="0"/>
                <a:ea typeface="Noto Sans" pitchFamily="34" charset="-122"/>
                <a:cs typeface="Noto Sans" pitchFamily="34" charset="-120"/>
              </a:rPr>
              <a:t>P</a:t>
            </a:r>
            <a:endParaRPr lang="en-US" sz="1400" dirty="0"/>
          </a:p>
        </p:txBody>
      </p:sp>
      <p:sp>
        <p:nvSpPr>
          <p:cNvPr id="10" name="Shape 7"/>
          <p:cNvSpPr/>
          <p:nvPr/>
        </p:nvSpPr>
        <p:spPr>
          <a:xfrm>
            <a:off x="6251575" y="1876425"/>
            <a:ext cx="5124450" cy="877570"/>
          </a:xfrm>
          <a:prstGeom prst="roundRect">
            <a:avLst>
              <a:gd name="adj" fmla="val 9768"/>
            </a:avLst>
          </a:prstGeom>
          <a:solidFill>
            <a:srgbClr val="FBFAF7"/>
          </a:solidFill>
          <a:ln w="6350">
            <a:solidFill>
              <a:srgbClr val="DCD7CB"/>
            </a:solidFill>
            <a:prstDash val="solid"/>
          </a:ln>
        </p:spPr>
      </p:sp>
      <p:sp>
        <p:nvSpPr>
          <p:cNvPr id="11" name="Text 8"/>
          <p:cNvSpPr/>
          <p:nvPr/>
        </p:nvSpPr>
        <p:spPr>
          <a:xfrm>
            <a:off x="6443980" y="2018030"/>
            <a:ext cx="488182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PASKAL QONUNI</a:t>
            </a:r>
            <a:endParaRPr lang="en-US" sz="1200" dirty="0"/>
          </a:p>
        </p:txBody>
      </p:sp>
      <p:sp>
        <p:nvSpPr>
          <p:cNvPr id="12" name="Text 9"/>
          <p:cNvSpPr/>
          <p:nvPr/>
        </p:nvSpPr>
        <p:spPr>
          <a:xfrm>
            <a:off x="6443980" y="2282189"/>
            <a:ext cx="48818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12B"/>
                </a:solidFill>
                <a:latin typeface="Noto Sans" pitchFamily="34" charset="0"/>
                <a:ea typeface="Noto Sans" pitchFamily="34" charset="-122"/>
                <a:cs typeface="Noto Sans" pitchFamily="34" charset="-120"/>
              </a:rPr>
              <a:t>P = f / a = F / A</a:t>
            </a:r>
            <a:endParaRPr lang="en-US" sz="2000" dirty="0"/>
          </a:p>
        </p:txBody>
      </p:sp>
      <p:sp>
        <p:nvSpPr>
          <p:cNvPr id="13" name="Shape 10"/>
          <p:cNvSpPr/>
          <p:nvPr/>
        </p:nvSpPr>
        <p:spPr>
          <a:xfrm>
            <a:off x="6251575" y="2900045"/>
            <a:ext cx="5124450" cy="1134110"/>
          </a:xfrm>
          <a:prstGeom prst="roundRect">
            <a:avLst>
              <a:gd name="adj" fmla="val 7559"/>
            </a:avLst>
          </a:prstGeom>
          <a:solidFill>
            <a:srgbClr val="FBFAF7"/>
          </a:solidFill>
          <a:ln w="6350">
            <a:solidFill>
              <a:srgbClr val="DCD7CB"/>
            </a:solidFill>
            <a:prstDash val="solid"/>
          </a:ln>
        </p:spPr>
      </p:sp>
      <p:sp>
        <p:nvSpPr>
          <p:cNvPr id="14" name="Text 11"/>
          <p:cNvSpPr/>
          <p:nvPr/>
        </p:nvSpPr>
        <p:spPr>
          <a:xfrm>
            <a:off x="6443980" y="3041650"/>
            <a:ext cx="488182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MEXANIK AFZALLIK</a:t>
            </a:r>
            <a:endParaRPr lang="en-US" sz="1200" dirty="0"/>
          </a:p>
        </p:txBody>
      </p:sp>
      <p:sp>
        <p:nvSpPr>
          <p:cNvPr id="15" name="Text 12"/>
          <p:cNvSpPr/>
          <p:nvPr/>
        </p:nvSpPr>
        <p:spPr>
          <a:xfrm>
            <a:off x="6443980" y="3305811"/>
            <a:ext cx="48818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12B"/>
                </a:solidFill>
                <a:latin typeface="Noto Sans" pitchFamily="34" charset="0"/>
                <a:ea typeface="Noto Sans" pitchFamily="34" charset="-122"/>
                <a:cs typeface="Noto Sans" pitchFamily="34" charset="-120"/>
              </a:rPr>
              <a:t>F = f · A / a</a:t>
            </a:r>
            <a:endParaRPr lang="en-US" sz="2000" dirty="0"/>
          </a:p>
        </p:txBody>
      </p:sp>
      <p:sp>
        <p:nvSpPr>
          <p:cNvPr id="16" name="Text 13"/>
          <p:cNvSpPr/>
          <p:nvPr/>
        </p:nvSpPr>
        <p:spPr>
          <a:xfrm>
            <a:off x="6443980" y="3686811"/>
            <a:ext cx="4881829"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616D"/>
                </a:solidFill>
                <a:latin typeface="Noto Sans" pitchFamily="34" charset="0"/>
                <a:ea typeface="Noto Sans" pitchFamily="34" charset="-122"/>
                <a:cs typeface="Noto Sans" pitchFamily="34" charset="-120"/>
              </a:rPr>
              <a:t>Yuzalar nisbati A/a qancha katta boʻlsa, kuch shuncha oshadi</a:t>
            </a:r>
            <a:endParaRPr lang="en-US" sz="1200" dirty="0"/>
          </a:p>
        </p:txBody>
      </p:sp>
      <p:sp>
        <p:nvSpPr>
          <p:cNvPr id="17" name="Text 14"/>
          <p:cNvSpPr/>
          <p:nvPr/>
        </p:nvSpPr>
        <p:spPr>
          <a:xfrm>
            <a:off x="6248400" y="4177030"/>
            <a:ext cx="528472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Yopiq hajmdagi siqilmas suyuqlikka berilgan bosim barcha yoʻnalishlarda bir xil uzatiladi.</a:t>
            </a:r>
            <a:endParaRPr lang="en-US" sz="1300" dirty="0"/>
          </a:p>
        </p:txBody>
      </p:sp>
      <p:sp>
        <p:nvSpPr>
          <p:cNvPr id="18" name="Text 15"/>
          <p:cNvSpPr/>
          <p:nvPr/>
        </p:nvSpPr>
        <p:spPr>
          <a:xfrm>
            <a:off x="812800" y="6238239"/>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19" name="Text 16"/>
          <p:cNvSpPr/>
          <p:nvPr/>
        </p:nvSpPr>
        <p:spPr>
          <a:xfrm>
            <a:off x="11241193" y="6238239"/>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HISOBLASH FORMULALARI</a:t>
            </a:r>
            <a:endParaRPr lang="en-US" sz="1200" dirty="0"/>
          </a:p>
        </p:txBody>
      </p:sp>
      <p:sp>
        <p:nvSpPr>
          <p:cNvPr id="3" name="Text 1"/>
          <p:cNvSpPr/>
          <p:nvPr>
            <p:ph type="title"/>
          </p:nvPr>
        </p:nvSpPr>
        <p:spPr>
          <a:xfrm>
            <a:off x="812800" y="1102361"/>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Gidrosilindr kuchlari</a:t>
            </a:r>
            <a:endParaRPr lang="en-US" sz="3000" dirty="0"/>
          </a:p>
        </p:txBody>
      </p:sp>
      <p:sp>
        <p:nvSpPr>
          <p:cNvPr id="4" name="Shape 2"/>
          <p:cNvSpPr/>
          <p:nvPr/>
        </p:nvSpPr>
        <p:spPr>
          <a:xfrm>
            <a:off x="815975" y="1735454"/>
            <a:ext cx="5607050" cy="844550"/>
          </a:xfrm>
          <a:prstGeom prst="roundRect">
            <a:avLst>
              <a:gd name="adj" fmla="val 10150"/>
            </a:avLst>
          </a:prstGeom>
          <a:solidFill>
            <a:srgbClr val="FBFAF7"/>
          </a:solidFill>
          <a:ln w="6350">
            <a:solidFill>
              <a:srgbClr val="DCD7CB"/>
            </a:solidFill>
            <a:prstDash val="solid"/>
          </a:ln>
        </p:spPr>
      </p:sp>
      <p:sp>
        <p:nvSpPr>
          <p:cNvPr id="5" name="Text 3"/>
          <p:cNvSpPr/>
          <p:nvPr/>
        </p:nvSpPr>
        <p:spPr>
          <a:xfrm>
            <a:off x="1008380" y="187706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CHIQISH YOʻLI (EXTEND)</a:t>
            </a:r>
            <a:endParaRPr lang="en-US" sz="1200" dirty="0"/>
          </a:p>
        </p:txBody>
      </p:sp>
      <p:sp>
        <p:nvSpPr>
          <p:cNvPr id="6" name="Text 4"/>
          <p:cNvSpPr/>
          <p:nvPr/>
        </p:nvSpPr>
        <p:spPr>
          <a:xfrm>
            <a:off x="1008380" y="2141221"/>
            <a:ext cx="5378907"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7212B"/>
                </a:solidFill>
                <a:latin typeface="Noto Sans" pitchFamily="34" charset="0"/>
                <a:ea typeface="Noto Sans" pitchFamily="34" charset="-122"/>
                <a:cs typeface="Noto Sans" pitchFamily="34" charset="-120"/>
              </a:rPr>
              <a:t>F</a:t>
            </a:r>
            <a:r>
              <a:rPr lang="en-US" sz="1800" b="1" dirty="0">
                <a:solidFill>
                  <a:srgbClr val="1D5F9E"/>
                </a:solidFill>
                <a:latin typeface="Noto Sans" pitchFamily="34" charset="0"/>
                <a:ea typeface="Noto Sans" pitchFamily="34" charset="-122"/>
                <a:cs typeface="Noto Sans" pitchFamily="34" charset="-120"/>
              </a:rPr>
              <a:t>c</a:t>
            </a:r>
            <a:r>
              <a:rPr lang="en-US" sz="1800" b="1" dirty="0">
                <a:solidFill>
                  <a:srgbClr val="17212B"/>
                </a:solidFill>
                <a:latin typeface="Noto Sans" pitchFamily="34" charset="0"/>
                <a:ea typeface="Noto Sans" pitchFamily="34" charset="-122"/>
                <a:cs typeface="Noto Sans" pitchFamily="34" charset="-120"/>
              </a:rPr>
              <a:t> = P₁·A₁ − P₂·A₂ − f</a:t>
            </a:r>
            <a:r>
              <a:rPr lang="en-US" sz="1800" b="1" dirty="0">
                <a:solidFill>
                  <a:srgbClr val="1D5F9E"/>
                </a:solidFill>
                <a:latin typeface="Noto Sans" pitchFamily="34" charset="0"/>
                <a:ea typeface="Noto Sans" pitchFamily="34" charset="-122"/>
                <a:cs typeface="Noto Sans" pitchFamily="34" charset="-120"/>
              </a:rPr>
              <a:t>ishq</a:t>
            </a:r>
            <a:endParaRPr lang="en-US" sz="1800" dirty="0"/>
          </a:p>
        </p:txBody>
      </p:sp>
      <p:sp>
        <p:nvSpPr>
          <p:cNvPr id="7" name="Shape 5"/>
          <p:cNvSpPr/>
          <p:nvPr/>
        </p:nvSpPr>
        <p:spPr>
          <a:xfrm>
            <a:off x="815975" y="2726054"/>
            <a:ext cx="5607050" cy="844550"/>
          </a:xfrm>
          <a:prstGeom prst="roundRect">
            <a:avLst>
              <a:gd name="adj" fmla="val 10150"/>
            </a:avLst>
          </a:prstGeom>
          <a:solidFill>
            <a:srgbClr val="FBFAF7"/>
          </a:solidFill>
          <a:ln w="6350">
            <a:solidFill>
              <a:srgbClr val="DCD7CB"/>
            </a:solidFill>
            <a:prstDash val="solid"/>
          </a:ln>
        </p:spPr>
      </p:sp>
      <p:sp>
        <p:nvSpPr>
          <p:cNvPr id="8" name="Text 6"/>
          <p:cNvSpPr/>
          <p:nvPr/>
        </p:nvSpPr>
        <p:spPr>
          <a:xfrm>
            <a:off x="1008380" y="286766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QAYTISH YOʻLI (RETRACT)</a:t>
            </a:r>
            <a:endParaRPr lang="en-US" sz="1200" dirty="0"/>
          </a:p>
        </p:txBody>
      </p:sp>
      <p:sp>
        <p:nvSpPr>
          <p:cNvPr id="9" name="Text 7"/>
          <p:cNvSpPr/>
          <p:nvPr/>
        </p:nvSpPr>
        <p:spPr>
          <a:xfrm>
            <a:off x="1008380" y="3131821"/>
            <a:ext cx="5378907"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7212B"/>
                </a:solidFill>
                <a:latin typeface="Noto Sans" pitchFamily="34" charset="0"/>
                <a:ea typeface="Noto Sans" pitchFamily="34" charset="-122"/>
                <a:cs typeface="Noto Sans" pitchFamily="34" charset="-120"/>
              </a:rPr>
              <a:t>F</a:t>
            </a:r>
            <a:r>
              <a:rPr lang="en-US" sz="1800" b="1" dirty="0">
                <a:solidFill>
                  <a:srgbClr val="1D5F9E"/>
                </a:solidFill>
                <a:latin typeface="Noto Sans" pitchFamily="34" charset="0"/>
                <a:ea typeface="Noto Sans" pitchFamily="34" charset="-122"/>
                <a:cs typeface="Noto Sans" pitchFamily="34" charset="-120"/>
              </a:rPr>
              <a:t>r</a:t>
            </a:r>
            <a:r>
              <a:rPr lang="en-US" sz="1800" b="1" dirty="0">
                <a:solidFill>
                  <a:srgbClr val="17212B"/>
                </a:solidFill>
                <a:latin typeface="Noto Sans" pitchFamily="34" charset="0"/>
                <a:ea typeface="Noto Sans" pitchFamily="34" charset="-122"/>
                <a:cs typeface="Noto Sans" pitchFamily="34" charset="-120"/>
              </a:rPr>
              <a:t> = P₂·A₂ − P₁·A₁ − f</a:t>
            </a:r>
            <a:r>
              <a:rPr lang="en-US" sz="1800" b="1" dirty="0">
                <a:solidFill>
                  <a:srgbClr val="1D5F9E"/>
                </a:solidFill>
                <a:latin typeface="Noto Sans" pitchFamily="34" charset="0"/>
                <a:ea typeface="Noto Sans" pitchFamily="34" charset="-122"/>
                <a:cs typeface="Noto Sans" pitchFamily="34" charset="-120"/>
              </a:rPr>
              <a:t>ishq</a:t>
            </a:r>
            <a:endParaRPr lang="en-US" sz="1800" dirty="0"/>
          </a:p>
        </p:txBody>
      </p:sp>
      <p:sp>
        <p:nvSpPr>
          <p:cNvPr id="10" name="Shape 8"/>
          <p:cNvSpPr/>
          <p:nvPr/>
        </p:nvSpPr>
        <p:spPr>
          <a:xfrm>
            <a:off x="815975" y="3716654"/>
            <a:ext cx="5607050" cy="844550"/>
          </a:xfrm>
          <a:prstGeom prst="roundRect">
            <a:avLst>
              <a:gd name="adj" fmla="val 10150"/>
            </a:avLst>
          </a:prstGeom>
          <a:solidFill>
            <a:srgbClr val="FBFAF7"/>
          </a:solidFill>
          <a:ln w="6350">
            <a:solidFill>
              <a:srgbClr val="DCD7CB"/>
            </a:solidFill>
            <a:prstDash val="solid"/>
          </a:ln>
        </p:spPr>
      </p:sp>
      <p:sp>
        <p:nvSpPr>
          <p:cNvPr id="11" name="Text 9"/>
          <p:cNvSpPr/>
          <p:nvPr/>
        </p:nvSpPr>
        <p:spPr>
          <a:xfrm>
            <a:off x="1008380" y="385826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YUZALAR</a:t>
            </a:r>
            <a:endParaRPr lang="en-US" sz="1200" dirty="0"/>
          </a:p>
        </p:txBody>
      </p:sp>
      <p:sp>
        <p:nvSpPr>
          <p:cNvPr id="12" name="Text 10"/>
          <p:cNvSpPr/>
          <p:nvPr/>
        </p:nvSpPr>
        <p:spPr>
          <a:xfrm>
            <a:off x="1008380" y="4122421"/>
            <a:ext cx="5378907"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7212B"/>
                </a:solidFill>
                <a:latin typeface="Noto Sans" pitchFamily="34" charset="0"/>
                <a:ea typeface="Noto Sans" pitchFamily="34" charset="-122"/>
                <a:cs typeface="Noto Sans" pitchFamily="34" charset="-120"/>
              </a:rPr>
              <a:t>A₁ = π·D² / 4, A₂ = π·(D² − d²) / 4</a:t>
            </a:r>
            <a:endParaRPr lang="en-US" sz="1800" dirty="0"/>
          </a:p>
        </p:txBody>
      </p:sp>
      <p:sp>
        <p:nvSpPr>
          <p:cNvPr id="13" name="Shape 11"/>
          <p:cNvSpPr/>
          <p:nvPr/>
        </p:nvSpPr>
        <p:spPr>
          <a:xfrm>
            <a:off x="6629400" y="1732279"/>
            <a:ext cx="4749800" cy="2832100"/>
          </a:xfrm>
          <a:prstGeom prst="roundRect">
            <a:avLst>
              <a:gd name="adj" fmla="val 3139"/>
            </a:avLst>
          </a:prstGeom>
          <a:solidFill>
            <a:srgbClr val="E6EDF4"/>
          </a:solidFill>
          <a:ln/>
        </p:spPr>
      </p:sp>
      <p:sp>
        <p:nvSpPr>
          <p:cNvPr id="14" name="Text 12"/>
          <p:cNvSpPr/>
          <p:nvPr/>
        </p:nvSpPr>
        <p:spPr>
          <a:xfrm>
            <a:off x="6845300" y="1922779"/>
            <a:ext cx="4447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Noto Sans" pitchFamily="34" charset="0"/>
                <a:ea typeface="Noto Sans" pitchFamily="34" charset="-122"/>
                <a:cs typeface="Noto Sans" pitchFamily="34" charset="-120"/>
              </a:rPr>
              <a:t>Belgilar</a:t>
            </a:r>
            <a:endParaRPr lang="en-US" sz="1500" dirty="0"/>
          </a:p>
        </p:txBody>
      </p:sp>
      <p:sp>
        <p:nvSpPr>
          <p:cNvPr id="15" name="Text 13"/>
          <p:cNvSpPr/>
          <p:nvPr/>
        </p:nvSpPr>
        <p:spPr>
          <a:xfrm>
            <a:off x="6930644" y="2252979"/>
            <a:ext cx="4354576" cy="9499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P₁, P₂ — porshen va shtok kameralaridagi bosim</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A₂ — shtok kamerasining effektiv yuzasi</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f</a:t>
            </a:r>
            <a:r>
              <a:rPr lang="en-US" sz="1300" dirty="0">
                <a:solidFill>
                  <a:srgbClr val="1D5F9E"/>
                </a:solidFill>
                <a:latin typeface="Noto Sans" pitchFamily="34" charset="0"/>
                <a:ea typeface="Noto Sans" pitchFamily="34" charset="-122"/>
                <a:cs typeface="Noto Sans" pitchFamily="34" charset="-120"/>
              </a:rPr>
              <a:t>ishq</a:t>
            </a:r>
            <a:r>
              <a:rPr lang="en-US" sz="1300" dirty="0">
                <a:solidFill>
                  <a:srgbClr val="17212B"/>
                </a:solidFill>
                <a:latin typeface="Noto Sans" pitchFamily="34" charset="0"/>
                <a:ea typeface="Noto Sans" pitchFamily="34" charset="-122"/>
                <a:cs typeface="Noto Sans" pitchFamily="34" charset="-120"/>
              </a:rPr>
              <a:t> — manjet va zichlagichlardagi ishqalanish</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f</a:t>
            </a:r>
            <a:r>
              <a:rPr lang="en-US" sz="1300" dirty="0">
                <a:solidFill>
                  <a:srgbClr val="1D5F9E"/>
                </a:solidFill>
                <a:latin typeface="Noto Sans" pitchFamily="34" charset="0"/>
                <a:ea typeface="Noto Sans" pitchFamily="34" charset="-122"/>
                <a:cs typeface="Noto Sans" pitchFamily="34" charset="-120"/>
              </a:rPr>
              <a:t>ishq</a:t>
            </a:r>
            <a:r>
              <a:rPr lang="en-US" sz="1300" dirty="0">
                <a:solidFill>
                  <a:srgbClr val="17212B"/>
                </a:solidFill>
                <a:latin typeface="Noto Sans" pitchFamily="34" charset="0"/>
                <a:ea typeface="Noto Sans" pitchFamily="34" charset="-122"/>
                <a:cs typeface="Noto Sans" pitchFamily="34" charset="-120"/>
              </a:rPr>
              <a:t> ≈ (0,05…0,1)·F</a:t>
            </a:r>
            <a:r>
              <a:rPr lang="en-US" sz="1300" dirty="0">
                <a:solidFill>
                  <a:srgbClr val="1D5F9E"/>
                </a:solidFill>
                <a:latin typeface="Noto Sans" pitchFamily="34" charset="0"/>
                <a:ea typeface="Noto Sans" pitchFamily="34" charset="-122"/>
                <a:cs typeface="Noto Sans" pitchFamily="34" charset="-120"/>
              </a:rPr>
              <a:t>talab</a:t>
            </a:r>
            <a:endParaRPr lang="en-US" sz="1300" dirty="0"/>
          </a:p>
        </p:txBody>
      </p:sp>
      <p:sp>
        <p:nvSpPr>
          <p:cNvPr id="16" name="Text 14"/>
          <p:cNvSpPr/>
          <p:nvPr/>
        </p:nvSpPr>
        <p:spPr>
          <a:xfrm>
            <a:off x="812800" y="6238239"/>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17" name="Text 15"/>
          <p:cNvSpPr/>
          <p:nvPr/>
        </p:nvSpPr>
        <p:spPr>
          <a:xfrm>
            <a:off x="11241193" y="6238239"/>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HISOBLASH FORMULALARI</a:t>
            </a:r>
            <a:endParaRPr lang="en-US" sz="1200" dirty="0"/>
          </a:p>
        </p:txBody>
      </p:sp>
      <p:sp>
        <p:nvSpPr>
          <p:cNvPr id="3" name="Text 1"/>
          <p:cNvSpPr/>
          <p:nvPr>
            <p:ph type="title"/>
          </p:nvPr>
        </p:nvSpPr>
        <p:spPr>
          <a:xfrm>
            <a:off x="812800" y="1102361"/>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Porshen va shtok diametrini tanlash</a:t>
            </a:r>
            <a:endParaRPr lang="en-US" sz="3000" dirty="0"/>
          </a:p>
        </p:txBody>
      </p:sp>
      <p:sp>
        <p:nvSpPr>
          <p:cNvPr id="4" name="Shape 2"/>
          <p:cNvSpPr/>
          <p:nvPr/>
        </p:nvSpPr>
        <p:spPr>
          <a:xfrm>
            <a:off x="815975" y="1735454"/>
            <a:ext cx="5607050" cy="877570"/>
          </a:xfrm>
          <a:prstGeom prst="roundRect">
            <a:avLst>
              <a:gd name="adj" fmla="val 9768"/>
            </a:avLst>
          </a:prstGeom>
          <a:solidFill>
            <a:srgbClr val="FBFAF7"/>
          </a:solidFill>
          <a:ln w="6350">
            <a:solidFill>
              <a:srgbClr val="DCD7CB"/>
            </a:solidFill>
            <a:prstDash val="solid"/>
          </a:ln>
        </p:spPr>
      </p:sp>
      <p:sp>
        <p:nvSpPr>
          <p:cNvPr id="5" name="Text 3"/>
          <p:cNvSpPr/>
          <p:nvPr/>
        </p:nvSpPr>
        <p:spPr>
          <a:xfrm>
            <a:off x="1008380" y="187706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PORSHEN DIAMETRI</a:t>
            </a:r>
            <a:endParaRPr lang="en-US" sz="1200" dirty="0"/>
          </a:p>
        </p:txBody>
      </p:sp>
      <p:sp>
        <p:nvSpPr>
          <p:cNvPr id="6" name="Text 4"/>
          <p:cNvSpPr/>
          <p:nvPr/>
        </p:nvSpPr>
        <p:spPr>
          <a:xfrm>
            <a:off x="1008380" y="2141221"/>
            <a:ext cx="537890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12B"/>
                </a:solidFill>
                <a:latin typeface="Noto Sans" pitchFamily="34" charset="0"/>
                <a:ea typeface="Noto Sans" pitchFamily="34" charset="-122"/>
                <a:cs typeface="Noto Sans" pitchFamily="34" charset="-120"/>
              </a:rPr>
              <a:t>D = √( 4·F</a:t>
            </a:r>
            <a:r>
              <a:rPr lang="en-US" sz="2000" b="1" dirty="0">
                <a:solidFill>
                  <a:srgbClr val="1D5F9E"/>
                </a:solidFill>
                <a:latin typeface="Noto Sans" pitchFamily="34" charset="0"/>
                <a:ea typeface="Noto Sans" pitchFamily="34" charset="-122"/>
                <a:cs typeface="Noto Sans" pitchFamily="34" charset="-120"/>
              </a:rPr>
              <a:t>talab</a:t>
            </a:r>
            <a:r>
              <a:rPr lang="en-US" sz="2000" b="1" dirty="0">
                <a:solidFill>
                  <a:srgbClr val="17212B"/>
                </a:solidFill>
                <a:latin typeface="Noto Sans" pitchFamily="34" charset="0"/>
                <a:ea typeface="Noto Sans" pitchFamily="34" charset="-122"/>
                <a:cs typeface="Noto Sans" pitchFamily="34" charset="-120"/>
              </a:rPr>
              <a:t>·K</a:t>
            </a:r>
            <a:r>
              <a:rPr lang="en-US" sz="2000" b="1" dirty="0">
                <a:solidFill>
                  <a:srgbClr val="1D5F9E"/>
                </a:solidFill>
                <a:latin typeface="Noto Sans" pitchFamily="34" charset="0"/>
                <a:ea typeface="Noto Sans" pitchFamily="34" charset="-122"/>
                <a:cs typeface="Noto Sans" pitchFamily="34" charset="-120"/>
              </a:rPr>
              <a:t>z</a:t>
            </a:r>
            <a:r>
              <a:rPr lang="en-US" sz="2000" b="1" dirty="0">
                <a:solidFill>
                  <a:srgbClr val="17212B"/>
                </a:solidFill>
                <a:latin typeface="Noto Sans" pitchFamily="34" charset="0"/>
                <a:ea typeface="Noto Sans" pitchFamily="34" charset="-122"/>
                <a:cs typeface="Noto Sans" pitchFamily="34" charset="-120"/>
              </a:rPr>
              <a:t> / (π·P</a:t>
            </a:r>
            <a:r>
              <a:rPr lang="en-US" sz="2000" b="1" dirty="0">
                <a:solidFill>
                  <a:srgbClr val="1D5F9E"/>
                </a:solidFill>
                <a:latin typeface="Noto Sans" pitchFamily="34" charset="0"/>
                <a:ea typeface="Noto Sans" pitchFamily="34" charset="-122"/>
                <a:cs typeface="Noto Sans" pitchFamily="34" charset="-120"/>
              </a:rPr>
              <a:t>w</a:t>
            </a:r>
            <a:r>
              <a:rPr lang="en-US" sz="2000" b="1" dirty="0">
                <a:solidFill>
                  <a:srgbClr val="17212B"/>
                </a:solidFill>
                <a:latin typeface="Noto Sans" pitchFamily="34" charset="0"/>
                <a:ea typeface="Noto Sans" pitchFamily="34" charset="-122"/>
                <a:cs typeface="Noto Sans" pitchFamily="34" charset="-120"/>
              </a:rPr>
              <a:t>·η</a:t>
            </a:r>
            <a:r>
              <a:rPr lang="en-US" sz="2000" b="1" dirty="0">
                <a:solidFill>
                  <a:srgbClr val="1D5F9E"/>
                </a:solidFill>
                <a:latin typeface="Noto Sans" pitchFamily="34" charset="0"/>
                <a:ea typeface="Noto Sans" pitchFamily="34" charset="-122"/>
                <a:cs typeface="Noto Sans" pitchFamily="34" charset="-120"/>
              </a:rPr>
              <a:t>m</a:t>
            </a:r>
            <a:r>
              <a:rPr lang="en-US" sz="2000" b="1" dirty="0">
                <a:solidFill>
                  <a:srgbClr val="17212B"/>
                </a:solidFill>
                <a:latin typeface="Noto Sans" pitchFamily="34" charset="0"/>
                <a:ea typeface="Noto Sans" pitchFamily="34" charset="-122"/>
                <a:cs typeface="Noto Sans" pitchFamily="34" charset="-120"/>
              </a:rPr>
              <a:t>) )</a:t>
            </a:r>
            <a:endParaRPr lang="en-US" sz="2000" dirty="0"/>
          </a:p>
        </p:txBody>
      </p:sp>
      <p:sp>
        <p:nvSpPr>
          <p:cNvPr id="7" name="Shape 5"/>
          <p:cNvSpPr/>
          <p:nvPr/>
        </p:nvSpPr>
        <p:spPr>
          <a:xfrm>
            <a:off x="815975" y="2759075"/>
            <a:ext cx="5607050" cy="1134110"/>
          </a:xfrm>
          <a:prstGeom prst="roundRect">
            <a:avLst>
              <a:gd name="adj" fmla="val 7559"/>
            </a:avLst>
          </a:prstGeom>
          <a:solidFill>
            <a:srgbClr val="FBFAF7"/>
          </a:solidFill>
          <a:ln w="6350">
            <a:solidFill>
              <a:srgbClr val="DCD7CB"/>
            </a:solidFill>
            <a:prstDash val="solid"/>
          </a:ln>
        </p:spPr>
      </p:sp>
      <p:sp>
        <p:nvSpPr>
          <p:cNvPr id="8" name="Text 6"/>
          <p:cNvSpPr/>
          <p:nvPr/>
        </p:nvSpPr>
        <p:spPr>
          <a:xfrm>
            <a:off x="1008380" y="2900679"/>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SHTOK DIAMETRI</a:t>
            </a:r>
            <a:endParaRPr lang="en-US" sz="1200" dirty="0"/>
          </a:p>
        </p:txBody>
      </p:sp>
      <p:sp>
        <p:nvSpPr>
          <p:cNvPr id="9" name="Text 7"/>
          <p:cNvSpPr/>
          <p:nvPr/>
        </p:nvSpPr>
        <p:spPr>
          <a:xfrm>
            <a:off x="1008380" y="3164839"/>
            <a:ext cx="537890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12B"/>
                </a:solidFill>
                <a:latin typeface="Noto Sans" pitchFamily="34" charset="0"/>
                <a:ea typeface="Noto Sans" pitchFamily="34" charset="-122"/>
                <a:cs typeface="Noto Sans" pitchFamily="34" charset="-120"/>
              </a:rPr>
              <a:t>d ≈ (0,5…0,7)·D</a:t>
            </a:r>
            <a:endParaRPr lang="en-US" sz="2000" dirty="0"/>
          </a:p>
        </p:txBody>
      </p:sp>
      <p:sp>
        <p:nvSpPr>
          <p:cNvPr id="10" name="Text 8"/>
          <p:cNvSpPr/>
          <p:nvPr/>
        </p:nvSpPr>
        <p:spPr>
          <a:xfrm>
            <a:off x="1008380" y="3545839"/>
            <a:ext cx="5378907"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616D"/>
                </a:solidFill>
                <a:latin typeface="Noto Sans" pitchFamily="34" charset="0"/>
                <a:ea typeface="Noto Sans" pitchFamily="34" charset="-122"/>
                <a:cs typeface="Noto Sans" pitchFamily="34" charset="-120"/>
              </a:rPr>
              <a:t>Boʻylama egilish (buckling) va mustahkamlikka tekshiriladi</a:t>
            </a:r>
            <a:endParaRPr lang="en-US" sz="1200" dirty="0"/>
          </a:p>
        </p:txBody>
      </p:sp>
      <p:sp>
        <p:nvSpPr>
          <p:cNvPr id="11" name="Shape 9"/>
          <p:cNvSpPr/>
          <p:nvPr/>
        </p:nvSpPr>
        <p:spPr>
          <a:xfrm>
            <a:off x="6629400" y="1732279"/>
            <a:ext cx="4749800" cy="2164080"/>
          </a:xfrm>
          <a:prstGeom prst="roundRect">
            <a:avLst>
              <a:gd name="adj" fmla="val 4108"/>
            </a:avLst>
          </a:prstGeom>
          <a:solidFill>
            <a:srgbClr val="E6EDF4"/>
          </a:solidFill>
          <a:ln/>
        </p:spPr>
      </p:sp>
      <p:sp>
        <p:nvSpPr>
          <p:cNvPr id="12" name="Text 10"/>
          <p:cNvSpPr/>
          <p:nvPr/>
        </p:nvSpPr>
        <p:spPr>
          <a:xfrm>
            <a:off x="6845300" y="1922779"/>
            <a:ext cx="4447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Noto Sans" pitchFamily="34" charset="0"/>
                <a:ea typeface="Noto Sans" pitchFamily="34" charset="-122"/>
                <a:cs typeface="Noto Sans" pitchFamily="34" charset="-120"/>
              </a:rPr>
              <a:t>Qabul qilinadi</a:t>
            </a:r>
            <a:endParaRPr lang="en-US" sz="1500" dirty="0"/>
          </a:p>
        </p:txBody>
      </p:sp>
      <p:sp>
        <p:nvSpPr>
          <p:cNvPr id="13" name="Text 11"/>
          <p:cNvSpPr/>
          <p:nvPr/>
        </p:nvSpPr>
        <p:spPr>
          <a:xfrm>
            <a:off x="6930644" y="2252979"/>
            <a:ext cx="4354576" cy="118110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P</a:t>
            </a:r>
            <a:r>
              <a:rPr lang="en-US" sz="1300" dirty="0">
                <a:solidFill>
                  <a:srgbClr val="1D5F9E"/>
                </a:solidFill>
                <a:latin typeface="Noto Sans" pitchFamily="34" charset="0"/>
                <a:ea typeface="Noto Sans" pitchFamily="34" charset="-122"/>
                <a:cs typeface="Noto Sans" pitchFamily="34" charset="-120"/>
              </a:rPr>
              <a:t>w</a:t>
            </a:r>
            <a:r>
              <a:rPr lang="en-US" sz="1300" dirty="0">
                <a:solidFill>
                  <a:srgbClr val="17212B"/>
                </a:solidFill>
                <a:latin typeface="Noto Sans" pitchFamily="34" charset="0"/>
                <a:ea typeface="Noto Sans" pitchFamily="34" charset="-122"/>
                <a:cs typeface="Noto Sans" pitchFamily="34" charset="-120"/>
              </a:rPr>
              <a:t> — tizimning ishchi bosimi</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K</a:t>
            </a:r>
            <a:r>
              <a:rPr lang="en-US" sz="1300" dirty="0">
                <a:solidFill>
                  <a:srgbClr val="1D5F9E"/>
                </a:solidFill>
                <a:latin typeface="Noto Sans" pitchFamily="34" charset="0"/>
                <a:ea typeface="Noto Sans" pitchFamily="34" charset="-122"/>
                <a:cs typeface="Noto Sans" pitchFamily="34" charset="-120"/>
              </a:rPr>
              <a:t>z</a:t>
            </a:r>
            <a:r>
              <a:rPr lang="en-US" sz="1300" dirty="0">
                <a:solidFill>
                  <a:srgbClr val="17212B"/>
                </a:solidFill>
                <a:latin typeface="Noto Sans" pitchFamily="34" charset="0"/>
                <a:ea typeface="Noto Sans" pitchFamily="34" charset="-122"/>
                <a:cs typeface="Noto Sans" pitchFamily="34" charset="-120"/>
              </a:rPr>
              <a:t> = 1,2…1,4 — zaxira koeffitsiyenti</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η</a:t>
            </a:r>
            <a:r>
              <a:rPr lang="en-US" sz="1300" dirty="0">
                <a:solidFill>
                  <a:srgbClr val="1D5F9E"/>
                </a:solidFill>
                <a:latin typeface="Noto Sans" pitchFamily="34" charset="0"/>
                <a:ea typeface="Noto Sans" pitchFamily="34" charset="-122"/>
                <a:cs typeface="Noto Sans" pitchFamily="34" charset="-120"/>
              </a:rPr>
              <a:t>m</a:t>
            </a:r>
            <a:r>
              <a:rPr lang="en-US" sz="1300" dirty="0">
                <a:solidFill>
                  <a:srgbClr val="17212B"/>
                </a:solidFill>
                <a:latin typeface="Noto Sans" pitchFamily="34" charset="0"/>
                <a:ea typeface="Noto Sans" pitchFamily="34" charset="-122"/>
                <a:cs typeface="Noto Sans" pitchFamily="34" charset="-120"/>
              </a:rPr>
              <a:t> = 0,85…0,95 — mexanik FIK</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Hisobiy D dan kattaroq eng yaqin standart qiymat olinadi (ISO 6020)</a:t>
            </a:r>
            <a:endParaRPr lang="en-US" sz="1300" dirty="0"/>
          </a:p>
        </p:txBody>
      </p:sp>
      <p:sp>
        <p:nvSpPr>
          <p:cNvPr id="14" name="Text 12"/>
          <p:cNvSpPr/>
          <p:nvPr/>
        </p:nvSpPr>
        <p:spPr>
          <a:xfrm>
            <a:off x="812800" y="6238239"/>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15" name="Text 13"/>
          <p:cNvSpPr/>
          <p:nvPr/>
        </p:nvSpPr>
        <p:spPr>
          <a:xfrm>
            <a:off x="11241193" y="6238239"/>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HISOBLASH FORMULALARI</a:t>
            </a:r>
            <a:endParaRPr lang="en-US" sz="1200" dirty="0"/>
          </a:p>
        </p:txBody>
      </p:sp>
      <p:sp>
        <p:nvSpPr>
          <p:cNvPr id="3" name="Text 1"/>
          <p:cNvSpPr/>
          <p:nvPr>
            <p:ph type="title"/>
          </p:nvPr>
        </p:nvSpPr>
        <p:spPr>
          <a:xfrm>
            <a:off x="812800" y="1102361"/>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Suyuqlik sarfi va gidronasos</a:t>
            </a:r>
            <a:endParaRPr lang="en-US" sz="3000" dirty="0"/>
          </a:p>
        </p:txBody>
      </p:sp>
      <p:sp>
        <p:nvSpPr>
          <p:cNvPr id="4" name="Shape 2"/>
          <p:cNvSpPr/>
          <p:nvPr/>
        </p:nvSpPr>
        <p:spPr>
          <a:xfrm>
            <a:off x="815975" y="1735454"/>
            <a:ext cx="5607050" cy="861060"/>
          </a:xfrm>
          <a:prstGeom prst="roundRect">
            <a:avLst>
              <a:gd name="adj" fmla="val 9956"/>
            </a:avLst>
          </a:prstGeom>
          <a:solidFill>
            <a:srgbClr val="FBFAF7"/>
          </a:solidFill>
          <a:ln w="6350">
            <a:solidFill>
              <a:srgbClr val="DCD7CB"/>
            </a:solidFill>
            <a:prstDash val="solid"/>
          </a:ln>
        </p:spPr>
      </p:sp>
      <p:sp>
        <p:nvSpPr>
          <p:cNvPr id="5" name="Text 3"/>
          <p:cNvSpPr/>
          <p:nvPr/>
        </p:nvSpPr>
        <p:spPr>
          <a:xfrm>
            <a:off x="1008380" y="187706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PORSHEN TEZLIGI</a:t>
            </a:r>
            <a:endParaRPr lang="en-US" sz="1200" dirty="0"/>
          </a:p>
        </p:txBody>
      </p:sp>
      <p:sp>
        <p:nvSpPr>
          <p:cNvPr id="6" name="Text 4"/>
          <p:cNvSpPr/>
          <p:nvPr/>
        </p:nvSpPr>
        <p:spPr>
          <a:xfrm>
            <a:off x="1008380" y="2141221"/>
            <a:ext cx="5378907" cy="33909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7212B"/>
                </a:solidFill>
                <a:latin typeface="Noto Sans" pitchFamily="34" charset="0"/>
                <a:ea typeface="Noto Sans" pitchFamily="34" charset="-122"/>
                <a:cs typeface="Noto Sans" pitchFamily="34" charset="-120"/>
              </a:rPr>
              <a:t>V = Q / A₁</a:t>
            </a:r>
            <a:endParaRPr lang="en-US" sz="1900" dirty="0"/>
          </a:p>
        </p:txBody>
      </p:sp>
      <p:sp>
        <p:nvSpPr>
          <p:cNvPr id="7" name="Shape 5"/>
          <p:cNvSpPr/>
          <p:nvPr/>
        </p:nvSpPr>
        <p:spPr>
          <a:xfrm>
            <a:off x="815975" y="2742564"/>
            <a:ext cx="5607050" cy="844550"/>
          </a:xfrm>
          <a:prstGeom prst="roundRect">
            <a:avLst>
              <a:gd name="adj" fmla="val 10150"/>
            </a:avLst>
          </a:prstGeom>
          <a:solidFill>
            <a:srgbClr val="FBFAF7"/>
          </a:solidFill>
          <a:ln w="6350">
            <a:solidFill>
              <a:srgbClr val="DCD7CB"/>
            </a:solidFill>
            <a:prstDash val="solid"/>
          </a:ln>
        </p:spPr>
      </p:sp>
      <p:sp>
        <p:nvSpPr>
          <p:cNvPr id="8" name="Text 6"/>
          <p:cNvSpPr/>
          <p:nvPr/>
        </p:nvSpPr>
        <p:spPr>
          <a:xfrm>
            <a:off x="1008380" y="288417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MAKSIMAL SARF (M TA BOʻGʻIN)</a:t>
            </a:r>
            <a:endParaRPr lang="en-US" sz="1200" dirty="0"/>
          </a:p>
        </p:txBody>
      </p:sp>
      <p:sp>
        <p:nvSpPr>
          <p:cNvPr id="9" name="Text 7"/>
          <p:cNvSpPr/>
          <p:nvPr/>
        </p:nvSpPr>
        <p:spPr>
          <a:xfrm>
            <a:off x="1008380" y="3148329"/>
            <a:ext cx="5378907"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7212B"/>
                </a:solidFill>
                <a:latin typeface="Noto Sans" pitchFamily="34" charset="0"/>
                <a:ea typeface="Noto Sans" pitchFamily="34" charset="-122"/>
                <a:cs typeface="Noto Sans" pitchFamily="34" charset="-120"/>
              </a:rPr>
              <a:t>Q</a:t>
            </a:r>
            <a:r>
              <a:rPr lang="en-US" sz="1800" b="1" dirty="0">
                <a:solidFill>
                  <a:srgbClr val="1D5F9E"/>
                </a:solidFill>
                <a:latin typeface="Noto Sans" pitchFamily="34" charset="0"/>
                <a:ea typeface="Noto Sans" pitchFamily="34" charset="-122"/>
                <a:cs typeface="Noto Sans" pitchFamily="34" charset="-120"/>
              </a:rPr>
              <a:t>max</a:t>
            </a:r>
            <a:r>
              <a:rPr lang="en-US" sz="1800" b="1" dirty="0">
                <a:solidFill>
                  <a:srgbClr val="17212B"/>
                </a:solidFill>
                <a:latin typeface="Noto Sans" pitchFamily="34" charset="0"/>
                <a:ea typeface="Noto Sans" pitchFamily="34" charset="-122"/>
                <a:cs typeface="Noto Sans" pitchFamily="34" charset="-120"/>
              </a:rPr>
              <a:t> = Σ A</a:t>
            </a:r>
            <a:r>
              <a:rPr lang="en-US" sz="1800" b="1" dirty="0">
                <a:solidFill>
                  <a:srgbClr val="1D5F9E"/>
                </a:solidFill>
                <a:latin typeface="Noto Sans" pitchFamily="34" charset="0"/>
                <a:ea typeface="Noto Sans" pitchFamily="34" charset="-122"/>
                <a:cs typeface="Noto Sans" pitchFamily="34" charset="-120"/>
              </a:rPr>
              <a:t>1,i</a:t>
            </a:r>
            <a:r>
              <a:rPr lang="en-US" sz="1800" b="1" dirty="0">
                <a:solidFill>
                  <a:srgbClr val="17212B"/>
                </a:solidFill>
                <a:latin typeface="Noto Sans" pitchFamily="34" charset="0"/>
                <a:ea typeface="Noto Sans" pitchFamily="34" charset="-122"/>
                <a:cs typeface="Noto Sans" pitchFamily="34" charset="-120"/>
              </a:rPr>
              <a:t> · V</a:t>
            </a:r>
            <a:r>
              <a:rPr lang="en-US" sz="1800" b="1" dirty="0">
                <a:solidFill>
                  <a:srgbClr val="1D5F9E"/>
                </a:solidFill>
                <a:latin typeface="Noto Sans" pitchFamily="34" charset="0"/>
                <a:ea typeface="Noto Sans" pitchFamily="34" charset="-122"/>
                <a:cs typeface="Noto Sans" pitchFamily="34" charset="-120"/>
              </a:rPr>
              <a:t>i,max</a:t>
            </a:r>
            <a:r>
              <a:rPr lang="en-US" sz="1800" b="1" dirty="0">
                <a:solidFill>
                  <a:srgbClr val="17212B"/>
                </a:solidFill>
                <a:latin typeface="Noto Sans" pitchFamily="34" charset="0"/>
                <a:ea typeface="Noto Sans" pitchFamily="34" charset="-122"/>
                <a:cs typeface="Noto Sans" pitchFamily="34" charset="-120"/>
              </a:rPr>
              <a:t> · K</a:t>
            </a:r>
            <a:r>
              <a:rPr lang="en-US" sz="1800" b="1" dirty="0">
                <a:solidFill>
                  <a:srgbClr val="1D5F9E"/>
                </a:solidFill>
                <a:latin typeface="Noto Sans" pitchFamily="34" charset="0"/>
                <a:ea typeface="Noto Sans" pitchFamily="34" charset="-122"/>
                <a:cs typeface="Noto Sans" pitchFamily="34" charset="-120"/>
              </a:rPr>
              <a:t>oqish</a:t>
            </a:r>
            <a:endParaRPr lang="en-US" sz="1800" dirty="0"/>
          </a:p>
        </p:txBody>
      </p:sp>
      <p:sp>
        <p:nvSpPr>
          <p:cNvPr id="10" name="Shape 8"/>
          <p:cNvSpPr/>
          <p:nvPr/>
        </p:nvSpPr>
        <p:spPr>
          <a:xfrm>
            <a:off x="815975" y="3733164"/>
            <a:ext cx="5607050" cy="844550"/>
          </a:xfrm>
          <a:prstGeom prst="roundRect">
            <a:avLst>
              <a:gd name="adj" fmla="val 10150"/>
            </a:avLst>
          </a:prstGeom>
          <a:solidFill>
            <a:srgbClr val="FBFAF7"/>
          </a:solidFill>
          <a:ln w="6350">
            <a:solidFill>
              <a:srgbClr val="DCD7CB"/>
            </a:solidFill>
            <a:prstDash val="solid"/>
          </a:ln>
        </p:spPr>
      </p:sp>
      <p:sp>
        <p:nvSpPr>
          <p:cNvPr id="11" name="Text 9"/>
          <p:cNvSpPr/>
          <p:nvPr/>
        </p:nvSpPr>
        <p:spPr>
          <a:xfrm>
            <a:off x="1008380" y="387477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NASOS UNUMDORLIGI</a:t>
            </a:r>
            <a:endParaRPr lang="en-US" sz="1200" dirty="0"/>
          </a:p>
        </p:txBody>
      </p:sp>
      <p:sp>
        <p:nvSpPr>
          <p:cNvPr id="12" name="Text 10"/>
          <p:cNvSpPr/>
          <p:nvPr/>
        </p:nvSpPr>
        <p:spPr>
          <a:xfrm>
            <a:off x="1008380" y="4138929"/>
            <a:ext cx="5378907" cy="3225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7212B"/>
                </a:solidFill>
                <a:latin typeface="Noto Sans" pitchFamily="34" charset="0"/>
                <a:ea typeface="Noto Sans" pitchFamily="34" charset="-122"/>
                <a:cs typeface="Noto Sans" pitchFamily="34" charset="-120"/>
              </a:rPr>
              <a:t>Q</a:t>
            </a:r>
            <a:r>
              <a:rPr lang="en-US" sz="1800" b="1" dirty="0">
                <a:solidFill>
                  <a:srgbClr val="1D5F9E"/>
                </a:solidFill>
                <a:latin typeface="Noto Sans" pitchFamily="34" charset="0"/>
                <a:ea typeface="Noto Sans" pitchFamily="34" charset="-122"/>
                <a:cs typeface="Noto Sans" pitchFamily="34" charset="-120"/>
              </a:rPr>
              <a:t>nasos</a:t>
            </a:r>
            <a:r>
              <a:rPr lang="en-US" sz="1800" b="1" dirty="0">
                <a:solidFill>
                  <a:srgbClr val="17212B"/>
                </a:solidFill>
                <a:latin typeface="Noto Sans" pitchFamily="34" charset="0"/>
                <a:ea typeface="Noto Sans" pitchFamily="34" charset="-122"/>
                <a:cs typeface="Noto Sans" pitchFamily="34" charset="-120"/>
              </a:rPr>
              <a:t> = V</a:t>
            </a:r>
            <a:r>
              <a:rPr lang="en-US" sz="1800" b="1" dirty="0">
                <a:solidFill>
                  <a:srgbClr val="1D5F9E"/>
                </a:solidFill>
                <a:latin typeface="Noto Sans" pitchFamily="34" charset="0"/>
                <a:ea typeface="Noto Sans" pitchFamily="34" charset="-122"/>
                <a:cs typeface="Noto Sans" pitchFamily="34" charset="-120"/>
              </a:rPr>
              <a:t>q</a:t>
            </a:r>
            <a:r>
              <a:rPr lang="en-US" sz="1800" b="1" dirty="0">
                <a:solidFill>
                  <a:srgbClr val="17212B"/>
                </a:solidFill>
                <a:latin typeface="Noto Sans" pitchFamily="34" charset="0"/>
                <a:ea typeface="Noto Sans" pitchFamily="34" charset="-122"/>
                <a:cs typeface="Noto Sans" pitchFamily="34" charset="-120"/>
              </a:rPr>
              <a:t> · n · η</a:t>
            </a:r>
            <a:r>
              <a:rPr lang="en-US" sz="1800" b="1" dirty="0">
                <a:solidFill>
                  <a:srgbClr val="1D5F9E"/>
                </a:solidFill>
                <a:latin typeface="Noto Sans" pitchFamily="34" charset="0"/>
                <a:ea typeface="Noto Sans" pitchFamily="34" charset="-122"/>
                <a:cs typeface="Noto Sans" pitchFamily="34" charset="-120"/>
              </a:rPr>
              <a:t>v</a:t>
            </a:r>
            <a:r>
              <a:rPr lang="en-US" sz="1800" b="1" dirty="0">
                <a:solidFill>
                  <a:srgbClr val="17212B"/>
                </a:solidFill>
                <a:latin typeface="Noto Sans" pitchFamily="34" charset="0"/>
                <a:ea typeface="Noto Sans" pitchFamily="34" charset="-122"/>
                <a:cs typeface="Noto Sans" pitchFamily="34" charset="-120"/>
              </a:rPr>
              <a:t> · 10⁻³ [l/min]</a:t>
            </a:r>
            <a:endParaRPr lang="en-US" sz="1800" dirty="0"/>
          </a:p>
        </p:txBody>
      </p:sp>
      <p:sp>
        <p:nvSpPr>
          <p:cNvPr id="13" name="Shape 11"/>
          <p:cNvSpPr/>
          <p:nvPr/>
        </p:nvSpPr>
        <p:spPr>
          <a:xfrm>
            <a:off x="6629400" y="1732279"/>
            <a:ext cx="4749800" cy="2848610"/>
          </a:xfrm>
          <a:prstGeom prst="roundRect">
            <a:avLst>
              <a:gd name="adj" fmla="val 3121"/>
            </a:avLst>
          </a:prstGeom>
          <a:solidFill>
            <a:srgbClr val="E6EDF4"/>
          </a:solidFill>
          <a:ln/>
        </p:spPr>
      </p:sp>
      <p:sp>
        <p:nvSpPr>
          <p:cNvPr id="14" name="Text 12"/>
          <p:cNvSpPr/>
          <p:nvPr/>
        </p:nvSpPr>
        <p:spPr>
          <a:xfrm>
            <a:off x="6845300" y="1922779"/>
            <a:ext cx="4447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Noto Sans" pitchFamily="34" charset="0"/>
                <a:ea typeface="Noto Sans" pitchFamily="34" charset="-122"/>
                <a:cs typeface="Noto Sans" pitchFamily="34" charset="-120"/>
              </a:rPr>
              <a:t>Belgilar</a:t>
            </a:r>
            <a:endParaRPr lang="en-US" sz="1500" dirty="0"/>
          </a:p>
        </p:txBody>
      </p:sp>
      <p:sp>
        <p:nvSpPr>
          <p:cNvPr id="15" name="Text 13"/>
          <p:cNvSpPr/>
          <p:nvPr/>
        </p:nvSpPr>
        <p:spPr>
          <a:xfrm>
            <a:off x="6930644" y="2252979"/>
            <a:ext cx="4354576" cy="94996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K</a:t>
            </a:r>
            <a:r>
              <a:rPr lang="en-US" sz="1300" dirty="0">
                <a:solidFill>
                  <a:srgbClr val="1D5F9E"/>
                </a:solidFill>
                <a:latin typeface="Noto Sans" pitchFamily="34" charset="0"/>
                <a:ea typeface="Noto Sans" pitchFamily="34" charset="-122"/>
                <a:cs typeface="Noto Sans" pitchFamily="34" charset="-120"/>
              </a:rPr>
              <a:t>oqish</a:t>
            </a:r>
            <a:r>
              <a:rPr lang="en-US" sz="1300" dirty="0">
                <a:solidFill>
                  <a:srgbClr val="17212B"/>
                </a:solidFill>
                <a:latin typeface="Noto Sans" pitchFamily="34" charset="0"/>
                <a:ea typeface="Noto Sans" pitchFamily="34" charset="-122"/>
                <a:cs typeface="Noto Sans" pitchFamily="34" charset="-120"/>
              </a:rPr>
              <a:t> ≈ 1,05…1,1 — ichki va tashqi oqishlar</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V</a:t>
            </a:r>
            <a:r>
              <a:rPr lang="en-US" sz="1300" dirty="0">
                <a:solidFill>
                  <a:srgbClr val="1D5F9E"/>
                </a:solidFill>
                <a:latin typeface="Noto Sans" pitchFamily="34" charset="0"/>
                <a:ea typeface="Noto Sans" pitchFamily="34" charset="-122"/>
                <a:cs typeface="Noto Sans" pitchFamily="34" charset="-120"/>
              </a:rPr>
              <a:t>q</a:t>
            </a:r>
            <a:r>
              <a:rPr lang="en-US" sz="1300" dirty="0">
                <a:solidFill>
                  <a:srgbClr val="17212B"/>
                </a:solidFill>
                <a:latin typeface="Noto Sans" pitchFamily="34" charset="0"/>
                <a:ea typeface="Noto Sans" pitchFamily="34" charset="-122"/>
                <a:cs typeface="Noto Sans" pitchFamily="34" charset="-120"/>
              </a:rPr>
              <a:t> — nasos ishchi hajmi, cm³/ayl</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n — elektromotor aylanish chastotasi, rpm</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η</a:t>
            </a:r>
            <a:r>
              <a:rPr lang="en-US" sz="1300" dirty="0">
                <a:solidFill>
                  <a:srgbClr val="1D5F9E"/>
                </a:solidFill>
                <a:latin typeface="Noto Sans" pitchFamily="34" charset="0"/>
                <a:ea typeface="Noto Sans" pitchFamily="34" charset="-122"/>
                <a:cs typeface="Noto Sans" pitchFamily="34" charset="-120"/>
              </a:rPr>
              <a:t>v</a:t>
            </a:r>
            <a:r>
              <a:rPr lang="en-US" sz="1300" dirty="0">
                <a:solidFill>
                  <a:srgbClr val="17212B"/>
                </a:solidFill>
                <a:latin typeface="Noto Sans" pitchFamily="34" charset="0"/>
                <a:ea typeface="Noto Sans" pitchFamily="34" charset="-122"/>
                <a:cs typeface="Noto Sans" pitchFamily="34" charset="-120"/>
              </a:rPr>
              <a:t> = 0,90…0,96 — hajmiy FIK</a:t>
            </a:r>
            <a:endParaRPr lang="en-US" sz="1300" dirty="0"/>
          </a:p>
        </p:txBody>
      </p:sp>
      <p:sp>
        <p:nvSpPr>
          <p:cNvPr id="16" name="Text 14"/>
          <p:cNvSpPr/>
          <p:nvPr/>
        </p:nvSpPr>
        <p:spPr>
          <a:xfrm>
            <a:off x="812800" y="6238239"/>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17" name="Text 15"/>
          <p:cNvSpPr/>
          <p:nvPr/>
        </p:nvSpPr>
        <p:spPr>
          <a:xfrm>
            <a:off x="11241193" y="6238239"/>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HISOBLASH FORMULALARI</a:t>
            </a:r>
            <a:endParaRPr lang="en-US" sz="1200" dirty="0"/>
          </a:p>
        </p:txBody>
      </p:sp>
      <p:sp>
        <p:nvSpPr>
          <p:cNvPr id="3" name="Text 1"/>
          <p:cNvSpPr/>
          <p:nvPr>
            <p:ph type="title"/>
          </p:nvPr>
        </p:nvSpPr>
        <p:spPr>
          <a:xfrm>
            <a:off x="812800" y="1102361"/>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Gidravlik quvvat va elektromotor</a:t>
            </a:r>
            <a:endParaRPr lang="en-US" sz="3000" dirty="0"/>
          </a:p>
        </p:txBody>
      </p:sp>
      <p:sp>
        <p:nvSpPr>
          <p:cNvPr id="4" name="Shape 2"/>
          <p:cNvSpPr/>
          <p:nvPr/>
        </p:nvSpPr>
        <p:spPr>
          <a:xfrm>
            <a:off x="815975" y="1735454"/>
            <a:ext cx="5607050" cy="861060"/>
          </a:xfrm>
          <a:prstGeom prst="roundRect">
            <a:avLst>
              <a:gd name="adj" fmla="val 9956"/>
            </a:avLst>
          </a:prstGeom>
          <a:solidFill>
            <a:srgbClr val="FBFAF7"/>
          </a:solidFill>
          <a:ln w="6350">
            <a:solidFill>
              <a:srgbClr val="DCD7CB"/>
            </a:solidFill>
            <a:prstDash val="solid"/>
          </a:ln>
        </p:spPr>
      </p:sp>
      <p:sp>
        <p:nvSpPr>
          <p:cNvPr id="5" name="Text 3"/>
          <p:cNvSpPr/>
          <p:nvPr/>
        </p:nvSpPr>
        <p:spPr>
          <a:xfrm>
            <a:off x="1008380" y="187706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GIDRAVLIK QUVVAT</a:t>
            </a:r>
            <a:endParaRPr lang="en-US" sz="1200" dirty="0"/>
          </a:p>
        </p:txBody>
      </p:sp>
      <p:sp>
        <p:nvSpPr>
          <p:cNvPr id="6" name="Text 4"/>
          <p:cNvSpPr/>
          <p:nvPr/>
        </p:nvSpPr>
        <p:spPr>
          <a:xfrm>
            <a:off x="1008380" y="2141221"/>
            <a:ext cx="5378907" cy="33909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7212B"/>
                </a:solidFill>
                <a:latin typeface="Noto Sans" pitchFamily="34" charset="0"/>
                <a:ea typeface="Noto Sans" pitchFamily="34" charset="-122"/>
                <a:cs typeface="Noto Sans" pitchFamily="34" charset="-120"/>
              </a:rPr>
              <a:t>P</a:t>
            </a:r>
            <a:r>
              <a:rPr lang="en-US" sz="1900" b="1" dirty="0">
                <a:solidFill>
                  <a:srgbClr val="1D5F9E"/>
                </a:solidFill>
                <a:latin typeface="Noto Sans" pitchFamily="34" charset="0"/>
                <a:ea typeface="Noto Sans" pitchFamily="34" charset="-122"/>
                <a:cs typeface="Noto Sans" pitchFamily="34" charset="-120"/>
              </a:rPr>
              <a:t>gidro</a:t>
            </a:r>
            <a:r>
              <a:rPr lang="en-US" sz="1900" b="1" dirty="0">
                <a:solidFill>
                  <a:srgbClr val="17212B"/>
                </a:solidFill>
                <a:latin typeface="Noto Sans" pitchFamily="34" charset="0"/>
                <a:ea typeface="Noto Sans" pitchFamily="34" charset="-122"/>
                <a:cs typeface="Noto Sans" pitchFamily="34" charset="-120"/>
              </a:rPr>
              <a:t> = P</a:t>
            </a:r>
            <a:r>
              <a:rPr lang="en-US" sz="1900" b="1" dirty="0">
                <a:solidFill>
                  <a:srgbClr val="1D5F9E"/>
                </a:solidFill>
                <a:latin typeface="Noto Sans" pitchFamily="34" charset="0"/>
                <a:ea typeface="Noto Sans" pitchFamily="34" charset="-122"/>
                <a:cs typeface="Noto Sans" pitchFamily="34" charset="-120"/>
              </a:rPr>
              <a:t>w</a:t>
            </a:r>
            <a:r>
              <a:rPr lang="en-US" sz="1900" b="1" dirty="0">
                <a:solidFill>
                  <a:srgbClr val="17212B"/>
                </a:solidFill>
                <a:latin typeface="Noto Sans" pitchFamily="34" charset="0"/>
                <a:ea typeface="Noto Sans" pitchFamily="34" charset="-122"/>
                <a:cs typeface="Noto Sans" pitchFamily="34" charset="-120"/>
              </a:rPr>
              <a:t> · Q</a:t>
            </a:r>
            <a:r>
              <a:rPr lang="en-US" sz="1900" b="1" dirty="0">
                <a:solidFill>
                  <a:srgbClr val="1D5F9E"/>
                </a:solidFill>
                <a:latin typeface="Noto Sans" pitchFamily="34" charset="0"/>
                <a:ea typeface="Noto Sans" pitchFamily="34" charset="-122"/>
                <a:cs typeface="Noto Sans" pitchFamily="34" charset="-120"/>
              </a:rPr>
              <a:t>nasos</a:t>
            </a:r>
            <a:r>
              <a:rPr lang="en-US" sz="1900" b="1" dirty="0">
                <a:solidFill>
                  <a:srgbClr val="17212B"/>
                </a:solidFill>
                <a:latin typeface="Noto Sans" pitchFamily="34" charset="0"/>
                <a:ea typeface="Noto Sans" pitchFamily="34" charset="-122"/>
                <a:cs typeface="Noto Sans" pitchFamily="34" charset="-120"/>
              </a:rPr>
              <a:t> / 600 [kW]</a:t>
            </a:r>
            <a:endParaRPr lang="en-US" sz="1900" dirty="0"/>
          </a:p>
        </p:txBody>
      </p:sp>
      <p:sp>
        <p:nvSpPr>
          <p:cNvPr id="7" name="Shape 5"/>
          <p:cNvSpPr/>
          <p:nvPr/>
        </p:nvSpPr>
        <p:spPr>
          <a:xfrm>
            <a:off x="815975" y="2742564"/>
            <a:ext cx="5607050" cy="861060"/>
          </a:xfrm>
          <a:prstGeom prst="roundRect">
            <a:avLst>
              <a:gd name="adj" fmla="val 9956"/>
            </a:avLst>
          </a:prstGeom>
          <a:solidFill>
            <a:srgbClr val="FBFAF7"/>
          </a:solidFill>
          <a:ln w="6350">
            <a:solidFill>
              <a:srgbClr val="DCD7CB"/>
            </a:solidFill>
            <a:prstDash val="solid"/>
          </a:ln>
        </p:spPr>
      </p:sp>
      <p:sp>
        <p:nvSpPr>
          <p:cNvPr id="8" name="Text 6"/>
          <p:cNvSpPr/>
          <p:nvPr/>
        </p:nvSpPr>
        <p:spPr>
          <a:xfrm>
            <a:off x="1008380" y="2884171"/>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ELEKTROMOTOR QUVVATI</a:t>
            </a:r>
            <a:endParaRPr lang="en-US" sz="1200" dirty="0"/>
          </a:p>
        </p:txBody>
      </p:sp>
      <p:sp>
        <p:nvSpPr>
          <p:cNvPr id="9" name="Text 7"/>
          <p:cNvSpPr/>
          <p:nvPr/>
        </p:nvSpPr>
        <p:spPr>
          <a:xfrm>
            <a:off x="1008380" y="3148329"/>
            <a:ext cx="5378907" cy="33909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7212B"/>
                </a:solidFill>
                <a:latin typeface="Noto Sans" pitchFamily="34" charset="0"/>
                <a:ea typeface="Noto Sans" pitchFamily="34" charset="-122"/>
                <a:cs typeface="Noto Sans" pitchFamily="34" charset="-120"/>
              </a:rPr>
              <a:t>P</a:t>
            </a:r>
            <a:r>
              <a:rPr lang="en-US" sz="1900" b="1" dirty="0">
                <a:solidFill>
                  <a:srgbClr val="1D5F9E"/>
                </a:solidFill>
                <a:latin typeface="Noto Sans" pitchFamily="34" charset="0"/>
                <a:ea typeface="Noto Sans" pitchFamily="34" charset="-122"/>
                <a:cs typeface="Noto Sans" pitchFamily="34" charset="-120"/>
              </a:rPr>
              <a:t>el</a:t>
            </a:r>
            <a:r>
              <a:rPr lang="en-US" sz="1900" b="1" dirty="0">
                <a:solidFill>
                  <a:srgbClr val="17212B"/>
                </a:solidFill>
                <a:latin typeface="Noto Sans" pitchFamily="34" charset="0"/>
                <a:ea typeface="Noto Sans" pitchFamily="34" charset="-122"/>
                <a:cs typeface="Noto Sans" pitchFamily="34" charset="-120"/>
              </a:rPr>
              <a:t> = P</a:t>
            </a:r>
            <a:r>
              <a:rPr lang="en-US" sz="1900" b="1" dirty="0">
                <a:solidFill>
                  <a:srgbClr val="1D5F9E"/>
                </a:solidFill>
                <a:latin typeface="Noto Sans" pitchFamily="34" charset="0"/>
                <a:ea typeface="Noto Sans" pitchFamily="34" charset="-122"/>
                <a:cs typeface="Noto Sans" pitchFamily="34" charset="-120"/>
              </a:rPr>
              <a:t>gidro</a:t>
            </a:r>
            <a:r>
              <a:rPr lang="en-US" sz="1900" b="1" dirty="0">
                <a:solidFill>
                  <a:srgbClr val="17212B"/>
                </a:solidFill>
                <a:latin typeface="Noto Sans" pitchFamily="34" charset="0"/>
                <a:ea typeface="Noto Sans" pitchFamily="34" charset="-122"/>
                <a:cs typeface="Noto Sans" pitchFamily="34" charset="-120"/>
              </a:rPr>
              <a:t> / η</a:t>
            </a:r>
            <a:r>
              <a:rPr lang="en-US" sz="1900" b="1" dirty="0">
                <a:solidFill>
                  <a:srgbClr val="1D5F9E"/>
                </a:solidFill>
                <a:latin typeface="Noto Sans" pitchFamily="34" charset="0"/>
                <a:ea typeface="Noto Sans" pitchFamily="34" charset="-122"/>
                <a:cs typeface="Noto Sans" pitchFamily="34" charset="-120"/>
              </a:rPr>
              <a:t>tot</a:t>
            </a:r>
            <a:endParaRPr lang="en-US" sz="1900" dirty="0"/>
          </a:p>
        </p:txBody>
      </p:sp>
      <p:sp>
        <p:nvSpPr>
          <p:cNvPr id="10" name="Shape 8"/>
          <p:cNvSpPr/>
          <p:nvPr/>
        </p:nvSpPr>
        <p:spPr>
          <a:xfrm>
            <a:off x="815975" y="3749675"/>
            <a:ext cx="5607050" cy="861060"/>
          </a:xfrm>
          <a:prstGeom prst="roundRect">
            <a:avLst>
              <a:gd name="adj" fmla="val 9956"/>
            </a:avLst>
          </a:prstGeom>
          <a:solidFill>
            <a:srgbClr val="FBFAF7"/>
          </a:solidFill>
          <a:ln w="6350">
            <a:solidFill>
              <a:srgbClr val="DCD7CB"/>
            </a:solidFill>
            <a:prstDash val="solid"/>
          </a:ln>
        </p:spPr>
      </p:sp>
      <p:sp>
        <p:nvSpPr>
          <p:cNvPr id="11" name="Text 9"/>
          <p:cNvSpPr/>
          <p:nvPr/>
        </p:nvSpPr>
        <p:spPr>
          <a:xfrm>
            <a:off x="1008380" y="3891279"/>
            <a:ext cx="53789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UMUMIY FIK</a:t>
            </a:r>
            <a:endParaRPr lang="en-US" sz="1200" dirty="0"/>
          </a:p>
        </p:txBody>
      </p:sp>
      <p:sp>
        <p:nvSpPr>
          <p:cNvPr id="12" name="Text 10"/>
          <p:cNvSpPr/>
          <p:nvPr/>
        </p:nvSpPr>
        <p:spPr>
          <a:xfrm>
            <a:off x="1008380" y="4155442"/>
            <a:ext cx="5378907" cy="339090"/>
          </a:xfrm>
          <a:prstGeom prst="rect">
            <a:avLst/>
          </a:prstGeom>
          <a:noFill/>
          <a:ln/>
        </p:spPr>
        <p:txBody>
          <a:bodyPr wrap="square" lIns="0" tIns="0" rIns="0" bIns="0" rtlCol="0" anchor="t">
            <a:normAutofit/>
          </a:bodyPr>
          <a:lstStyle/>
          <a:p>
            <a:pPr algn="l" indent="0" marL="0">
              <a:lnSpc>
                <a:spcPts val="2470"/>
              </a:lnSpc>
              <a:buNone/>
            </a:pPr>
            <a:r>
              <a:rPr lang="en-US" sz="1900" b="1" dirty="0">
                <a:solidFill>
                  <a:srgbClr val="17212B"/>
                </a:solidFill>
                <a:latin typeface="Noto Sans" pitchFamily="34" charset="0"/>
                <a:ea typeface="Noto Sans" pitchFamily="34" charset="-122"/>
                <a:cs typeface="Noto Sans" pitchFamily="34" charset="-120"/>
              </a:rPr>
              <a:t>η</a:t>
            </a:r>
            <a:r>
              <a:rPr lang="en-US" sz="1900" b="1" dirty="0">
                <a:solidFill>
                  <a:srgbClr val="1D5F9E"/>
                </a:solidFill>
                <a:latin typeface="Noto Sans" pitchFamily="34" charset="0"/>
                <a:ea typeface="Noto Sans" pitchFamily="34" charset="-122"/>
                <a:cs typeface="Noto Sans" pitchFamily="34" charset="-120"/>
              </a:rPr>
              <a:t>tot</a:t>
            </a:r>
            <a:r>
              <a:rPr lang="en-US" sz="1900" b="1" dirty="0">
                <a:solidFill>
                  <a:srgbClr val="17212B"/>
                </a:solidFill>
                <a:latin typeface="Noto Sans" pitchFamily="34" charset="0"/>
                <a:ea typeface="Noto Sans" pitchFamily="34" charset="-122"/>
                <a:cs typeface="Noto Sans" pitchFamily="34" charset="-120"/>
              </a:rPr>
              <a:t> = η</a:t>
            </a:r>
            <a:r>
              <a:rPr lang="en-US" sz="1900" b="1" dirty="0">
                <a:solidFill>
                  <a:srgbClr val="1D5F9E"/>
                </a:solidFill>
                <a:latin typeface="Noto Sans" pitchFamily="34" charset="0"/>
                <a:ea typeface="Noto Sans" pitchFamily="34" charset="-122"/>
                <a:cs typeface="Noto Sans" pitchFamily="34" charset="-120"/>
              </a:rPr>
              <a:t>v</a:t>
            </a:r>
            <a:r>
              <a:rPr lang="en-US" sz="1900" b="1" dirty="0">
                <a:solidFill>
                  <a:srgbClr val="17212B"/>
                </a:solidFill>
                <a:latin typeface="Noto Sans" pitchFamily="34" charset="0"/>
                <a:ea typeface="Noto Sans" pitchFamily="34" charset="-122"/>
                <a:cs typeface="Noto Sans" pitchFamily="34" charset="-120"/>
              </a:rPr>
              <a:t> · η</a:t>
            </a:r>
            <a:r>
              <a:rPr lang="en-US" sz="1900" b="1" dirty="0">
                <a:solidFill>
                  <a:srgbClr val="1D5F9E"/>
                </a:solidFill>
                <a:latin typeface="Noto Sans" pitchFamily="34" charset="0"/>
                <a:ea typeface="Noto Sans" pitchFamily="34" charset="-122"/>
                <a:cs typeface="Noto Sans" pitchFamily="34" charset="-120"/>
              </a:rPr>
              <a:t>m</a:t>
            </a:r>
            <a:r>
              <a:rPr lang="en-US" sz="1900" b="1" dirty="0">
                <a:solidFill>
                  <a:srgbClr val="17212B"/>
                </a:solidFill>
                <a:latin typeface="Noto Sans" pitchFamily="34" charset="0"/>
                <a:ea typeface="Noto Sans" pitchFamily="34" charset="-122"/>
                <a:cs typeface="Noto Sans" pitchFamily="34" charset="-120"/>
              </a:rPr>
              <a:t> · η</a:t>
            </a:r>
            <a:r>
              <a:rPr lang="en-US" sz="1900" b="1" dirty="0">
                <a:solidFill>
                  <a:srgbClr val="1D5F9E"/>
                </a:solidFill>
                <a:latin typeface="Noto Sans" pitchFamily="34" charset="0"/>
                <a:ea typeface="Noto Sans" pitchFamily="34" charset="-122"/>
                <a:cs typeface="Noto Sans" pitchFamily="34" charset="-120"/>
              </a:rPr>
              <a:t>g</a:t>
            </a:r>
            <a:r>
              <a:rPr lang="en-US" sz="1900" b="1" dirty="0">
                <a:solidFill>
                  <a:srgbClr val="17212B"/>
                </a:solidFill>
                <a:latin typeface="Noto Sans" pitchFamily="34" charset="0"/>
                <a:ea typeface="Noto Sans" pitchFamily="34" charset="-122"/>
                <a:cs typeface="Noto Sans" pitchFamily="34" charset="-120"/>
              </a:rPr>
              <a:t> ≈ 0,75…0,85</a:t>
            </a:r>
            <a:endParaRPr lang="en-US" sz="1900" dirty="0"/>
          </a:p>
        </p:txBody>
      </p:sp>
      <p:sp>
        <p:nvSpPr>
          <p:cNvPr id="13" name="Shape 11"/>
          <p:cNvSpPr/>
          <p:nvPr/>
        </p:nvSpPr>
        <p:spPr>
          <a:xfrm>
            <a:off x="6629400" y="1732279"/>
            <a:ext cx="4749800" cy="2881630"/>
          </a:xfrm>
          <a:prstGeom prst="roundRect">
            <a:avLst>
              <a:gd name="adj" fmla="val 3085"/>
            </a:avLst>
          </a:prstGeom>
          <a:solidFill>
            <a:srgbClr val="F6E6D8"/>
          </a:solidFill>
          <a:ln/>
        </p:spPr>
      </p:sp>
      <p:sp>
        <p:nvSpPr>
          <p:cNvPr id="14" name="Text 12"/>
          <p:cNvSpPr/>
          <p:nvPr/>
        </p:nvSpPr>
        <p:spPr>
          <a:xfrm>
            <a:off x="6845300" y="1922779"/>
            <a:ext cx="4447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7212B"/>
                </a:solidFill>
                <a:latin typeface="Noto Sans" pitchFamily="34" charset="0"/>
                <a:ea typeface="Noto Sans" pitchFamily="34" charset="-122"/>
                <a:cs typeface="Noto Sans" pitchFamily="34" charset="-120"/>
              </a:rPr>
              <a:t>Birliklar</a:t>
            </a:r>
            <a:endParaRPr lang="en-US" sz="1500" dirty="0"/>
          </a:p>
        </p:txBody>
      </p:sp>
      <p:sp>
        <p:nvSpPr>
          <p:cNvPr id="15" name="Text 13"/>
          <p:cNvSpPr/>
          <p:nvPr/>
        </p:nvSpPr>
        <p:spPr>
          <a:xfrm>
            <a:off x="6930644" y="2252979"/>
            <a:ext cx="4354576" cy="118110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P</a:t>
            </a:r>
            <a:r>
              <a:rPr lang="en-US" sz="1300" dirty="0">
                <a:solidFill>
                  <a:srgbClr val="1D5F9E"/>
                </a:solidFill>
                <a:latin typeface="Noto Sans" pitchFamily="34" charset="0"/>
                <a:ea typeface="Noto Sans" pitchFamily="34" charset="-122"/>
                <a:cs typeface="Noto Sans" pitchFamily="34" charset="-120"/>
              </a:rPr>
              <a:t>w</a:t>
            </a:r>
            <a:r>
              <a:rPr lang="en-US" sz="1300" dirty="0">
                <a:solidFill>
                  <a:srgbClr val="17212B"/>
                </a:solidFill>
                <a:latin typeface="Noto Sans" pitchFamily="34" charset="0"/>
                <a:ea typeface="Noto Sans" pitchFamily="34" charset="-122"/>
                <a:cs typeface="Noto Sans" pitchFamily="34" charset="-120"/>
              </a:rPr>
              <a:t> — bar</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Q</a:t>
            </a:r>
            <a:r>
              <a:rPr lang="en-US" sz="1300" dirty="0">
                <a:solidFill>
                  <a:srgbClr val="1D5F9E"/>
                </a:solidFill>
                <a:latin typeface="Noto Sans" pitchFamily="34" charset="0"/>
                <a:ea typeface="Noto Sans" pitchFamily="34" charset="-122"/>
                <a:cs typeface="Noto Sans" pitchFamily="34" charset="-120"/>
              </a:rPr>
              <a:t>nasos</a:t>
            </a:r>
            <a:r>
              <a:rPr lang="en-US" sz="1300" dirty="0">
                <a:solidFill>
                  <a:srgbClr val="17212B"/>
                </a:solidFill>
                <a:latin typeface="Noto Sans" pitchFamily="34" charset="0"/>
                <a:ea typeface="Noto Sans" pitchFamily="34" charset="-122"/>
                <a:cs typeface="Noto Sans" pitchFamily="34" charset="-120"/>
              </a:rPr>
              <a:t> — l/min</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P</a:t>
            </a:r>
            <a:r>
              <a:rPr lang="en-US" sz="1300" dirty="0">
                <a:solidFill>
                  <a:srgbClr val="1D5F9E"/>
                </a:solidFill>
                <a:latin typeface="Noto Sans" pitchFamily="34" charset="0"/>
                <a:ea typeface="Noto Sans" pitchFamily="34" charset="-122"/>
                <a:cs typeface="Noto Sans" pitchFamily="34" charset="-120"/>
              </a:rPr>
              <a:t>gidro</a:t>
            </a:r>
            <a:r>
              <a:rPr lang="en-US" sz="1300" dirty="0">
                <a:solidFill>
                  <a:srgbClr val="17212B"/>
                </a:solidFill>
                <a:latin typeface="Noto Sans" pitchFamily="34" charset="0"/>
                <a:ea typeface="Noto Sans" pitchFamily="34" charset="-122"/>
                <a:cs typeface="Noto Sans" pitchFamily="34" charset="-120"/>
              </a:rPr>
              <a:t>, P</a:t>
            </a:r>
            <a:r>
              <a:rPr lang="en-US" sz="1300" dirty="0">
                <a:solidFill>
                  <a:srgbClr val="1D5F9E"/>
                </a:solidFill>
                <a:latin typeface="Noto Sans" pitchFamily="34" charset="0"/>
                <a:ea typeface="Noto Sans" pitchFamily="34" charset="-122"/>
                <a:cs typeface="Noto Sans" pitchFamily="34" charset="-120"/>
              </a:rPr>
              <a:t>el</a:t>
            </a:r>
            <a:r>
              <a:rPr lang="en-US" sz="1300" dirty="0">
                <a:solidFill>
                  <a:srgbClr val="17212B"/>
                </a:solidFill>
                <a:latin typeface="Noto Sans" pitchFamily="34" charset="0"/>
                <a:ea typeface="Noto Sans" pitchFamily="34" charset="-122"/>
                <a:cs typeface="Noto Sans" pitchFamily="34" charset="-120"/>
              </a:rPr>
              <a:t> — kW</a:t>
            </a:r>
            <a:endParaRPr lang="en-US" sz="1300" dirty="0"/>
          </a:p>
          <a:p>
            <a:pPr algn="l" marL="168656" indent="-168656">
              <a:lnSpc>
                <a:spcPts val="1820"/>
              </a:lnSpc>
              <a:buSzPct val="100000"/>
              <a:buChar char="•"/>
            </a:pPr>
            <a:r>
              <a:rPr lang="en-US" sz="1300" dirty="0">
                <a:solidFill>
                  <a:srgbClr val="17212B"/>
                </a:solidFill>
                <a:latin typeface="Noto Sans" pitchFamily="34" charset="0"/>
                <a:ea typeface="Noto Sans" pitchFamily="34" charset="-122"/>
                <a:cs typeface="Noto Sans" pitchFamily="34" charset="-120"/>
              </a:rPr>
              <a:t>Motor katalogdan eng yaqin kattaroq nominal quvvat boʻyicha tanlanadi</a:t>
            </a:r>
            <a:endParaRPr lang="en-US" sz="1300" dirty="0"/>
          </a:p>
        </p:txBody>
      </p:sp>
      <p:sp>
        <p:nvSpPr>
          <p:cNvPr id="16" name="Text 14"/>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17" name="Text 15"/>
          <p:cNvSpPr/>
          <p:nvPr/>
        </p:nvSpPr>
        <p:spPr>
          <a:xfrm>
            <a:off x="11241193" y="6238242"/>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SXEMALAR</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Elektrogidravlik yuritmaning prinsipial sxemasi</a:t>
            </a:r>
            <a:endParaRPr lang="en-US" sz="3000" dirty="0"/>
          </a:p>
        </p:txBody>
      </p:sp>
      <p:pic>
        <p:nvPicPr>
          <p:cNvPr id="4" name="Image 0" descr="Elektrogidravlik yuritma sxemasi: gidrosilindr, P1 va P2 datchiklari, 4/3 servotaqsimlagich, Y1 va Y2 solenoidlari, nasos, elektromotor, saqlash klapani, gidrobak">    </p:cNvPr>
          <p:cNvPicPr>
            <a:picLocks noChangeAspect="1"/>
          </p:cNvPicPr>
          <p:nvPr/>
        </p:nvPicPr>
        <p:blipFill>
          <a:blip r:embed="rId1"/>
          <a:srcRect l="0" r="0" t="0" b="0"/>
          <a:stretch/>
        </p:blipFill>
        <p:spPr>
          <a:xfrm>
            <a:off x="812800" y="1681479"/>
            <a:ext cx="6096000" cy="3937000"/>
          </a:xfrm>
          <a:prstGeom prst="rect">
            <a:avLst/>
          </a:prstGeom>
        </p:spPr>
      </p:pic>
      <p:sp>
        <p:nvSpPr>
          <p:cNvPr id="5" name="Text 2"/>
          <p:cNvSpPr/>
          <p:nvPr/>
        </p:nvSpPr>
        <p:spPr>
          <a:xfrm>
            <a:off x="2106295" y="1681479"/>
            <a:ext cx="274701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Gidrosilindr (D = 63 mm)</a:t>
            </a:r>
            <a:endParaRPr lang="en-US" sz="1200" dirty="0"/>
          </a:p>
        </p:txBody>
      </p:sp>
      <p:sp>
        <p:nvSpPr>
          <p:cNvPr id="6" name="Text 3"/>
          <p:cNvSpPr/>
          <p:nvPr/>
        </p:nvSpPr>
        <p:spPr>
          <a:xfrm>
            <a:off x="5956300" y="2189479"/>
            <a:ext cx="939800" cy="3911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Robot boʻgʻini</a:t>
            </a:r>
            <a:endParaRPr lang="en-US" sz="1200" dirty="0"/>
          </a:p>
        </p:txBody>
      </p:sp>
      <p:sp>
        <p:nvSpPr>
          <p:cNvPr id="7" name="Text 4"/>
          <p:cNvSpPr/>
          <p:nvPr/>
        </p:nvSpPr>
        <p:spPr>
          <a:xfrm>
            <a:off x="2279650" y="2989579"/>
            <a:ext cx="3683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P₁</a:t>
            </a:r>
            <a:endParaRPr lang="en-US" sz="1200" dirty="0"/>
          </a:p>
        </p:txBody>
      </p:sp>
      <p:sp>
        <p:nvSpPr>
          <p:cNvPr id="8" name="Text 5"/>
          <p:cNvSpPr/>
          <p:nvPr/>
        </p:nvSpPr>
        <p:spPr>
          <a:xfrm>
            <a:off x="4184650" y="2989579"/>
            <a:ext cx="3683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P₂</a:t>
            </a:r>
            <a:endParaRPr lang="en-US" sz="1200" dirty="0"/>
          </a:p>
        </p:txBody>
      </p:sp>
      <p:sp>
        <p:nvSpPr>
          <p:cNvPr id="9" name="Text 6"/>
          <p:cNvSpPr/>
          <p:nvPr/>
        </p:nvSpPr>
        <p:spPr>
          <a:xfrm>
            <a:off x="2057400" y="3726179"/>
            <a:ext cx="939800" cy="3911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P→B</a:t>
            </a:r>
            <a:endParaRPr lang="en-US" sz="1200" dirty="0"/>
          </a:p>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A→T</a:t>
            </a:r>
            <a:endParaRPr lang="en-US" sz="1200" dirty="0"/>
          </a:p>
        </p:txBody>
      </p:sp>
      <p:sp>
        <p:nvSpPr>
          <p:cNvPr id="10" name="Text 7"/>
          <p:cNvSpPr/>
          <p:nvPr/>
        </p:nvSpPr>
        <p:spPr>
          <a:xfrm>
            <a:off x="2946400" y="3726179"/>
            <a:ext cx="9398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Yopiq</a:t>
            </a:r>
            <a:endParaRPr lang="en-US" sz="1200" dirty="0"/>
          </a:p>
        </p:txBody>
      </p:sp>
      <p:sp>
        <p:nvSpPr>
          <p:cNvPr id="11" name="Text 8"/>
          <p:cNvSpPr/>
          <p:nvPr/>
        </p:nvSpPr>
        <p:spPr>
          <a:xfrm>
            <a:off x="3835400" y="3726179"/>
            <a:ext cx="939800" cy="39116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P→A</a:t>
            </a:r>
            <a:endParaRPr lang="en-US" sz="1200" dirty="0"/>
          </a:p>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B→T</a:t>
            </a:r>
            <a:endParaRPr lang="en-US" sz="1200" dirty="0"/>
          </a:p>
        </p:txBody>
      </p:sp>
      <p:sp>
        <p:nvSpPr>
          <p:cNvPr id="12" name="Text 9"/>
          <p:cNvSpPr/>
          <p:nvPr/>
        </p:nvSpPr>
        <p:spPr>
          <a:xfrm>
            <a:off x="1485900" y="3776979"/>
            <a:ext cx="6223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Y1</a:t>
            </a:r>
            <a:endParaRPr lang="en-US" sz="1200" dirty="0"/>
          </a:p>
        </p:txBody>
      </p:sp>
      <p:sp>
        <p:nvSpPr>
          <p:cNvPr id="13" name="Text 10"/>
          <p:cNvSpPr/>
          <p:nvPr/>
        </p:nvSpPr>
        <p:spPr>
          <a:xfrm>
            <a:off x="4724400" y="3776979"/>
            <a:ext cx="6223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Y2</a:t>
            </a:r>
            <a:endParaRPr lang="en-US" sz="1200" dirty="0"/>
          </a:p>
        </p:txBody>
      </p:sp>
      <p:sp>
        <p:nvSpPr>
          <p:cNvPr id="14" name="Text 11"/>
          <p:cNvSpPr/>
          <p:nvPr/>
        </p:nvSpPr>
        <p:spPr>
          <a:xfrm>
            <a:off x="3041650" y="4767579"/>
            <a:ext cx="3683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N</a:t>
            </a:r>
            <a:endParaRPr lang="en-US" sz="1200" dirty="0"/>
          </a:p>
        </p:txBody>
      </p:sp>
      <p:sp>
        <p:nvSpPr>
          <p:cNvPr id="15" name="Text 12"/>
          <p:cNvSpPr/>
          <p:nvPr/>
        </p:nvSpPr>
        <p:spPr>
          <a:xfrm>
            <a:off x="3689350" y="4767579"/>
            <a:ext cx="3683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M</a:t>
            </a:r>
            <a:endParaRPr lang="en-US" sz="1200" dirty="0"/>
          </a:p>
        </p:txBody>
      </p:sp>
      <p:sp>
        <p:nvSpPr>
          <p:cNvPr id="16" name="Text 13"/>
          <p:cNvSpPr/>
          <p:nvPr/>
        </p:nvSpPr>
        <p:spPr>
          <a:xfrm>
            <a:off x="1485900" y="4634229"/>
            <a:ext cx="55880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SK</a:t>
            </a:r>
            <a:endParaRPr lang="en-US" sz="1200" dirty="0"/>
          </a:p>
        </p:txBody>
      </p:sp>
      <p:sp>
        <p:nvSpPr>
          <p:cNvPr id="17" name="Text 14"/>
          <p:cNvSpPr/>
          <p:nvPr/>
        </p:nvSpPr>
        <p:spPr>
          <a:xfrm>
            <a:off x="2427605" y="5313679"/>
            <a:ext cx="2485390" cy="208280"/>
          </a:xfrm>
          <a:prstGeom prst="rect">
            <a:avLst/>
          </a:prstGeom>
          <a:noFill/>
          <a:ln/>
        </p:spPr>
        <p:txBody>
          <a:bodyPr wrap="square" lIns="0" tIns="0" rIns="0" bIns="0" rtlCol="0" anchor="t">
            <a:normAutofit/>
          </a:bodyPr>
          <a:lstStyle/>
          <a:p>
            <a:pPr algn="ctr"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Gidrobak (moy)</a:t>
            </a:r>
            <a:endParaRPr lang="en-US" sz="1200" dirty="0"/>
          </a:p>
        </p:txBody>
      </p:sp>
      <p:sp>
        <p:nvSpPr>
          <p:cNvPr id="18" name="Text 15"/>
          <p:cNvSpPr/>
          <p:nvPr/>
        </p:nvSpPr>
        <p:spPr>
          <a:xfrm>
            <a:off x="3302000" y="4348479"/>
            <a:ext cx="30480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P</a:t>
            </a:r>
            <a:endParaRPr lang="en-US" sz="1200" dirty="0"/>
          </a:p>
        </p:txBody>
      </p:sp>
      <p:sp>
        <p:nvSpPr>
          <p:cNvPr id="19" name="Text 16"/>
          <p:cNvSpPr/>
          <p:nvPr/>
        </p:nvSpPr>
        <p:spPr>
          <a:xfrm>
            <a:off x="4572000" y="4538979"/>
            <a:ext cx="304800"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7212B"/>
                </a:solidFill>
                <a:latin typeface="Noto Sans" pitchFamily="34" charset="0"/>
                <a:ea typeface="Noto Sans" pitchFamily="34" charset="-122"/>
                <a:cs typeface="Noto Sans" pitchFamily="34" charset="-120"/>
              </a:rPr>
              <a:t>T</a:t>
            </a:r>
            <a:endParaRPr lang="en-US" sz="1200" dirty="0"/>
          </a:p>
        </p:txBody>
      </p:sp>
      <p:sp>
        <p:nvSpPr>
          <p:cNvPr id="20" name="Text 17"/>
          <p:cNvSpPr/>
          <p:nvPr/>
        </p:nvSpPr>
        <p:spPr>
          <a:xfrm>
            <a:off x="7213600" y="1681479"/>
            <a:ext cx="42905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12B"/>
                </a:solidFill>
                <a:latin typeface="Noto Sans" pitchFamily="34" charset="0"/>
                <a:ea typeface="Noto Sans" pitchFamily="34" charset="-122"/>
                <a:cs typeface="Noto Sans" pitchFamily="34" charset="-120"/>
              </a:rPr>
              <a:t>N</a:t>
            </a:r>
            <a:r>
              <a:rPr lang="en-US" sz="1300" dirty="0">
                <a:solidFill>
                  <a:srgbClr val="17212B"/>
                </a:solidFill>
                <a:latin typeface="Noto Sans" pitchFamily="34" charset="0"/>
                <a:ea typeface="Noto Sans" pitchFamily="34" charset="-122"/>
                <a:cs typeface="Noto Sans" pitchFamily="34" charset="-120"/>
              </a:rPr>
              <a:t> — gidronasos, </a:t>
            </a:r>
            <a:r>
              <a:rPr lang="en-US" sz="1300" b="1" dirty="0">
                <a:solidFill>
                  <a:srgbClr val="17212B"/>
                </a:solidFill>
                <a:latin typeface="Noto Sans" pitchFamily="34" charset="0"/>
                <a:ea typeface="Noto Sans" pitchFamily="34" charset="-122"/>
                <a:cs typeface="Noto Sans" pitchFamily="34" charset="-120"/>
              </a:rPr>
              <a:t>M</a:t>
            </a:r>
            <a:r>
              <a:rPr lang="en-US" sz="1300" dirty="0">
                <a:solidFill>
                  <a:srgbClr val="17212B"/>
                </a:solidFill>
                <a:latin typeface="Noto Sans" pitchFamily="34" charset="0"/>
                <a:ea typeface="Noto Sans" pitchFamily="34" charset="-122"/>
                <a:cs typeface="Noto Sans" pitchFamily="34" charset="-120"/>
              </a:rPr>
              <a:t> — elektromotor</a:t>
            </a:r>
            <a:endParaRPr lang="en-US" sz="1300" dirty="0"/>
          </a:p>
        </p:txBody>
      </p:sp>
      <p:sp>
        <p:nvSpPr>
          <p:cNvPr id="21" name="Text 18"/>
          <p:cNvSpPr/>
          <p:nvPr/>
        </p:nvSpPr>
        <p:spPr>
          <a:xfrm>
            <a:off x="7213600" y="2001521"/>
            <a:ext cx="42905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12B"/>
                </a:solidFill>
                <a:latin typeface="Noto Sans" pitchFamily="34" charset="0"/>
                <a:ea typeface="Noto Sans" pitchFamily="34" charset="-122"/>
                <a:cs typeface="Noto Sans" pitchFamily="34" charset="-120"/>
              </a:rPr>
              <a:t>SK</a:t>
            </a:r>
            <a:r>
              <a:rPr lang="en-US" sz="1300" dirty="0">
                <a:solidFill>
                  <a:srgbClr val="17212B"/>
                </a:solidFill>
                <a:latin typeface="Noto Sans" pitchFamily="34" charset="0"/>
                <a:ea typeface="Noto Sans" pitchFamily="34" charset="-122"/>
                <a:cs typeface="Noto Sans" pitchFamily="34" charset="-120"/>
              </a:rPr>
              <a:t> — bosim saqlash klapani</a:t>
            </a:r>
            <a:endParaRPr lang="en-US" sz="1300" dirty="0"/>
          </a:p>
        </p:txBody>
      </p:sp>
      <p:sp>
        <p:nvSpPr>
          <p:cNvPr id="22" name="Text 19"/>
          <p:cNvSpPr/>
          <p:nvPr/>
        </p:nvSpPr>
        <p:spPr>
          <a:xfrm>
            <a:off x="7213600" y="2321558"/>
            <a:ext cx="42905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12B"/>
                </a:solidFill>
                <a:latin typeface="Noto Sans" pitchFamily="34" charset="0"/>
                <a:ea typeface="Noto Sans" pitchFamily="34" charset="-122"/>
                <a:cs typeface="Noto Sans" pitchFamily="34" charset="-120"/>
              </a:rPr>
              <a:t>Y1, Y2</a:t>
            </a:r>
            <a:r>
              <a:rPr lang="en-US" sz="1300" dirty="0">
                <a:solidFill>
                  <a:srgbClr val="17212B"/>
                </a:solidFill>
                <a:latin typeface="Noto Sans" pitchFamily="34" charset="0"/>
                <a:ea typeface="Noto Sans" pitchFamily="34" charset="-122"/>
                <a:cs typeface="Noto Sans" pitchFamily="34" charset="-120"/>
              </a:rPr>
              <a:t> — 4/3 servotaqsimlagich solenoidlari</a:t>
            </a:r>
            <a:endParaRPr lang="en-US" sz="1300" dirty="0"/>
          </a:p>
        </p:txBody>
      </p:sp>
      <p:sp>
        <p:nvSpPr>
          <p:cNvPr id="23" name="Text 20"/>
          <p:cNvSpPr/>
          <p:nvPr/>
        </p:nvSpPr>
        <p:spPr>
          <a:xfrm>
            <a:off x="7213600" y="2641600"/>
            <a:ext cx="42905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12B"/>
                </a:solidFill>
                <a:latin typeface="Noto Sans" pitchFamily="34" charset="0"/>
                <a:ea typeface="Noto Sans" pitchFamily="34" charset="-122"/>
                <a:cs typeface="Noto Sans" pitchFamily="34" charset="-120"/>
              </a:rPr>
              <a:t>P₁, P₂</a:t>
            </a:r>
            <a:r>
              <a:rPr lang="en-US" sz="1300" dirty="0">
                <a:solidFill>
                  <a:srgbClr val="17212B"/>
                </a:solidFill>
                <a:latin typeface="Noto Sans" pitchFamily="34" charset="0"/>
                <a:ea typeface="Noto Sans" pitchFamily="34" charset="-122"/>
                <a:cs typeface="Noto Sans" pitchFamily="34" charset="-120"/>
              </a:rPr>
              <a:t> — bosim datchiklari</a:t>
            </a:r>
            <a:endParaRPr lang="en-US" sz="1300" dirty="0"/>
          </a:p>
        </p:txBody>
      </p:sp>
      <p:sp>
        <p:nvSpPr>
          <p:cNvPr id="24" name="Text 21"/>
          <p:cNvSpPr/>
          <p:nvPr/>
        </p:nvSpPr>
        <p:spPr>
          <a:xfrm>
            <a:off x="7213600" y="2961642"/>
            <a:ext cx="42905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212B"/>
                </a:solidFill>
                <a:latin typeface="Noto Sans" pitchFamily="34" charset="0"/>
                <a:ea typeface="Noto Sans" pitchFamily="34" charset="-122"/>
                <a:cs typeface="Noto Sans" pitchFamily="34" charset="-120"/>
              </a:rPr>
              <a:t>P</a:t>
            </a:r>
            <a:r>
              <a:rPr lang="en-US" sz="1300" dirty="0">
                <a:solidFill>
                  <a:srgbClr val="17212B"/>
                </a:solidFill>
                <a:latin typeface="Noto Sans" pitchFamily="34" charset="0"/>
                <a:ea typeface="Noto Sans" pitchFamily="34" charset="-122"/>
                <a:cs typeface="Noto Sans" pitchFamily="34" charset="-120"/>
              </a:rPr>
              <a:t> — bosim liniyasi, </a:t>
            </a:r>
            <a:r>
              <a:rPr lang="en-US" sz="1300" b="1" dirty="0">
                <a:solidFill>
                  <a:srgbClr val="17212B"/>
                </a:solidFill>
                <a:latin typeface="Noto Sans" pitchFamily="34" charset="0"/>
                <a:ea typeface="Noto Sans" pitchFamily="34" charset="-122"/>
                <a:cs typeface="Noto Sans" pitchFamily="34" charset="-120"/>
              </a:rPr>
              <a:t>T</a:t>
            </a:r>
            <a:r>
              <a:rPr lang="en-US" sz="1300" dirty="0">
                <a:solidFill>
                  <a:srgbClr val="17212B"/>
                </a:solidFill>
                <a:latin typeface="Noto Sans" pitchFamily="34" charset="0"/>
                <a:ea typeface="Noto Sans" pitchFamily="34" charset="-122"/>
                <a:cs typeface="Noto Sans" pitchFamily="34" charset="-120"/>
              </a:rPr>
              <a:t> — bakka qaytish</a:t>
            </a:r>
            <a:endParaRPr lang="en-US" sz="1300" dirty="0"/>
          </a:p>
        </p:txBody>
      </p:sp>
      <p:sp>
        <p:nvSpPr>
          <p:cNvPr id="25" name="Text 22"/>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6" name="Text 23"/>
          <p:cNvSpPr/>
          <p:nvPr/>
        </p:nvSpPr>
        <p:spPr>
          <a:xfrm>
            <a:off x="11241193" y="6238242"/>
            <a:ext cx="138007"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SERVOYURITMA MODELI</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Elektrogidravlik servoyuritma tenglamalari</a:t>
            </a:r>
            <a:endParaRPr lang="en-US" sz="3000" dirty="0"/>
          </a:p>
        </p:txBody>
      </p:sp>
      <p:sp>
        <p:nvSpPr>
          <p:cNvPr id="4" name="Shape 2"/>
          <p:cNvSpPr/>
          <p:nvPr/>
        </p:nvSpPr>
        <p:spPr>
          <a:xfrm>
            <a:off x="815975" y="1735454"/>
            <a:ext cx="5200650" cy="877570"/>
          </a:xfrm>
          <a:prstGeom prst="roundRect">
            <a:avLst>
              <a:gd name="adj" fmla="val 9768"/>
            </a:avLst>
          </a:prstGeom>
          <a:solidFill>
            <a:srgbClr val="FBFAF7"/>
          </a:solidFill>
          <a:ln w="6350">
            <a:solidFill>
              <a:srgbClr val="DCD7CB"/>
            </a:solidFill>
            <a:prstDash val="solid"/>
          </a:ln>
        </p:spPr>
      </p:sp>
      <p:sp>
        <p:nvSpPr>
          <p:cNvPr id="5" name="Text 3"/>
          <p:cNvSpPr/>
          <p:nvPr/>
        </p:nvSpPr>
        <p:spPr>
          <a:xfrm>
            <a:off x="1008380" y="1877058"/>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SARF BALANSI</a:t>
            </a:r>
            <a:endParaRPr lang="en-US" sz="1200" dirty="0"/>
          </a:p>
        </p:txBody>
      </p:sp>
      <p:sp>
        <p:nvSpPr>
          <p:cNvPr id="6" name="Text 4"/>
          <p:cNvSpPr/>
          <p:nvPr/>
        </p:nvSpPr>
        <p:spPr>
          <a:xfrm>
            <a:off x="1008380" y="2141221"/>
            <a:ext cx="4960315"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12B"/>
                </a:solidFill>
                <a:latin typeface="Noto Sans" pitchFamily="34" charset="0"/>
                <a:ea typeface="Noto Sans" pitchFamily="34" charset="-122"/>
                <a:cs typeface="Noto Sans" pitchFamily="34" charset="-120"/>
              </a:rPr>
              <a:t>Q = Q</a:t>
            </a:r>
            <a:r>
              <a:rPr lang="en-US" sz="2000" b="1" dirty="0">
                <a:solidFill>
                  <a:srgbClr val="1D5F9E"/>
                </a:solidFill>
                <a:latin typeface="Noto Sans" pitchFamily="34" charset="0"/>
                <a:ea typeface="Noto Sans" pitchFamily="34" charset="-122"/>
                <a:cs typeface="Noto Sans" pitchFamily="34" charset="-120"/>
              </a:rPr>
              <a:t>m</a:t>
            </a:r>
            <a:r>
              <a:rPr lang="en-US" sz="2000" b="1" dirty="0">
                <a:solidFill>
                  <a:srgbClr val="17212B"/>
                </a:solidFill>
                <a:latin typeface="Noto Sans" pitchFamily="34" charset="0"/>
                <a:ea typeface="Noto Sans" pitchFamily="34" charset="-122"/>
                <a:cs typeface="Noto Sans" pitchFamily="34" charset="-120"/>
              </a:rPr>
              <a:t> + Q</a:t>
            </a:r>
            <a:r>
              <a:rPr lang="en-US" sz="2000" b="1" dirty="0">
                <a:solidFill>
                  <a:srgbClr val="1D5F9E"/>
                </a:solidFill>
                <a:latin typeface="Noto Sans" pitchFamily="34" charset="0"/>
                <a:ea typeface="Noto Sans" pitchFamily="34" charset="-122"/>
                <a:cs typeface="Noto Sans" pitchFamily="34" charset="-120"/>
              </a:rPr>
              <a:t>l</a:t>
            </a:r>
            <a:r>
              <a:rPr lang="en-US" sz="2000" b="1" dirty="0">
                <a:solidFill>
                  <a:srgbClr val="17212B"/>
                </a:solidFill>
                <a:latin typeface="Noto Sans" pitchFamily="34" charset="0"/>
                <a:ea typeface="Noto Sans" pitchFamily="34" charset="-122"/>
                <a:cs typeface="Noto Sans" pitchFamily="34" charset="-120"/>
              </a:rPr>
              <a:t> + Q</a:t>
            </a:r>
            <a:r>
              <a:rPr lang="en-US" sz="2000" b="1" dirty="0">
                <a:solidFill>
                  <a:srgbClr val="1D5F9E"/>
                </a:solidFill>
                <a:latin typeface="Noto Sans" pitchFamily="34" charset="0"/>
                <a:ea typeface="Noto Sans" pitchFamily="34" charset="-122"/>
                <a:cs typeface="Noto Sans" pitchFamily="34" charset="-120"/>
              </a:rPr>
              <a:t>c</a:t>
            </a:r>
            <a:endParaRPr lang="en-US" sz="2000" dirty="0"/>
          </a:p>
        </p:txBody>
      </p:sp>
      <p:sp>
        <p:nvSpPr>
          <p:cNvPr id="7" name="Shape 5"/>
          <p:cNvSpPr/>
          <p:nvPr/>
        </p:nvSpPr>
        <p:spPr>
          <a:xfrm>
            <a:off x="6175375" y="1735454"/>
            <a:ext cx="5200650" cy="877570"/>
          </a:xfrm>
          <a:prstGeom prst="roundRect">
            <a:avLst>
              <a:gd name="adj" fmla="val 9768"/>
            </a:avLst>
          </a:prstGeom>
          <a:solidFill>
            <a:srgbClr val="FBFAF7"/>
          </a:solidFill>
          <a:ln w="6350">
            <a:solidFill>
              <a:srgbClr val="DCD7CB"/>
            </a:solidFill>
            <a:prstDash val="solid"/>
          </a:ln>
        </p:spPr>
      </p:sp>
      <p:sp>
        <p:nvSpPr>
          <p:cNvPr id="8" name="Text 6"/>
          <p:cNvSpPr/>
          <p:nvPr/>
        </p:nvSpPr>
        <p:spPr>
          <a:xfrm>
            <a:off x="6367780" y="1877058"/>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SERVOTAQSIMLAGICH (CHIZIQLI)</a:t>
            </a:r>
            <a:endParaRPr lang="en-US" sz="1200" dirty="0"/>
          </a:p>
        </p:txBody>
      </p:sp>
      <p:sp>
        <p:nvSpPr>
          <p:cNvPr id="9" name="Text 7"/>
          <p:cNvSpPr/>
          <p:nvPr/>
        </p:nvSpPr>
        <p:spPr>
          <a:xfrm>
            <a:off x="6367780" y="2141221"/>
            <a:ext cx="4960315"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12B"/>
                </a:solidFill>
                <a:latin typeface="Noto Sans" pitchFamily="34" charset="0"/>
                <a:ea typeface="Noto Sans" pitchFamily="34" charset="-122"/>
                <a:cs typeface="Noto Sans" pitchFamily="34" charset="-120"/>
              </a:rPr>
              <a:t>P = k</a:t>
            </a:r>
            <a:r>
              <a:rPr lang="en-US" sz="2000" b="1" dirty="0">
                <a:solidFill>
                  <a:srgbClr val="1D5F9E"/>
                </a:solidFill>
                <a:latin typeface="Noto Sans" pitchFamily="34" charset="0"/>
                <a:ea typeface="Noto Sans" pitchFamily="34" charset="-122"/>
                <a:cs typeface="Noto Sans" pitchFamily="34" charset="-120"/>
              </a:rPr>
              <a:t>x</a:t>
            </a:r>
            <a:r>
              <a:rPr lang="en-US" sz="2000" b="1" dirty="0">
                <a:solidFill>
                  <a:srgbClr val="17212B"/>
                </a:solidFill>
                <a:latin typeface="Noto Sans" pitchFamily="34" charset="0"/>
                <a:ea typeface="Noto Sans" pitchFamily="34" charset="-122"/>
                <a:cs typeface="Noto Sans" pitchFamily="34" charset="-120"/>
              </a:rPr>
              <a:t>·X − k</a:t>
            </a:r>
            <a:r>
              <a:rPr lang="en-US" sz="2000" b="1" dirty="0">
                <a:solidFill>
                  <a:srgbClr val="1D5F9E"/>
                </a:solidFill>
                <a:latin typeface="Noto Sans" pitchFamily="34" charset="0"/>
                <a:ea typeface="Noto Sans" pitchFamily="34" charset="-122"/>
                <a:cs typeface="Noto Sans" pitchFamily="34" charset="-120"/>
              </a:rPr>
              <a:t>r</a:t>
            </a:r>
            <a:r>
              <a:rPr lang="en-US" sz="2000" b="1" dirty="0">
                <a:solidFill>
                  <a:srgbClr val="17212B"/>
                </a:solidFill>
                <a:latin typeface="Noto Sans" pitchFamily="34" charset="0"/>
                <a:ea typeface="Noto Sans" pitchFamily="34" charset="-122"/>
                <a:cs typeface="Noto Sans" pitchFamily="34" charset="-120"/>
              </a:rPr>
              <a:t>·Q</a:t>
            </a:r>
            <a:endParaRPr lang="en-US" sz="2000" dirty="0"/>
          </a:p>
        </p:txBody>
      </p:sp>
      <p:sp>
        <p:nvSpPr>
          <p:cNvPr id="10" name="Shape 8"/>
          <p:cNvSpPr/>
          <p:nvPr/>
        </p:nvSpPr>
        <p:spPr>
          <a:xfrm>
            <a:off x="815975" y="2822575"/>
            <a:ext cx="3414183" cy="1084580"/>
          </a:xfrm>
          <a:prstGeom prst="roundRect">
            <a:avLst>
              <a:gd name="adj" fmla="val 7904"/>
            </a:avLst>
          </a:prstGeom>
          <a:solidFill>
            <a:srgbClr val="FBFAF7"/>
          </a:solidFill>
          <a:ln w="6350">
            <a:solidFill>
              <a:srgbClr val="DCD7CB"/>
            </a:solidFill>
            <a:prstDash val="solid"/>
          </a:ln>
        </p:spPr>
      </p:sp>
      <p:sp>
        <p:nvSpPr>
          <p:cNvPr id="11" name="Text 9"/>
          <p:cNvSpPr/>
          <p:nvPr/>
        </p:nvSpPr>
        <p:spPr>
          <a:xfrm>
            <a:off x="1008380" y="2964179"/>
            <a:ext cx="312025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FOYDALI SARF</a:t>
            </a:r>
            <a:endParaRPr lang="en-US" sz="1200" dirty="0"/>
          </a:p>
        </p:txBody>
      </p:sp>
      <p:sp>
        <p:nvSpPr>
          <p:cNvPr id="12" name="Text 10"/>
          <p:cNvSpPr/>
          <p:nvPr/>
        </p:nvSpPr>
        <p:spPr>
          <a:xfrm>
            <a:off x="1008380" y="3228342"/>
            <a:ext cx="3120254"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7212B"/>
                </a:solidFill>
                <a:latin typeface="Noto Sans" pitchFamily="34" charset="0"/>
                <a:ea typeface="Noto Sans" pitchFamily="34" charset="-122"/>
                <a:cs typeface="Noto Sans" pitchFamily="34" charset="-120"/>
              </a:rPr>
              <a:t>Q</a:t>
            </a:r>
            <a:r>
              <a:rPr lang="en-US" sz="1700" b="1" dirty="0">
                <a:solidFill>
                  <a:srgbClr val="1D5F9E"/>
                </a:solidFill>
                <a:latin typeface="Noto Sans" pitchFamily="34" charset="0"/>
                <a:ea typeface="Noto Sans" pitchFamily="34" charset="-122"/>
                <a:cs typeface="Noto Sans" pitchFamily="34" charset="-120"/>
              </a:rPr>
              <a:t>m</a:t>
            </a:r>
            <a:r>
              <a:rPr lang="en-US" sz="1700" b="1" dirty="0">
                <a:solidFill>
                  <a:srgbClr val="17212B"/>
                </a:solidFill>
                <a:latin typeface="Noto Sans" pitchFamily="34" charset="0"/>
                <a:ea typeface="Noto Sans" pitchFamily="34" charset="-122"/>
                <a:cs typeface="Noto Sans" pitchFamily="34" charset="-120"/>
              </a:rPr>
              <a:t> = k</a:t>
            </a:r>
            <a:r>
              <a:rPr lang="en-US" sz="1700" b="1" dirty="0">
                <a:solidFill>
                  <a:srgbClr val="1D5F9E"/>
                </a:solidFill>
                <a:latin typeface="Noto Sans" pitchFamily="34" charset="0"/>
                <a:ea typeface="Noto Sans" pitchFamily="34" charset="-122"/>
                <a:cs typeface="Noto Sans" pitchFamily="34" charset="-120"/>
              </a:rPr>
              <a:t>q</a:t>
            </a:r>
            <a:r>
              <a:rPr lang="en-US" sz="1700" b="1" dirty="0">
                <a:solidFill>
                  <a:srgbClr val="17212B"/>
                </a:solidFill>
                <a:latin typeface="Noto Sans" pitchFamily="34" charset="0"/>
                <a:ea typeface="Noto Sans" pitchFamily="34" charset="-122"/>
                <a:cs typeface="Noto Sans" pitchFamily="34" charset="-120"/>
              </a:rPr>
              <a:t>·Ω</a:t>
            </a:r>
            <a:r>
              <a:rPr lang="en-US" sz="1700" b="1" dirty="0">
                <a:solidFill>
                  <a:srgbClr val="1D5F9E"/>
                </a:solidFill>
                <a:latin typeface="Noto Sans" pitchFamily="34" charset="0"/>
                <a:ea typeface="Noto Sans" pitchFamily="34" charset="-122"/>
                <a:cs typeface="Noto Sans" pitchFamily="34" charset="-120"/>
              </a:rPr>
              <a:t>m</a:t>
            </a:r>
            <a:endParaRPr lang="en-US" sz="1700" dirty="0"/>
          </a:p>
        </p:txBody>
      </p:sp>
      <p:sp>
        <p:nvSpPr>
          <p:cNvPr id="13" name="Text 11"/>
          <p:cNvSpPr/>
          <p:nvPr/>
        </p:nvSpPr>
        <p:spPr>
          <a:xfrm>
            <a:off x="1008380" y="3559808"/>
            <a:ext cx="312025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616D"/>
                </a:solidFill>
                <a:latin typeface="Noto Sans" pitchFamily="34" charset="0"/>
                <a:ea typeface="Noto Sans" pitchFamily="34" charset="-122"/>
                <a:cs typeface="Noto Sans" pitchFamily="34" charset="-120"/>
              </a:rPr>
              <a:t>k q — sarf koeffitsiyenti</a:t>
            </a:r>
            <a:endParaRPr lang="en-US" sz="1200" dirty="0"/>
          </a:p>
        </p:txBody>
      </p:sp>
      <p:sp>
        <p:nvSpPr>
          <p:cNvPr id="14" name="Shape 12"/>
          <p:cNvSpPr/>
          <p:nvPr/>
        </p:nvSpPr>
        <p:spPr>
          <a:xfrm>
            <a:off x="4388908" y="2822575"/>
            <a:ext cx="3414183" cy="1084580"/>
          </a:xfrm>
          <a:prstGeom prst="roundRect">
            <a:avLst>
              <a:gd name="adj" fmla="val 7904"/>
            </a:avLst>
          </a:prstGeom>
          <a:solidFill>
            <a:srgbClr val="FBFAF7"/>
          </a:solidFill>
          <a:ln w="6350">
            <a:solidFill>
              <a:srgbClr val="DCD7CB"/>
            </a:solidFill>
            <a:prstDash val="solid"/>
          </a:ln>
        </p:spPr>
      </p:sp>
      <p:sp>
        <p:nvSpPr>
          <p:cNvPr id="15" name="Text 13"/>
          <p:cNvSpPr/>
          <p:nvPr/>
        </p:nvSpPr>
        <p:spPr>
          <a:xfrm>
            <a:off x="4581313" y="2964179"/>
            <a:ext cx="31202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OQISHLAR</a:t>
            </a:r>
            <a:endParaRPr lang="en-US" sz="1200" dirty="0"/>
          </a:p>
        </p:txBody>
      </p:sp>
      <p:sp>
        <p:nvSpPr>
          <p:cNvPr id="16" name="Text 14"/>
          <p:cNvSpPr/>
          <p:nvPr/>
        </p:nvSpPr>
        <p:spPr>
          <a:xfrm>
            <a:off x="4581313" y="3228342"/>
            <a:ext cx="3120255"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7212B"/>
                </a:solidFill>
                <a:latin typeface="Noto Sans" pitchFamily="34" charset="0"/>
                <a:ea typeface="Noto Sans" pitchFamily="34" charset="-122"/>
                <a:cs typeface="Noto Sans" pitchFamily="34" charset="-120"/>
              </a:rPr>
              <a:t>Q</a:t>
            </a:r>
            <a:r>
              <a:rPr lang="en-US" sz="1700" b="1" dirty="0">
                <a:solidFill>
                  <a:srgbClr val="1D5F9E"/>
                </a:solidFill>
                <a:latin typeface="Noto Sans" pitchFamily="34" charset="0"/>
                <a:ea typeface="Noto Sans" pitchFamily="34" charset="-122"/>
                <a:cs typeface="Noto Sans" pitchFamily="34" charset="-120"/>
              </a:rPr>
              <a:t>l</a:t>
            </a:r>
            <a:r>
              <a:rPr lang="en-US" sz="1700" b="1" dirty="0">
                <a:solidFill>
                  <a:srgbClr val="17212B"/>
                </a:solidFill>
                <a:latin typeface="Noto Sans" pitchFamily="34" charset="0"/>
                <a:ea typeface="Noto Sans" pitchFamily="34" charset="-122"/>
                <a:cs typeface="Noto Sans" pitchFamily="34" charset="-120"/>
              </a:rPr>
              <a:t> = k</a:t>
            </a:r>
            <a:r>
              <a:rPr lang="en-US" sz="1700" b="1" dirty="0">
                <a:solidFill>
                  <a:srgbClr val="1D5F9E"/>
                </a:solidFill>
                <a:latin typeface="Noto Sans" pitchFamily="34" charset="0"/>
                <a:ea typeface="Noto Sans" pitchFamily="34" charset="-122"/>
                <a:cs typeface="Noto Sans" pitchFamily="34" charset="-120"/>
              </a:rPr>
              <a:t>l</a:t>
            </a:r>
            <a:r>
              <a:rPr lang="en-US" sz="1700" b="1" dirty="0">
                <a:solidFill>
                  <a:srgbClr val="17212B"/>
                </a:solidFill>
                <a:latin typeface="Noto Sans" pitchFamily="34" charset="0"/>
                <a:ea typeface="Noto Sans" pitchFamily="34" charset="-122"/>
                <a:cs typeface="Noto Sans" pitchFamily="34" charset="-120"/>
              </a:rPr>
              <a:t>·P</a:t>
            </a:r>
            <a:endParaRPr lang="en-US" sz="1700" dirty="0"/>
          </a:p>
        </p:txBody>
      </p:sp>
      <p:sp>
        <p:nvSpPr>
          <p:cNvPr id="17" name="Text 15"/>
          <p:cNvSpPr/>
          <p:nvPr/>
        </p:nvSpPr>
        <p:spPr>
          <a:xfrm>
            <a:off x="4581313" y="3559808"/>
            <a:ext cx="312025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616D"/>
                </a:solidFill>
                <a:latin typeface="Noto Sans" pitchFamily="34" charset="0"/>
                <a:ea typeface="Noto Sans" pitchFamily="34" charset="-122"/>
                <a:cs typeface="Noto Sans" pitchFamily="34" charset="-120"/>
              </a:rPr>
              <a:t>k l — oqish koeffitsiyenti</a:t>
            </a:r>
            <a:endParaRPr lang="en-US" sz="1200" dirty="0"/>
          </a:p>
        </p:txBody>
      </p:sp>
      <p:sp>
        <p:nvSpPr>
          <p:cNvPr id="18" name="Shape 16"/>
          <p:cNvSpPr/>
          <p:nvPr/>
        </p:nvSpPr>
        <p:spPr>
          <a:xfrm>
            <a:off x="7961842" y="2822575"/>
            <a:ext cx="3414183" cy="1084580"/>
          </a:xfrm>
          <a:prstGeom prst="roundRect">
            <a:avLst>
              <a:gd name="adj" fmla="val 7904"/>
            </a:avLst>
          </a:prstGeom>
          <a:solidFill>
            <a:srgbClr val="FBFAF7"/>
          </a:solidFill>
          <a:ln w="6350">
            <a:solidFill>
              <a:srgbClr val="DCD7CB"/>
            </a:solidFill>
            <a:prstDash val="solid"/>
          </a:ln>
        </p:spPr>
      </p:sp>
      <p:sp>
        <p:nvSpPr>
          <p:cNvPr id="19" name="Text 17"/>
          <p:cNvSpPr/>
          <p:nvPr/>
        </p:nvSpPr>
        <p:spPr>
          <a:xfrm>
            <a:off x="8154246" y="2964179"/>
            <a:ext cx="312025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F12"/>
                </a:solidFill>
                <a:latin typeface="Noto Sans" pitchFamily="34" charset="0"/>
                <a:ea typeface="Noto Sans" pitchFamily="34" charset="-122"/>
                <a:cs typeface="Noto Sans" pitchFamily="34" charset="-120"/>
              </a:rPr>
              <a:t>SIQILUVCHANLIK</a:t>
            </a:r>
            <a:endParaRPr lang="en-US" sz="1200" dirty="0"/>
          </a:p>
        </p:txBody>
      </p:sp>
      <p:sp>
        <p:nvSpPr>
          <p:cNvPr id="20" name="Text 18"/>
          <p:cNvSpPr/>
          <p:nvPr/>
        </p:nvSpPr>
        <p:spPr>
          <a:xfrm>
            <a:off x="8154246" y="3228342"/>
            <a:ext cx="3120254"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7212B"/>
                </a:solidFill>
                <a:latin typeface="Noto Sans" pitchFamily="34" charset="0"/>
                <a:ea typeface="Noto Sans" pitchFamily="34" charset="-122"/>
                <a:cs typeface="Noto Sans" pitchFamily="34" charset="-120"/>
              </a:rPr>
              <a:t>Q</a:t>
            </a:r>
            <a:r>
              <a:rPr lang="en-US" sz="1700" b="1" dirty="0">
                <a:solidFill>
                  <a:srgbClr val="1D5F9E"/>
                </a:solidFill>
                <a:latin typeface="Noto Sans" pitchFamily="34" charset="0"/>
                <a:ea typeface="Noto Sans" pitchFamily="34" charset="-122"/>
                <a:cs typeface="Noto Sans" pitchFamily="34" charset="-120"/>
              </a:rPr>
              <a:t>c</a:t>
            </a:r>
            <a:r>
              <a:rPr lang="en-US" sz="1700" b="1" dirty="0">
                <a:solidFill>
                  <a:srgbClr val="17212B"/>
                </a:solidFill>
                <a:latin typeface="Noto Sans" pitchFamily="34" charset="0"/>
                <a:ea typeface="Noto Sans" pitchFamily="34" charset="-122"/>
                <a:cs typeface="Noto Sans" pitchFamily="34" charset="-120"/>
              </a:rPr>
              <a:t> = γ·V·dP/dt</a:t>
            </a:r>
            <a:endParaRPr lang="en-US" sz="1700" dirty="0"/>
          </a:p>
        </p:txBody>
      </p:sp>
      <p:sp>
        <p:nvSpPr>
          <p:cNvPr id="21" name="Text 19"/>
          <p:cNvSpPr/>
          <p:nvPr/>
        </p:nvSpPr>
        <p:spPr>
          <a:xfrm>
            <a:off x="8154246" y="3559808"/>
            <a:ext cx="312025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6616D"/>
                </a:solidFill>
                <a:latin typeface="Noto Sans" pitchFamily="34" charset="0"/>
                <a:ea typeface="Noto Sans" pitchFamily="34" charset="-122"/>
                <a:cs typeface="Noto Sans" pitchFamily="34" charset="-120"/>
              </a:rPr>
              <a:t>γ — siqiluvchanlik, V — kamera hajmi</a:t>
            </a:r>
            <a:endParaRPr lang="en-US" sz="1200" dirty="0"/>
          </a:p>
        </p:txBody>
      </p:sp>
      <p:sp>
        <p:nvSpPr>
          <p:cNvPr id="22" name="Text 20"/>
          <p:cNvSpPr/>
          <p:nvPr/>
        </p:nvSpPr>
        <p:spPr>
          <a:xfrm>
            <a:off x="812800" y="411352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X — zolotnik siljishi; Laplas almashtirishidan keyin W(s) = Θ</a:t>
            </a:r>
            <a:r>
              <a:rPr lang="en-US" sz="1400" dirty="0">
                <a:solidFill>
                  <a:srgbClr val="1D5F9E"/>
                </a:solidFill>
                <a:latin typeface="Noto Sans" pitchFamily="34" charset="0"/>
                <a:ea typeface="Noto Sans" pitchFamily="34" charset="-122"/>
                <a:cs typeface="Noto Sans" pitchFamily="34" charset="-120"/>
              </a:rPr>
              <a:t>m</a:t>
            </a:r>
            <a:r>
              <a:rPr lang="en-US" sz="1400" dirty="0">
                <a:solidFill>
                  <a:srgbClr val="17212B"/>
                </a:solidFill>
                <a:latin typeface="Noto Sans" pitchFamily="34" charset="0"/>
                <a:ea typeface="Noto Sans" pitchFamily="34" charset="-122"/>
                <a:cs typeface="Noto Sans" pitchFamily="34" charset="-120"/>
              </a:rPr>
              <a:t>(s) / X(s): ikkinchi tartibli tebranma boʻgʻin va integrator.</a:t>
            </a:r>
            <a:endParaRPr lang="en-US" sz="1400" dirty="0"/>
          </a:p>
        </p:txBody>
      </p:sp>
      <p:sp>
        <p:nvSpPr>
          <p:cNvPr id="23" name="Text 21"/>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4" name="Text 22"/>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SERVOYURITMA MODELI</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Dinamik blok-sxema</a:t>
            </a:r>
            <a:endParaRPr lang="en-US" sz="3000" dirty="0"/>
          </a:p>
        </p:txBody>
      </p:sp>
      <p:pic>
        <p:nvPicPr>
          <p:cNvPr id="4" name="Image 0" descr="Elektrogidravlik servoyuritmaning dinamik blok-sxemasi: kirish X(s), sarf kuchaytirish, siqiluvchanlik, moment, inersiya, integrator, chiqish burchak, uchta teskari aloqa va tashqi yuklama momenti">    </p:cNvPr>
          <p:cNvPicPr>
            <a:picLocks noChangeAspect="1"/>
          </p:cNvPicPr>
          <p:nvPr/>
        </p:nvPicPr>
        <p:blipFill>
          <a:blip r:embed="rId1"/>
          <a:srcRect l="0" r="0" t="-38" b="-38"/>
          <a:stretch/>
        </p:blipFill>
        <p:spPr>
          <a:xfrm>
            <a:off x="812800" y="1732279"/>
            <a:ext cx="10414000" cy="2921000"/>
          </a:xfrm>
          <a:prstGeom prst="rect">
            <a:avLst/>
          </a:prstGeom>
        </p:spPr>
      </p:pic>
      <p:sp>
        <p:nvSpPr>
          <p:cNvPr id="5" name="Text 2"/>
          <p:cNvSpPr/>
          <p:nvPr/>
        </p:nvSpPr>
        <p:spPr>
          <a:xfrm>
            <a:off x="2057400" y="3021329"/>
            <a:ext cx="1003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7212B"/>
                </a:solidFill>
                <a:latin typeface="Noto Sans" pitchFamily="34" charset="0"/>
                <a:ea typeface="Noto Sans" pitchFamily="34" charset="-122"/>
                <a:cs typeface="Noto Sans" pitchFamily="34" charset="-120"/>
              </a:rPr>
              <a:t>k</a:t>
            </a:r>
            <a:r>
              <a:rPr lang="en-US" sz="1300" b="1" dirty="0">
                <a:solidFill>
                  <a:srgbClr val="1D5F9E"/>
                </a:solidFill>
                <a:latin typeface="Noto Sans" pitchFamily="34" charset="0"/>
                <a:ea typeface="Noto Sans" pitchFamily="34" charset="-122"/>
                <a:cs typeface="Noto Sans" pitchFamily="34" charset="-120"/>
              </a:rPr>
              <a:t>x</a:t>
            </a:r>
            <a:r>
              <a:rPr lang="en-US" sz="1300" b="1" dirty="0">
                <a:solidFill>
                  <a:srgbClr val="17212B"/>
                </a:solidFill>
                <a:latin typeface="Noto Sans" pitchFamily="34" charset="0"/>
                <a:ea typeface="Noto Sans" pitchFamily="34" charset="-122"/>
                <a:cs typeface="Noto Sans" pitchFamily="34" charset="-120"/>
              </a:rPr>
              <a:t> / k</a:t>
            </a:r>
            <a:r>
              <a:rPr lang="en-US" sz="1300" b="1" dirty="0">
                <a:solidFill>
                  <a:srgbClr val="1D5F9E"/>
                </a:solidFill>
                <a:latin typeface="Noto Sans" pitchFamily="34" charset="0"/>
                <a:ea typeface="Noto Sans" pitchFamily="34" charset="-122"/>
                <a:cs typeface="Noto Sans" pitchFamily="34" charset="-120"/>
              </a:rPr>
              <a:t>r</a:t>
            </a:r>
            <a:endParaRPr lang="en-US" sz="1300" dirty="0"/>
          </a:p>
        </p:txBody>
      </p:sp>
      <p:sp>
        <p:nvSpPr>
          <p:cNvPr id="6" name="Text 3"/>
          <p:cNvSpPr/>
          <p:nvPr/>
        </p:nvSpPr>
        <p:spPr>
          <a:xfrm>
            <a:off x="1866900" y="3446779"/>
            <a:ext cx="138430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6616D"/>
                </a:solidFill>
                <a:latin typeface="Noto Sans" pitchFamily="34" charset="0"/>
                <a:ea typeface="Noto Sans" pitchFamily="34" charset="-122"/>
                <a:cs typeface="Noto Sans" pitchFamily="34" charset="-120"/>
              </a:rPr>
              <a:t>Sarf kuchayt.</a:t>
            </a:r>
            <a:endParaRPr lang="en-US" sz="1200" dirty="0"/>
          </a:p>
        </p:txBody>
      </p:sp>
      <p:sp>
        <p:nvSpPr>
          <p:cNvPr id="7" name="Text 4"/>
          <p:cNvSpPr/>
          <p:nvPr/>
        </p:nvSpPr>
        <p:spPr>
          <a:xfrm>
            <a:off x="3898900" y="3021329"/>
            <a:ext cx="1130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7212B"/>
                </a:solidFill>
                <a:latin typeface="Noto Sans" pitchFamily="34" charset="0"/>
                <a:ea typeface="Noto Sans" pitchFamily="34" charset="-122"/>
                <a:cs typeface="Noto Sans" pitchFamily="34" charset="-120"/>
              </a:rPr>
              <a:t>1 / (s·k</a:t>
            </a:r>
            <a:r>
              <a:rPr lang="en-US" sz="1300" b="1" dirty="0">
                <a:solidFill>
                  <a:srgbClr val="1D5F9E"/>
                </a:solidFill>
                <a:latin typeface="Noto Sans" pitchFamily="34" charset="0"/>
                <a:ea typeface="Noto Sans" pitchFamily="34" charset="-122"/>
                <a:cs typeface="Noto Sans" pitchFamily="34" charset="-120"/>
              </a:rPr>
              <a:t>c</a:t>
            </a:r>
            <a:r>
              <a:rPr lang="en-US" sz="1300" b="1" dirty="0">
                <a:solidFill>
                  <a:srgbClr val="17212B"/>
                </a:solidFill>
                <a:latin typeface="Noto Sans" pitchFamily="34" charset="0"/>
                <a:ea typeface="Noto Sans" pitchFamily="34" charset="-122"/>
                <a:cs typeface="Noto Sans" pitchFamily="34" charset="-120"/>
              </a:rPr>
              <a:t>)</a:t>
            </a:r>
            <a:endParaRPr lang="en-US" sz="1300" dirty="0"/>
          </a:p>
        </p:txBody>
      </p:sp>
      <p:sp>
        <p:nvSpPr>
          <p:cNvPr id="8" name="Text 5"/>
          <p:cNvSpPr/>
          <p:nvPr/>
        </p:nvSpPr>
        <p:spPr>
          <a:xfrm>
            <a:off x="3708400" y="3446779"/>
            <a:ext cx="151130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6616D"/>
                </a:solidFill>
                <a:latin typeface="Noto Sans" pitchFamily="34" charset="0"/>
                <a:ea typeface="Noto Sans" pitchFamily="34" charset="-122"/>
                <a:cs typeface="Noto Sans" pitchFamily="34" charset="-120"/>
              </a:rPr>
              <a:t>Siqiluvchanlik</a:t>
            </a:r>
            <a:endParaRPr lang="en-US" sz="1200" dirty="0"/>
          </a:p>
        </p:txBody>
      </p:sp>
      <p:sp>
        <p:nvSpPr>
          <p:cNvPr id="9" name="Text 6"/>
          <p:cNvSpPr/>
          <p:nvPr/>
        </p:nvSpPr>
        <p:spPr>
          <a:xfrm>
            <a:off x="5549900" y="3021329"/>
            <a:ext cx="749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7212B"/>
                </a:solidFill>
                <a:latin typeface="Noto Sans" pitchFamily="34" charset="0"/>
                <a:ea typeface="Noto Sans" pitchFamily="34" charset="-122"/>
                <a:cs typeface="Noto Sans" pitchFamily="34" charset="-120"/>
              </a:rPr>
              <a:t>k</a:t>
            </a:r>
            <a:r>
              <a:rPr lang="en-US" sz="1300" b="1" dirty="0">
                <a:solidFill>
                  <a:srgbClr val="1D5F9E"/>
                </a:solidFill>
                <a:latin typeface="Noto Sans" pitchFamily="34" charset="0"/>
                <a:ea typeface="Noto Sans" pitchFamily="34" charset="-122"/>
                <a:cs typeface="Noto Sans" pitchFamily="34" charset="-120"/>
              </a:rPr>
              <a:t>t</a:t>
            </a:r>
            <a:endParaRPr lang="en-US" sz="1300" dirty="0"/>
          </a:p>
        </p:txBody>
      </p:sp>
      <p:sp>
        <p:nvSpPr>
          <p:cNvPr id="10" name="Text 7"/>
          <p:cNvSpPr/>
          <p:nvPr/>
        </p:nvSpPr>
        <p:spPr>
          <a:xfrm>
            <a:off x="5359400" y="3446779"/>
            <a:ext cx="113030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6616D"/>
                </a:solidFill>
                <a:latin typeface="Noto Sans" pitchFamily="34" charset="0"/>
                <a:ea typeface="Noto Sans" pitchFamily="34" charset="-122"/>
                <a:cs typeface="Noto Sans" pitchFamily="34" charset="-120"/>
              </a:rPr>
              <a:t>Moment</a:t>
            </a:r>
            <a:endParaRPr lang="en-US" sz="1200" dirty="0"/>
          </a:p>
        </p:txBody>
      </p:sp>
      <p:sp>
        <p:nvSpPr>
          <p:cNvPr id="11" name="Text 8"/>
          <p:cNvSpPr/>
          <p:nvPr/>
        </p:nvSpPr>
        <p:spPr>
          <a:xfrm>
            <a:off x="7200900" y="3021329"/>
            <a:ext cx="1511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7212B"/>
                </a:solidFill>
                <a:latin typeface="Noto Sans" pitchFamily="34" charset="0"/>
                <a:ea typeface="Noto Sans" pitchFamily="34" charset="-122"/>
                <a:cs typeface="Noto Sans" pitchFamily="34" charset="-120"/>
              </a:rPr>
              <a:t>1 / (s·I</a:t>
            </a:r>
            <a:r>
              <a:rPr lang="en-US" sz="1300" b="1" dirty="0">
                <a:solidFill>
                  <a:srgbClr val="1D5F9E"/>
                </a:solidFill>
                <a:latin typeface="Noto Sans" pitchFamily="34" charset="0"/>
                <a:ea typeface="Noto Sans" pitchFamily="34" charset="-122"/>
                <a:cs typeface="Noto Sans" pitchFamily="34" charset="-120"/>
              </a:rPr>
              <a:t>m</a:t>
            </a:r>
            <a:r>
              <a:rPr lang="en-US" sz="1300" b="1" dirty="0">
                <a:solidFill>
                  <a:srgbClr val="17212B"/>
                </a:solidFill>
                <a:latin typeface="Noto Sans" pitchFamily="34" charset="0"/>
                <a:ea typeface="Noto Sans" pitchFamily="34" charset="-122"/>
                <a:cs typeface="Noto Sans" pitchFamily="34" charset="-120"/>
              </a:rPr>
              <a:t> + F</a:t>
            </a:r>
            <a:r>
              <a:rPr lang="en-US" sz="1300" b="1" dirty="0">
                <a:solidFill>
                  <a:srgbClr val="1D5F9E"/>
                </a:solidFill>
                <a:latin typeface="Noto Sans" pitchFamily="34" charset="0"/>
                <a:ea typeface="Noto Sans" pitchFamily="34" charset="-122"/>
                <a:cs typeface="Noto Sans" pitchFamily="34" charset="-120"/>
              </a:rPr>
              <a:t>m</a:t>
            </a:r>
            <a:r>
              <a:rPr lang="en-US" sz="1300" b="1" dirty="0">
                <a:solidFill>
                  <a:srgbClr val="17212B"/>
                </a:solidFill>
                <a:latin typeface="Noto Sans" pitchFamily="34" charset="0"/>
                <a:ea typeface="Noto Sans" pitchFamily="34" charset="-122"/>
                <a:cs typeface="Noto Sans" pitchFamily="34" charset="-120"/>
              </a:rPr>
              <a:t>)</a:t>
            </a:r>
            <a:endParaRPr lang="en-US" sz="1300" dirty="0"/>
          </a:p>
        </p:txBody>
      </p:sp>
      <p:sp>
        <p:nvSpPr>
          <p:cNvPr id="12" name="Text 9"/>
          <p:cNvSpPr/>
          <p:nvPr/>
        </p:nvSpPr>
        <p:spPr>
          <a:xfrm>
            <a:off x="7008178" y="3446779"/>
            <a:ext cx="1896745"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6616D"/>
                </a:solidFill>
                <a:latin typeface="Noto Sans" pitchFamily="34" charset="0"/>
                <a:ea typeface="Noto Sans" pitchFamily="34" charset="-122"/>
                <a:cs typeface="Noto Sans" pitchFamily="34" charset="-120"/>
              </a:rPr>
              <a:t>Inersiya</a:t>
            </a:r>
            <a:endParaRPr lang="en-US" sz="1200" dirty="0"/>
          </a:p>
        </p:txBody>
      </p:sp>
      <p:sp>
        <p:nvSpPr>
          <p:cNvPr id="13" name="Text 10"/>
          <p:cNvSpPr/>
          <p:nvPr/>
        </p:nvSpPr>
        <p:spPr>
          <a:xfrm>
            <a:off x="9232900" y="3021329"/>
            <a:ext cx="6858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7212B"/>
                </a:solidFill>
                <a:latin typeface="Noto Sans" pitchFamily="34" charset="0"/>
                <a:ea typeface="Noto Sans" pitchFamily="34" charset="-122"/>
                <a:cs typeface="Noto Sans" pitchFamily="34" charset="-120"/>
              </a:rPr>
              <a:t>1 / s</a:t>
            </a:r>
            <a:endParaRPr lang="en-US" sz="1300" dirty="0"/>
          </a:p>
        </p:txBody>
      </p:sp>
      <p:sp>
        <p:nvSpPr>
          <p:cNvPr id="14" name="Text 11"/>
          <p:cNvSpPr/>
          <p:nvPr/>
        </p:nvSpPr>
        <p:spPr>
          <a:xfrm>
            <a:off x="9042400" y="3446779"/>
            <a:ext cx="106680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56616D"/>
                </a:solidFill>
                <a:latin typeface="Noto Sans" pitchFamily="34" charset="0"/>
                <a:ea typeface="Noto Sans" pitchFamily="34" charset="-122"/>
                <a:cs typeface="Noto Sans" pitchFamily="34" charset="-120"/>
              </a:rPr>
              <a:t>Integrator</a:t>
            </a:r>
            <a:endParaRPr lang="en-US" sz="1200" dirty="0"/>
          </a:p>
        </p:txBody>
      </p:sp>
      <p:sp>
        <p:nvSpPr>
          <p:cNvPr id="15" name="Text 12"/>
          <p:cNvSpPr/>
          <p:nvPr/>
        </p:nvSpPr>
        <p:spPr>
          <a:xfrm>
            <a:off x="812800" y="3014979"/>
            <a:ext cx="4953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Noto Sans" pitchFamily="34" charset="0"/>
                <a:ea typeface="Noto Sans" pitchFamily="34" charset="-122"/>
                <a:cs typeface="Noto Sans" pitchFamily="34" charset="-120"/>
              </a:rPr>
              <a:t>X(s)</a:t>
            </a:r>
            <a:endParaRPr lang="en-US" sz="1400" dirty="0"/>
          </a:p>
        </p:txBody>
      </p:sp>
      <p:sp>
        <p:nvSpPr>
          <p:cNvPr id="16" name="Text 13"/>
          <p:cNvSpPr/>
          <p:nvPr/>
        </p:nvSpPr>
        <p:spPr>
          <a:xfrm>
            <a:off x="10369550" y="3014979"/>
            <a:ext cx="8128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212B"/>
                </a:solidFill>
                <a:latin typeface="Noto Sans" pitchFamily="34" charset="0"/>
                <a:ea typeface="Noto Sans" pitchFamily="34" charset="-122"/>
                <a:cs typeface="Noto Sans" pitchFamily="34" charset="-120"/>
              </a:rPr>
              <a:t>Θ</a:t>
            </a:r>
            <a:r>
              <a:rPr lang="en-US" sz="1400" b="1" dirty="0">
                <a:solidFill>
                  <a:srgbClr val="1D5F9E"/>
                </a:solidFill>
                <a:latin typeface="Noto Sans" pitchFamily="34" charset="0"/>
                <a:ea typeface="Noto Sans" pitchFamily="34" charset="-122"/>
                <a:cs typeface="Noto Sans" pitchFamily="34" charset="-120"/>
              </a:rPr>
              <a:t>m</a:t>
            </a:r>
            <a:r>
              <a:rPr lang="en-US" sz="1400" b="1" dirty="0">
                <a:solidFill>
                  <a:srgbClr val="17212B"/>
                </a:solidFill>
                <a:latin typeface="Noto Sans" pitchFamily="34" charset="0"/>
                <a:ea typeface="Noto Sans" pitchFamily="34" charset="-122"/>
                <a:cs typeface="Noto Sans" pitchFamily="34" charset="-120"/>
              </a:rPr>
              <a:t>(s)</a:t>
            </a:r>
            <a:endParaRPr lang="en-US" sz="1400" dirty="0"/>
          </a:p>
        </p:txBody>
      </p:sp>
      <p:sp>
        <p:nvSpPr>
          <p:cNvPr id="17" name="Text 14"/>
          <p:cNvSpPr/>
          <p:nvPr/>
        </p:nvSpPr>
        <p:spPr>
          <a:xfrm>
            <a:off x="3022600" y="2773679"/>
            <a:ext cx="368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D5F9E"/>
                </a:solidFill>
                <a:latin typeface="Noto Sans" pitchFamily="34" charset="0"/>
                <a:ea typeface="Noto Sans" pitchFamily="34" charset="-122"/>
                <a:cs typeface="Noto Sans" pitchFamily="34" charset="-120"/>
              </a:rPr>
              <a:t>Q</a:t>
            </a:r>
            <a:endParaRPr lang="en-US" sz="1300" dirty="0"/>
          </a:p>
        </p:txBody>
      </p:sp>
      <p:sp>
        <p:nvSpPr>
          <p:cNvPr id="18" name="Text 15"/>
          <p:cNvSpPr/>
          <p:nvPr/>
        </p:nvSpPr>
        <p:spPr>
          <a:xfrm>
            <a:off x="5105400" y="2773679"/>
            <a:ext cx="368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D5F9E"/>
                </a:solidFill>
                <a:latin typeface="Noto Sans" pitchFamily="34" charset="0"/>
                <a:ea typeface="Noto Sans" pitchFamily="34" charset="-122"/>
                <a:cs typeface="Noto Sans" pitchFamily="34" charset="-120"/>
              </a:rPr>
              <a:t>P</a:t>
            </a:r>
            <a:endParaRPr lang="en-US" sz="1300" dirty="0"/>
          </a:p>
        </p:txBody>
      </p:sp>
      <p:sp>
        <p:nvSpPr>
          <p:cNvPr id="19" name="Text 16"/>
          <p:cNvSpPr/>
          <p:nvPr/>
        </p:nvSpPr>
        <p:spPr>
          <a:xfrm>
            <a:off x="6273800" y="2773679"/>
            <a:ext cx="3683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D5F9E"/>
                </a:solidFill>
                <a:latin typeface="Noto Sans" pitchFamily="34" charset="0"/>
                <a:ea typeface="Noto Sans" pitchFamily="34" charset="-122"/>
                <a:cs typeface="Noto Sans" pitchFamily="34" charset="-120"/>
              </a:rPr>
              <a:t>C</a:t>
            </a:r>
            <a:r>
              <a:rPr lang="en-US" sz="1300" b="1" dirty="0">
                <a:solidFill>
                  <a:srgbClr val="1D5F9E"/>
                </a:solidFill>
                <a:latin typeface="Noto Sans" pitchFamily="34" charset="0"/>
                <a:ea typeface="Noto Sans" pitchFamily="34" charset="-122"/>
                <a:cs typeface="Noto Sans" pitchFamily="34" charset="-120"/>
              </a:rPr>
              <a:t>m</a:t>
            </a:r>
            <a:endParaRPr lang="en-US" sz="1300" dirty="0"/>
          </a:p>
        </p:txBody>
      </p:sp>
      <p:sp>
        <p:nvSpPr>
          <p:cNvPr id="20" name="Text 17"/>
          <p:cNvSpPr/>
          <p:nvPr/>
        </p:nvSpPr>
        <p:spPr>
          <a:xfrm>
            <a:off x="8775700" y="2773679"/>
            <a:ext cx="4064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1D5F9E"/>
                </a:solidFill>
                <a:latin typeface="Noto Sans" pitchFamily="34" charset="0"/>
                <a:ea typeface="Noto Sans" pitchFamily="34" charset="-122"/>
                <a:cs typeface="Noto Sans" pitchFamily="34" charset="-120"/>
              </a:rPr>
              <a:t>Ω</a:t>
            </a:r>
            <a:r>
              <a:rPr lang="en-US" sz="1300" b="1" dirty="0">
                <a:solidFill>
                  <a:srgbClr val="1D5F9E"/>
                </a:solidFill>
                <a:latin typeface="Noto Sans" pitchFamily="34" charset="0"/>
                <a:ea typeface="Noto Sans" pitchFamily="34" charset="-122"/>
                <a:cs typeface="Noto Sans" pitchFamily="34" charset="-120"/>
              </a:rPr>
              <a:t>m</a:t>
            </a:r>
            <a:endParaRPr lang="en-US" sz="1300" dirty="0"/>
          </a:p>
        </p:txBody>
      </p:sp>
      <p:sp>
        <p:nvSpPr>
          <p:cNvPr id="21" name="Text 18"/>
          <p:cNvSpPr/>
          <p:nvPr/>
        </p:nvSpPr>
        <p:spPr>
          <a:xfrm>
            <a:off x="4089400" y="3586479"/>
            <a:ext cx="9398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C0504D"/>
                </a:solidFill>
                <a:latin typeface="Noto Sans" pitchFamily="34" charset="0"/>
                <a:ea typeface="Noto Sans" pitchFamily="34" charset="-122"/>
                <a:cs typeface="Noto Sans" pitchFamily="34" charset="-120"/>
              </a:rPr>
              <a:t>−k</a:t>
            </a:r>
            <a:r>
              <a:rPr lang="en-US" sz="1300" b="1" dirty="0">
                <a:solidFill>
                  <a:srgbClr val="1D5F9E"/>
                </a:solidFill>
                <a:latin typeface="Noto Sans" pitchFamily="34" charset="0"/>
                <a:ea typeface="Noto Sans" pitchFamily="34" charset="-122"/>
                <a:cs typeface="Noto Sans" pitchFamily="34" charset="-120"/>
              </a:rPr>
              <a:t>l</a:t>
            </a:r>
            <a:endParaRPr lang="en-US" sz="1300" dirty="0"/>
          </a:p>
        </p:txBody>
      </p:sp>
      <p:sp>
        <p:nvSpPr>
          <p:cNvPr id="22" name="Text 19"/>
          <p:cNvSpPr/>
          <p:nvPr/>
        </p:nvSpPr>
        <p:spPr>
          <a:xfrm>
            <a:off x="2882900" y="4157979"/>
            <a:ext cx="10668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C0504D"/>
                </a:solidFill>
                <a:latin typeface="Noto Sans" pitchFamily="34" charset="0"/>
                <a:ea typeface="Noto Sans" pitchFamily="34" charset="-122"/>
                <a:cs typeface="Noto Sans" pitchFamily="34" charset="-120"/>
              </a:rPr>
              <a:t>−1/k</a:t>
            </a:r>
            <a:r>
              <a:rPr lang="en-US" sz="1300" b="1" dirty="0">
                <a:solidFill>
                  <a:srgbClr val="1D5F9E"/>
                </a:solidFill>
                <a:latin typeface="Noto Sans" pitchFamily="34" charset="0"/>
                <a:ea typeface="Noto Sans" pitchFamily="34" charset="-122"/>
                <a:cs typeface="Noto Sans" pitchFamily="34" charset="-120"/>
              </a:rPr>
              <a:t>x</a:t>
            </a:r>
            <a:endParaRPr lang="en-US" sz="1300" dirty="0"/>
          </a:p>
        </p:txBody>
      </p:sp>
      <p:sp>
        <p:nvSpPr>
          <p:cNvPr id="23" name="Text 20"/>
          <p:cNvSpPr/>
          <p:nvPr/>
        </p:nvSpPr>
        <p:spPr>
          <a:xfrm>
            <a:off x="5867400" y="2062479"/>
            <a:ext cx="939800" cy="223520"/>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C0504D"/>
                </a:solidFill>
                <a:latin typeface="Noto Sans" pitchFamily="34" charset="0"/>
                <a:ea typeface="Noto Sans" pitchFamily="34" charset="-122"/>
                <a:cs typeface="Noto Sans" pitchFamily="34" charset="-120"/>
              </a:rPr>
              <a:t>−k</a:t>
            </a:r>
            <a:r>
              <a:rPr lang="en-US" sz="1300" b="1" dirty="0">
                <a:solidFill>
                  <a:srgbClr val="1D5F9E"/>
                </a:solidFill>
                <a:latin typeface="Noto Sans" pitchFamily="34" charset="0"/>
                <a:ea typeface="Noto Sans" pitchFamily="34" charset="-122"/>
                <a:cs typeface="Noto Sans" pitchFamily="34" charset="-120"/>
              </a:rPr>
              <a:t>q</a:t>
            </a:r>
            <a:endParaRPr lang="en-US" sz="1300" dirty="0"/>
          </a:p>
        </p:txBody>
      </p:sp>
      <p:sp>
        <p:nvSpPr>
          <p:cNvPr id="24" name="Text 21"/>
          <p:cNvSpPr/>
          <p:nvPr/>
        </p:nvSpPr>
        <p:spPr>
          <a:xfrm>
            <a:off x="6877050" y="4081779"/>
            <a:ext cx="74930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C0504D"/>
                </a:solidFill>
                <a:latin typeface="Noto Sans" pitchFamily="34" charset="0"/>
                <a:ea typeface="Noto Sans" pitchFamily="34" charset="-122"/>
                <a:cs typeface="Noto Sans" pitchFamily="34" charset="-120"/>
              </a:rPr>
              <a:t>−C</a:t>
            </a:r>
            <a:r>
              <a:rPr lang="en-US" sz="1300" b="1" dirty="0">
                <a:solidFill>
                  <a:srgbClr val="1D5F9E"/>
                </a:solidFill>
                <a:latin typeface="Noto Sans" pitchFamily="34" charset="0"/>
                <a:ea typeface="Noto Sans" pitchFamily="34" charset="-122"/>
                <a:cs typeface="Noto Sans" pitchFamily="34" charset="-120"/>
              </a:rPr>
              <a:t>l</a:t>
            </a:r>
            <a:endParaRPr lang="en-US" sz="1300" dirty="0"/>
          </a:p>
        </p:txBody>
      </p:sp>
      <p:sp>
        <p:nvSpPr>
          <p:cNvPr id="25" name="Text 22"/>
          <p:cNvSpPr/>
          <p:nvPr/>
        </p:nvSpPr>
        <p:spPr>
          <a:xfrm>
            <a:off x="812800" y="4856479"/>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Teskari aloqalar: oqishlar (−k</a:t>
            </a:r>
            <a:r>
              <a:rPr lang="en-US" sz="1300" dirty="0">
                <a:solidFill>
                  <a:srgbClr val="1D5F9E"/>
                </a:solidFill>
                <a:latin typeface="Noto Sans" pitchFamily="34" charset="0"/>
                <a:ea typeface="Noto Sans" pitchFamily="34" charset="-122"/>
                <a:cs typeface="Noto Sans" pitchFamily="34" charset="-120"/>
              </a:rPr>
              <a:t>l</a:t>
            </a:r>
            <a:r>
              <a:rPr lang="en-US" sz="1300" dirty="0">
                <a:solidFill>
                  <a:srgbClr val="56616D"/>
                </a:solidFill>
                <a:latin typeface="Noto Sans" pitchFamily="34" charset="0"/>
                <a:ea typeface="Noto Sans" pitchFamily="34" charset="-122"/>
                <a:cs typeface="Noto Sans" pitchFamily="34" charset="-120"/>
              </a:rPr>
              <a:t>), servotaqsimlagich (−1/k</a:t>
            </a:r>
            <a:r>
              <a:rPr lang="en-US" sz="1300" dirty="0">
                <a:solidFill>
                  <a:srgbClr val="1D5F9E"/>
                </a:solidFill>
                <a:latin typeface="Noto Sans" pitchFamily="34" charset="0"/>
                <a:ea typeface="Noto Sans" pitchFamily="34" charset="-122"/>
                <a:cs typeface="Noto Sans" pitchFamily="34" charset="-120"/>
              </a:rPr>
              <a:t>x</a:t>
            </a:r>
            <a:r>
              <a:rPr lang="en-US" sz="1300" dirty="0">
                <a:solidFill>
                  <a:srgbClr val="56616D"/>
                </a:solidFill>
                <a:latin typeface="Noto Sans" pitchFamily="34" charset="0"/>
                <a:ea typeface="Noto Sans" pitchFamily="34" charset="-122"/>
                <a:cs typeface="Noto Sans" pitchFamily="34" charset="-120"/>
              </a:rPr>
              <a:t>), motor sarfi (−k</a:t>
            </a:r>
            <a:r>
              <a:rPr lang="en-US" sz="1300" dirty="0">
                <a:solidFill>
                  <a:srgbClr val="1D5F9E"/>
                </a:solidFill>
                <a:latin typeface="Noto Sans" pitchFamily="34" charset="0"/>
                <a:ea typeface="Noto Sans" pitchFamily="34" charset="-122"/>
                <a:cs typeface="Noto Sans" pitchFamily="34" charset="-120"/>
              </a:rPr>
              <a:t>q</a:t>
            </a:r>
            <a:r>
              <a:rPr lang="en-US" sz="1300" dirty="0">
                <a:solidFill>
                  <a:srgbClr val="56616D"/>
                </a:solidFill>
                <a:latin typeface="Noto Sans" pitchFamily="34" charset="0"/>
                <a:ea typeface="Noto Sans" pitchFamily="34" charset="-122"/>
                <a:cs typeface="Noto Sans" pitchFamily="34" charset="-120"/>
              </a:rPr>
              <a:t>); C</a:t>
            </a:r>
            <a:r>
              <a:rPr lang="en-US" sz="1300" dirty="0">
                <a:solidFill>
                  <a:srgbClr val="1D5F9E"/>
                </a:solidFill>
                <a:latin typeface="Noto Sans" pitchFamily="34" charset="0"/>
                <a:ea typeface="Noto Sans" pitchFamily="34" charset="-122"/>
                <a:cs typeface="Noto Sans" pitchFamily="34" charset="-120"/>
              </a:rPr>
              <a:t>l</a:t>
            </a:r>
            <a:r>
              <a:rPr lang="en-US" sz="1300" dirty="0">
                <a:solidFill>
                  <a:srgbClr val="56616D"/>
                </a:solidFill>
                <a:latin typeface="Noto Sans" pitchFamily="34" charset="0"/>
                <a:ea typeface="Noto Sans" pitchFamily="34" charset="-122"/>
                <a:cs typeface="Noto Sans" pitchFamily="34" charset="-120"/>
              </a:rPr>
              <a:t> — tashqi yuklama momenti.</a:t>
            </a:r>
            <a:endParaRPr lang="en-US" sz="1300" dirty="0"/>
          </a:p>
        </p:txBody>
      </p:sp>
      <p:sp>
        <p:nvSpPr>
          <p:cNvPr id="26" name="Text 23"/>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7" name="Text 24"/>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3C"/>
                </a:solidFill>
                <a:latin typeface="Noto Sans" pitchFamily="34" charset="0"/>
                <a:ea typeface="Noto Sans" pitchFamily="34" charset="-122"/>
                <a:cs typeface="Noto Sans" pitchFamily="34" charset="-120"/>
              </a:rPr>
              <a:t>AMALIY MISOL</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F1EEE6"/>
                </a:solidFill>
                <a:latin typeface="Noto Sans" pitchFamily="34" charset="0"/>
                <a:ea typeface="Noto Sans" pitchFamily="34" charset="-122"/>
                <a:cs typeface="Noto Sans" pitchFamily="34" charset="-120"/>
              </a:rPr>
              <a:t>Masala sharti</a:t>
            </a:r>
            <a:endParaRPr lang="en-US" sz="3000" dirty="0"/>
          </a:p>
        </p:txBody>
      </p:sp>
      <p:sp>
        <p:nvSpPr>
          <p:cNvPr id="4" name="Text 2"/>
          <p:cNvSpPr/>
          <p:nvPr/>
        </p:nvSpPr>
        <p:spPr>
          <a:xfrm>
            <a:off x="812800" y="175767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EE6"/>
                </a:solidFill>
                <a:latin typeface="Noto Sans" pitchFamily="34" charset="0"/>
                <a:ea typeface="Noto Sans" pitchFamily="34" charset="-122"/>
                <a:cs typeface="Noto Sans" pitchFamily="34" charset="-120"/>
              </a:rPr>
              <a:t>Sanoat roboti ogʻir detalni vertikal koʻtaradi. Gidrosilindr va gidravlik manbani hisoblash talab etiladi.</a:t>
            </a:r>
            <a:endParaRPr lang="en-US" sz="1500" dirty="0"/>
          </a:p>
        </p:txBody>
      </p:sp>
      <p:sp>
        <p:nvSpPr>
          <p:cNvPr id="5" name="Shape 3"/>
          <p:cNvSpPr/>
          <p:nvPr/>
        </p:nvSpPr>
        <p:spPr>
          <a:xfrm>
            <a:off x="812800" y="2252979"/>
            <a:ext cx="2546350" cy="850900"/>
          </a:xfrm>
          <a:prstGeom prst="roundRect">
            <a:avLst>
              <a:gd name="adj" fmla="val 10448"/>
            </a:avLst>
          </a:prstGeom>
          <a:solidFill>
            <a:srgbClr val="1E3147"/>
          </a:solidFill>
          <a:ln/>
        </p:spPr>
      </p:sp>
      <p:sp>
        <p:nvSpPr>
          <p:cNvPr id="6" name="Text 4"/>
          <p:cNvSpPr/>
          <p:nvPr/>
        </p:nvSpPr>
        <p:spPr>
          <a:xfrm>
            <a:off x="977900" y="23926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M = 2500 kg</a:t>
            </a:r>
            <a:endParaRPr lang="en-US" sz="1800" dirty="0"/>
          </a:p>
        </p:txBody>
      </p:sp>
      <p:sp>
        <p:nvSpPr>
          <p:cNvPr id="7" name="Text 5"/>
          <p:cNvSpPr/>
          <p:nvPr/>
        </p:nvSpPr>
        <p:spPr>
          <a:xfrm>
            <a:off x="977900" y="27508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yuk massasi</a:t>
            </a:r>
            <a:endParaRPr lang="en-US" sz="1200" dirty="0"/>
          </a:p>
        </p:txBody>
      </p:sp>
      <p:sp>
        <p:nvSpPr>
          <p:cNvPr id="8" name="Shape 6"/>
          <p:cNvSpPr/>
          <p:nvPr/>
        </p:nvSpPr>
        <p:spPr>
          <a:xfrm>
            <a:off x="3486150" y="2252979"/>
            <a:ext cx="2546350" cy="850900"/>
          </a:xfrm>
          <a:prstGeom prst="roundRect">
            <a:avLst>
              <a:gd name="adj" fmla="val 10448"/>
            </a:avLst>
          </a:prstGeom>
          <a:solidFill>
            <a:srgbClr val="1E3147"/>
          </a:solidFill>
          <a:ln/>
        </p:spPr>
      </p:sp>
      <p:sp>
        <p:nvSpPr>
          <p:cNvPr id="9" name="Text 7"/>
          <p:cNvSpPr/>
          <p:nvPr/>
        </p:nvSpPr>
        <p:spPr>
          <a:xfrm>
            <a:off x="3651250" y="23926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S = 0,5 m</a:t>
            </a:r>
            <a:endParaRPr lang="en-US" sz="1800" dirty="0"/>
          </a:p>
        </p:txBody>
      </p:sp>
      <p:sp>
        <p:nvSpPr>
          <p:cNvPr id="10" name="Text 8"/>
          <p:cNvSpPr/>
          <p:nvPr/>
        </p:nvSpPr>
        <p:spPr>
          <a:xfrm>
            <a:off x="3651250" y="27508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koʻchish masofasi</a:t>
            </a:r>
            <a:endParaRPr lang="en-US" sz="1200" dirty="0"/>
          </a:p>
        </p:txBody>
      </p:sp>
      <p:sp>
        <p:nvSpPr>
          <p:cNvPr id="11" name="Shape 9"/>
          <p:cNvSpPr/>
          <p:nvPr/>
        </p:nvSpPr>
        <p:spPr>
          <a:xfrm>
            <a:off x="6159500" y="2252979"/>
            <a:ext cx="2546350" cy="850900"/>
          </a:xfrm>
          <a:prstGeom prst="roundRect">
            <a:avLst>
              <a:gd name="adj" fmla="val 10448"/>
            </a:avLst>
          </a:prstGeom>
          <a:solidFill>
            <a:srgbClr val="1E3147"/>
          </a:solidFill>
          <a:ln/>
        </p:spPr>
      </p:sp>
      <p:sp>
        <p:nvSpPr>
          <p:cNvPr id="12" name="Text 10"/>
          <p:cNvSpPr/>
          <p:nvPr/>
        </p:nvSpPr>
        <p:spPr>
          <a:xfrm>
            <a:off x="6324600" y="23926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t = 2,5 s</a:t>
            </a:r>
            <a:endParaRPr lang="en-US" sz="1800" dirty="0"/>
          </a:p>
        </p:txBody>
      </p:sp>
      <p:sp>
        <p:nvSpPr>
          <p:cNvPr id="13" name="Text 11"/>
          <p:cNvSpPr/>
          <p:nvPr/>
        </p:nvSpPr>
        <p:spPr>
          <a:xfrm>
            <a:off x="6324600" y="27508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koʻtarish vaqti</a:t>
            </a:r>
            <a:endParaRPr lang="en-US" sz="1200" dirty="0"/>
          </a:p>
        </p:txBody>
      </p:sp>
      <p:sp>
        <p:nvSpPr>
          <p:cNvPr id="14" name="Shape 12"/>
          <p:cNvSpPr/>
          <p:nvPr/>
        </p:nvSpPr>
        <p:spPr>
          <a:xfrm>
            <a:off x="8832850" y="2252979"/>
            <a:ext cx="2546350" cy="850900"/>
          </a:xfrm>
          <a:prstGeom prst="roundRect">
            <a:avLst>
              <a:gd name="adj" fmla="val 10448"/>
            </a:avLst>
          </a:prstGeom>
          <a:solidFill>
            <a:srgbClr val="1E3147"/>
          </a:solidFill>
          <a:ln/>
        </p:spPr>
      </p:sp>
      <p:sp>
        <p:nvSpPr>
          <p:cNvPr id="15" name="Text 13"/>
          <p:cNvSpPr/>
          <p:nvPr/>
        </p:nvSpPr>
        <p:spPr>
          <a:xfrm>
            <a:off x="8997950" y="23926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V = 0,2 m/s</a:t>
            </a:r>
            <a:endParaRPr lang="en-US" sz="1800" dirty="0"/>
          </a:p>
        </p:txBody>
      </p:sp>
      <p:sp>
        <p:nvSpPr>
          <p:cNvPr id="16" name="Text 14"/>
          <p:cNvSpPr/>
          <p:nvPr/>
        </p:nvSpPr>
        <p:spPr>
          <a:xfrm>
            <a:off x="8997950" y="27508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harakat tezligi</a:t>
            </a:r>
            <a:endParaRPr lang="en-US" sz="1200" dirty="0"/>
          </a:p>
        </p:txBody>
      </p:sp>
      <p:sp>
        <p:nvSpPr>
          <p:cNvPr id="17" name="Shape 15"/>
          <p:cNvSpPr/>
          <p:nvPr/>
        </p:nvSpPr>
        <p:spPr>
          <a:xfrm>
            <a:off x="812800" y="3230879"/>
            <a:ext cx="2546350" cy="1170940"/>
          </a:xfrm>
          <a:prstGeom prst="roundRect">
            <a:avLst>
              <a:gd name="adj" fmla="val 7592"/>
            </a:avLst>
          </a:prstGeom>
          <a:solidFill>
            <a:srgbClr val="1E3147"/>
          </a:solidFill>
          <a:ln/>
        </p:spPr>
      </p:sp>
      <p:sp>
        <p:nvSpPr>
          <p:cNvPr id="18" name="Text 16"/>
          <p:cNvSpPr/>
          <p:nvPr/>
        </p:nvSpPr>
        <p:spPr>
          <a:xfrm>
            <a:off x="977900" y="33705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P = 150 bar</a:t>
            </a:r>
            <a:endParaRPr lang="en-US" sz="1800" dirty="0"/>
          </a:p>
        </p:txBody>
      </p:sp>
      <p:sp>
        <p:nvSpPr>
          <p:cNvPr id="19" name="Text 17"/>
          <p:cNvSpPr/>
          <p:nvPr/>
        </p:nvSpPr>
        <p:spPr>
          <a:xfrm>
            <a:off x="977900" y="37287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ishchi bosim</a:t>
            </a:r>
            <a:endParaRPr lang="en-US" sz="1200" dirty="0"/>
          </a:p>
        </p:txBody>
      </p:sp>
      <p:sp>
        <p:nvSpPr>
          <p:cNvPr id="20" name="Shape 18"/>
          <p:cNvSpPr/>
          <p:nvPr/>
        </p:nvSpPr>
        <p:spPr>
          <a:xfrm>
            <a:off x="3486150" y="3230879"/>
            <a:ext cx="2546350" cy="1170940"/>
          </a:xfrm>
          <a:prstGeom prst="roundRect">
            <a:avLst>
              <a:gd name="adj" fmla="val 7592"/>
            </a:avLst>
          </a:prstGeom>
          <a:solidFill>
            <a:srgbClr val="1E3147"/>
          </a:solidFill>
          <a:ln/>
        </p:spPr>
      </p:sp>
      <p:sp>
        <p:nvSpPr>
          <p:cNvPr id="21" name="Text 19"/>
          <p:cNvSpPr/>
          <p:nvPr/>
        </p:nvSpPr>
        <p:spPr>
          <a:xfrm>
            <a:off x="3651250" y="33705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P₂ = 10 bar</a:t>
            </a:r>
            <a:endParaRPr lang="en-US" sz="1800" dirty="0"/>
          </a:p>
        </p:txBody>
      </p:sp>
      <p:sp>
        <p:nvSpPr>
          <p:cNvPr id="22" name="Text 20"/>
          <p:cNvSpPr/>
          <p:nvPr/>
        </p:nvSpPr>
        <p:spPr>
          <a:xfrm>
            <a:off x="3651250" y="37287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aks bosim</a:t>
            </a:r>
            <a:endParaRPr lang="en-US" sz="1200" dirty="0"/>
          </a:p>
        </p:txBody>
      </p:sp>
      <p:sp>
        <p:nvSpPr>
          <p:cNvPr id="23" name="Shape 21"/>
          <p:cNvSpPr/>
          <p:nvPr/>
        </p:nvSpPr>
        <p:spPr>
          <a:xfrm>
            <a:off x="6159500" y="3230879"/>
            <a:ext cx="2546350" cy="1170940"/>
          </a:xfrm>
          <a:prstGeom prst="roundRect">
            <a:avLst>
              <a:gd name="adj" fmla="val 7592"/>
            </a:avLst>
          </a:prstGeom>
          <a:solidFill>
            <a:srgbClr val="1E3147"/>
          </a:solidFill>
          <a:ln/>
        </p:spPr>
      </p:sp>
      <p:sp>
        <p:nvSpPr>
          <p:cNvPr id="24" name="Text 22"/>
          <p:cNvSpPr/>
          <p:nvPr/>
        </p:nvSpPr>
        <p:spPr>
          <a:xfrm>
            <a:off x="6324600" y="3370579"/>
            <a:ext cx="2282635" cy="6654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ηm = 0,90 · ηv = 0,92</a:t>
            </a:r>
            <a:endParaRPr lang="en-US" sz="1800" dirty="0"/>
          </a:p>
        </p:txBody>
      </p:sp>
      <p:sp>
        <p:nvSpPr>
          <p:cNvPr id="25" name="Text 23"/>
          <p:cNvSpPr/>
          <p:nvPr/>
        </p:nvSpPr>
        <p:spPr>
          <a:xfrm>
            <a:off x="6324600" y="4048758"/>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mexanik va hajmiy FIK</a:t>
            </a:r>
            <a:endParaRPr lang="en-US" sz="1200" dirty="0"/>
          </a:p>
        </p:txBody>
      </p:sp>
      <p:sp>
        <p:nvSpPr>
          <p:cNvPr id="26" name="Shape 24"/>
          <p:cNvSpPr/>
          <p:nvPr/>
        </p:nvSpPr>
        <p:spPr>
          <a:xfrm>
            <a:off x="8832850" y="3230879"/>
            <a:ext cx="2546350" cy="1170940"/>
          </a:xfrm>
          <a:prstGeom prst="roundRect">
            <a:avLst>
              <a:gd name="adj" fmla="val 7592"/>
            </a:avLst>
          </a:prstGeom>
          <a:solidFill>
            <a:srgbClr val="1E3147"/>
          </a:solidFill>
          <a:ln/>
        </p:spPr>
      </p:sp>
      <p:sp>
        <p:nvSpPr>
          <p:cNvPr id="27" name="Text 25"/>
          <p:cNvSpPr/>
          <p:nvPr/>
        </p:nvSpPr>
        <p:spPr>
          <a:xfrm>
            <a:off x="8997950" y="3370579"/>
            <a:ext cx="2282635"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1EEE6"/>
                </a:solidFill>
                <a:latin typeface="Noto Sans" pitchFamily="34" charset="0"/>
                <a:ea typeface="Noto Sans" pitchFamily="34" charset="-122"/>
                <a:cs typeface="Noto Sans" pitchFamily="34" charset="-120"/>
              </a:rPr>
              <a:t>ηtot = 0,82</a:t>
            </a:r>
            <a:endParaRPr lang="en-US" sz="1800" dirty="0"/>
          </a:p>
        </p:txBody>
      </p:sp>
      <p:sp>
        <p:nvSpPr>
          <p:cNvPr id="28" name="Text 26"/>
          <p:cNvSpPr/>
          <p:nvPr/>
        </p:nvSpPr>
        <p:spPr>
          <a:xfrm>
            <a:off x="8997950" y="3728721"/>
            <a:ext cx="22826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8"/>
                </a:solidFill>
                <a:latin typeface="Noto Sans" pitchFamily="34" charset="0"/>
                <a:ea typeface="Noto Sans" pitchFamily="34" charset="-122"/>
                <a:cs typeface="Noto Sans" pitchFamily="34" charset="-120"/>
              </a:rPr>
              <a:t>tizim FIK</a:t>
            </a:r>
            <a:endParaRPr lang="en-US" sz="1200" dirty="0"/>
          </a:p>
        </p:txBody>
      </p:sp>
      <p:sp>
        <p:nvSpPr>
          <p:cNvPr id="29" name="Text 27"/>
          <p:cNvSpPr/>
          <p:nvPr/>
        </p:nvSpPr>
        <p:spPr>
          <a:xfrm>
            <a:off x="812800" y="46304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8A3C"/>
                </a:solidFill>
                <a:latin typeface="Noto Sans" pitchFamily="34" charset="0"/>
                <a:ea typeface="Noto Sans" pitchFamily="34" charset="-122"/>
                <a:cs typeface="Noto Sans" pitchFamily="34" charset="-120"/>
              </a:rPr>
              <a:t>Topish kerak: D, d, Q, Qnasos, Vq, Pel</a:t>
            </a:r>
            <a:endParaRPr lang="en-US" sz="1500" dirty="0"/>
          </a:p>
        </p:txBody>
      </p:sp>
      <p:sp>
        <p:nvSpPr>
          <p:cNvPr id="30" name="Text 28"/>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2"/>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31" name="Text 29"/>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2"/>
                </a:solidFill>
                <a:latin typeface="Noto Sans" pitchFamily="34" charset="0"/>
                <a:ea typeface="Noto Sans" pitchFamily="34" charset="-122"/>
                <a:cs typeface="Noto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AMALIY MISOL</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1-bosqich: koʻtarish kuchi</a:t>
            </a:r>
            <a:endParaRPr lang="en-US" sz="3000" dirty="0"/>
          </a:p>
        </p:txBody>
      </p:sp>
      <p:sp>
        <p:nvSpPr>
          <p:cNvPr id="4" name="Shape 2"/>
          <p:cNvSpPr/>
          <p:nvPr/>
        </p:nvSpPr>
        <p:spPr>
          <a:xfrm>
            <a:off x="815975" y="1735454"/>
            <a:ext cx="10560050" cy="2218690"/>
          </a:xfrm>
          <a:prstGeom prst="roundRect">
            <a:avLst>
              <a:gd name="adj" fmla="val 3864"/>
            </a:avLst>
          </a:prstGeom>
          <a:solidFill>
            <a:srgbClr val="FBFAF7"/>
          </a:solidFill>
          <a:ln w="6350">
            <a:solidFill>
              <a:srgbClr val="DCD7CB"/>
            </a:solidFill>
            <a:prstDash val="solid"/>
          </a:ln>
        </p:spPr>
      </p:sp>
      <p:sp>
        <p:nvSpPr>
          <p:cNvPr id="5" name="Text 3"/>
          <p:cNvSpPr/>
          <p:nvPr/>
        </p:nvSpPr>
        <p:spPr>
          <a:xfrm>
            <a:off x="1059180" y="1925321"/>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Ogʻirlik kuchi</a:t>
            </a:r>
            <a:endParaRPr lang="en-US" sz="1300" dirty="0"/>
          </a:p>
        </p:txBody>
      </p:sp>
      <p:sp>
        <p:nvSpPr>
          <p:cNvPr id="6" name="Text 4"/>
          <p:cNvSpPr/>
          <p:nvPr/>
        </p:nvSpPr>
        <p:spPr>
          <a:xfrm>
            <a:off x="3078480" y="1907542"/>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F</a:t>
            </a:r>
            <a:r>
              <a:rPr lang="en-US" sz="1500" dirty="0">
                <a:solidFill>
                  <a:srgbClr val="1D5F9E"/>
                </a:solidFill>
                <a:latin typeface="Noto Sans" pitchFamily="34" charset="0"/>
                <a:ea typeface="Noto Sans" pitchFamily="34" charset="-122"/>
                <a:cs typeface="Noto Sans" pitchFamily="34" charset="-120"/>
              </a:rPr>
              <a:t>og</a:t>
            </a:r>
            <a:r>
              <a:rPr lang="en-US" sz="1500" dirty="0">
                <a:solidFill>
                  <a:srgbClr val="17212B"/>
                </a:solidFill>
                <a:latin typeface="Noto Sans" pitchFamily="34" charset="0"/>
                <a:ea typeface="Noto Sans" pitchFamily="34" charset="-122"/>
                <a:cs typeface="Noto Sans" pitchFamily="34" charset="-120"/>
              </a:rPr>
              <a:t> = M·g = 2500·9,81</a:t>
            </a:r>
            <a:endParaRPr lang="en-US" sz="1500" dirty="0"/>
          </a:p>
        </p:txBody>
      </p:sp>
      <p:sp>
        <p:nvSpPr>
          <p:cNvPr id="7" name="Text 5"/>
          <p:cNvSpPr/>
          <p:nvPr/>
        </p:nvSpPr>
        <p:spPr>
          <a:xfrm>
            <a:off x="8974455" y="1889758"/>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24 525 N</a:t>
            </a:r>
            <a:endParaRPr lang="en-US" sz="1700" dirty="0"/>
          </a:p>
        </p:txBody>
      </p:sp>
      <p:sp>
        <p:nvSpPr>
          <p:cNvPr id="8" name="Shape 6"/>
          <p:cNvSpPr/>
          <p:nvPr/>
        </p:nvSpPr>
        <p:spPr>
          <a:xfrm>
            <a:off x="1008380" y="2309496"/>
            <a:ext cx="10175240" cy="0"/>
          </a:xfrm>
          <a:prstGeom prst="line">
            <a:avLst/>
          </a:prstGeom>
          <a:noFill/>
          <a:ln w="6350">
            <a:solidFill>
              <a:srgbClr val="DCD7CB"/>
            </a:solidFill>
            <a:prstDash val="solid"/>
          </a:ln>
        </p:spPr>
      </p:sp>
      <p:sp>
        <p:nvSpPr>
          <p:cNvPr id="9" name="Text 7"/>
          <p:cNvSpPr/>
          <p:nvPr/>
        </p:nvSpPr>
        <p:spPr>
          <a:xfrm>
            <a:off x="1059180" y="2461258"/>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Dinamik kuch</a:t>
            </a:r>
            <a:endParaRPr lang="en-US" sz="1300" dirty="0"/>
          </a:p>
        </p:txBody>
      </p:sp>
      <p:sp>
        <p:nvSpPr>
          <p:cNvPr id="10" name="Text 8"/>
          <p:cNvSpPr/>
          <p:nvPr/>
        </p:nvSpPr>
        <p:spPr>
          <a:xfrm>
            <a:off x="3078480" y="2443479"/>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F</a:t>
            </a:r>
            <a:r>
              <a:rPr lang="en-US" sz="1500" dirty="0">
                <a:solidFill>
                  <a:srgbClr val="1D5F9E"/>
                </a:solidFill>
                <a:latin typeface="Noto Sans" pitchFamily="34" charset="0"/>
                <a:ea typeface="Noto Sans" pitchFamily="34" charset="-122"/>
                <a:cs typeface="Noto Sans" pitchFamily="34" charset="-120"/>
              </a:rPr>
              <a:t>din</a:t>
            </a:r>
            <a:r>
              <a:rPr lang="en-US" sz="1500" dirty="0">
                <a:solidFill>
                  <a:srgbClr val="17212B"/>
                </a:solidFill>
                <a:latin typeface="Noto Sans" pitchFamily="34" charset="0"/>
                <a:ea typeface="Noto Sans" pitchFamily="34" charset="-122"/>
                <a:cs typeface="Noto Sans" pitchFamily="34" charset="-120"/>
              </a:rPr>
              <a:t> = M·a = 2500·0,5</a:t>
            </a:r>
            <a:endParaRPr lang="en-US" sz="1500" dirty="0"/>
          </a:p>
        </p:txBody>
      </p:sp>
      <p:sp>
        <p:nvSpPr>
          <p:cNvPr id="11" name="Text 9"/>
          <p:cNvSpPr/>
          <p:nvPr/>
        </p:nvSpPr>
        <p:spPr>
          <a:xfrm>
            <a:off x="8974455" y="2425700"/>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1 250 N</a:t>
            </a:r>
            <a:endParaRPr lang="en-US" sz="1700" dirty="0"/>
          </a:p>
        </p:txBody>
      </p:sp>
      <p:sp>
        <p:nvSpPr>
          <p:cNvPr id="12" name="Shape 10"/>
          <p:cNvSpPr/>
          <p:nvPr/>
        </p:nvSpPr>
        <p:spPr>
          <a:xfrm>
            <a:off x="1008380" y="2845433"/>
            <a:ext cx="10175240" cy="0"/>
          </a:xfrm>
          <a:prstGeom prst="line">
            <a:avLst/>
          </a:prstGeom>
          <a:noFill/>
          <a:ln w="6350">
            <a:solidFill>
              <a:srgbClr val="DCD7CB"/>
            </a:solidFill>
            <a:prstDash val="solid"/>
          </a:ln>
        </p:spPr>
      </p:sp>
      <p:sp>
        <p:nvSpPr>
          <p:cNvPr id="13" name="Text 11"/>
          <p:cNvSpPr/>
          <p:nvPr/>
        </p:nvSpPr>
        <p:spPr>
          <a:xfrm>
            <a:off x="1059180" y="2997200"/>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Ishqalanish</a:t>
            </a:r>
            <a:endParaRPr lang="en-US" sz="1300" dirty="0"/>
          </a:p>
        </p:txBody>
      </p:sp>
      <p:sp>
        <p:nvSpPr>
          <p:cNvPr id="14" name="Text 12"/>
          <p:cNvSpPr/>
          <p:nvPr/>
        </p:nvSpPr>
        <p:spPr>
          <a:xfrm>
            <a:off x="3078480" y="2979421"/>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f</a:t>
            </a:r>
            <a:r>
              <a:rPr lang="en-US" sz="1500" dirty="0">
                <a:solidFill>
                  <a:srgbClr val="1D5F9E"/>
                </a:solidFill>
                <a:latin typeface="Noto Sans" pitchFamily="34" charset="0"/>
                <a:ea typeface="Noto Sans" pitchFamily="34" charset="-122"/>
                <a:cs typeface="Noto Sans" pitchFamily="34" charset="-120"/>
              </a:rPr>
              <a:t>ishq</a:t>
            </a:r>
            <a:r>
              <a:rPr lang="en-US" sz="1500" dirty="0">
                <a:solidFill>
                  <a:srgbClr val="17212B"/>
                </a:solidFill>
                <a:latin typeface="Noto Sans" pitchFamily="34" charset="0"/>
                <a:ea typeface="Noto Sans" pitchFamily="34" charset="-122"/>
                <a:cs typeface="Noto Sans" pitchFamily="34" charset="-120"/>
              </a:rPr>
              <a:t> = 0,08·F</a:t>
            </a:r>
            <a:r>
              <a:rPr lang="en-US" sz="1500" dirty="0">
                <a:solidFill>
                  <a:srgbClr val="1D5F9E"/>
                </a:solidFill>
                <a:latin typeface="Noto Sans" pitchFamily="34" charset="0"/>
                <a:ea typeface="Noto Sans" pitchFamily="34" charset="-122"/>
                <a:cs typeface="Noto Sans" pitchFamily="34" charset="-120"/>
              </a:rPr>
              <a:t>og</a:t>
            </a:r>
            <a:r>
              <a:rPr lang="en-US" sz="1500" dirty="0">
                <a:solidFill>
                  <a:srgbClr val="17212B"/>
                </a:solidFill>
                <a:latin typeface="Noto Sans" pitchFamily="34" charset="0"/>
                <a:ea typeface="Noto Sans" pitchFamily="34" charset="-122"/>
                <a:cs typeface="Noto Sans" pitchFamily="34" charset="-120"/>
              </a:rPr>
              <a:t> = 0,08·24 525</a:t>
            </a:r>
            <a:endParaRPr lang="en-US" sz="1500" dirty="0"/>
          </a:p>
        </p:txBody>
      </p:sp>
      <p:sp>
        <p:nvSpPr>
          <p:cNvPr id="15" name="Text 13"/>
          <p:cNvSpPr/>
          <p:nvPr/>
        </p:nvSpPr>
        <p:spPr>
          <a:xfrm>
            <a:off x="8974455" y="2961642"/>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1 962 N</a:t>
            </a:r>
            <a:endParaRPr lang="en-US" sz="1700" dirty="0"/>
          </a:p>
        </p:txBody>
      </p:sp>
      <p:sp>
        <p:nvSpPr>
          <p:cNvPr id="16" name="Shape 14"/>
          <p:cNvSpPr/>
          <p:nvPr/>
        </p:nvSpPr>
        <p:spPr>
          <a:xfrm>
            <a:off x="1008380" y="3381375"/>
            <a:ext cx="10175240" cy="0"/>
          </a:xfrm>
          <a:prstGeom prst="line">
            <a:avLst/>
          </a:prstGeom>
          <a:noFill/>
          <a:ln w="6350">
            <a:solidFill>
              <a:srgbClr val="DCD7CB"/>
            </a:solidFill>
            <a:prstDash val="solid"/>
          </a:ln>
        </p:spPr>
      </p:sp>
      <p:sp>
        <p:nvSpPr>
          <p:cNvPr id="17" name="Text 15"/>
          <p:cNvSpPr/>
          <p:nvPr/>
        </p:nvSpPr>
        <p:spPr>
          <a:xfrm>
            <a:off x="1059180" y="3533142"/>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Talab etilgan kuch</a:t>
            </a:r>
            <a:endParaRPr lang="en-US" sz="1300" dirty="0"/>
          </a:p>
        </p:txBody>
      </p:sp>
      <p:sp>
        <p:nvSpPr>
          <p:cNvPr id="18" name="Text 16"/>
          <p:cNvSpPr/>
          <p:nvPr/>
        </p:nvSpPr>
        <p:spPr>
          <a:xfrm>
            <a:off x="3078480" y="3515358"/>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F</a:t>
            </a:r>
            <a:r>
              <a:rPr lang="en-US" sz="1500" dirty="0">
                <a:solidFill>
                  <a:srgbClr val="1D5F9E"/>
                </a:solidFill>
                <a:latin typeface="Noto Sans" pitchFamily="34" charset="0"/>
                <a:ea typeface="Noto Sans" pitchFamily="34" charset="-122"/>
                <a:cs typeface="Noto Sans" pitchFamily="34" charset="-120"/>
              </a:rPr>
              <a:t>talab</a:t>
            </a:r>
            <a:r>
              <a:rPr lang="en-US" sz="1500" dirty="0">
                <a:solidFill>
                  <a:srgbClr val="17212B"/>
                </a:solidFill>
                <a:latin typeface="Noto Sans" pitchFamily="34" charset="0"/>
                <a:ea typeface="Noto Sans" pitchFamily="34" charset="-122"/>
                <a:cs typeface="Noto Sans" pitchFamily="34" charset="-120"/>
              </a:rPr>
              <a:t> = 24 525 + 1 250 + 1 962</a:t>
            </a:r>
            <a:endParaRPr lang="en-US" sz="1500" dirty="0"/>
          </a:p>
        </p:txBody>
      </p:sp>
      <p:sp>
        <p:nvSpPr>
          <p:cNvPr id="19" name="Text 17"/>
          <p:cNvSpPr/>
          <p:nvPr/>
        </p:nvSpPr>
        <p:spPr>
          <a:xfrm>
            <a:off x="8974455" y="3497579"/>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27 737 N</a:t>
            </a:r>
            <a:endParaRPr lang="en-US" sz="1700" dirty="0"/>
          </a:p>
        </p:txBody>
      </p:sp>
      <p:sp>
        <p:nvSpPr>
          <p:cNvPr id="20" name="Text 18"/>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1" name="Text 19"/>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AMALIY MISOL</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2-bosqich: porshen va shtok diametri</a:t>
            </a:r>
            <a:endParaRPr lang="en-US" sz="3000" dirty="0"/>
          </a:p>
        </p:txBody>
      </p:sp>
      <p:sp>
        <p:nvSpPr>
          <p:cNvPr id="4" name="Shape 2"/>
          <p:cNvSpPr/>
          <p:nvPr/>
        </p:nvSpPr>
        <p:spPr>
          <a:xfrm>
            <a:off x="815975" y="1684654"/>
            <a:ext cx="10560050" cy="2754630"/>
          </a:xfrm>
          <a:prstGeom prst="roundRect">
            <a:avLst>
              <a:gd name="adj" fmla="val 3112"/>
            </a:avLst>
          </a:prstGeom>
          <a:solidFill>
            <a:srgbClr val="FBFAF7"/>
          </a:solidFill>
          <a:ln w="6350">
            <a:solidFill>
              <a:srgbClr val="DCD7CB"/>
            </a:solidFill>
            <a:prstDash val="solid"/>
          </a:ln>
        </p:spPr>
      </p:sp>
      <p:sp>
        <p:nvSpPr>
          <p:cNvPr id="5" name="Text 3"/>
          <p:cNvSpPr/>
          <p:nvPr/>
        </p:nvSpPr>
        <p:spPr>
          <a:xfrm>
            <a:off x="1059180" y="1874521"/>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Porshen yuzasi</a:t>
            </a:r>
            <a:endParaRPr lang="en-US" sz="1300" dirty="0"/>
          </a:p>
        </p:txBody>
      </p:sp>
      <p:sp>
        <p:nvSpPr>
          <p:cNvPr id="6" name="Text 4"/>
          <p:cNvSpPr/>
          <p:nvPr/>
        </p:nvSpPr>
        <p:spPr>
          <a:xfrm>
            <a:off x="3078480" y="1856742"/>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A₁ = F</a:t>
            </a:r>
            <a:r>
              <a:rPr lang="en-US" sz="1500" dirty="0">
                <a:solidFill>
                  <a:srgbClr val="1D5F9E"/>
                </a:solidFill>
                <a:latin typeface="Noto Sans" pitchFamily="34" charset="0"/>
                <a:ea typeface="Noto Sans" pitchFamily="34" charset="-122"/>
                <a:cs typeface="Noto Sans" pitchFamily="34" charset="-120"/>
              </a:rPr>
              <a:t>talab</a:t>
            </a:r>
            <a:r>
              <a:rPr lang="en-US" sz="1500" dirty="0">
                <a:solidFill>
                  <a:srgbClr val="17212B"/>
                </a:solidFill>
                <a:latin typeface="Noto Sans" pitchFamily="34" charset="0"/>
                <a:ea typeface="Noto Sans" pitchFamily="34" charset="-122"/>
                <a:cs typeface="Noto Sans" pitchFamily="34" charset="-120"/>
              </a:rPr>
              <a:t>·K</a:t>
            </a:r>
            <a:r>
              <a:rPr lang="en-US" sz="1500" dirty="0">
                <a:solidFill>
                  <a:srgbClr val="1D5F9E"/>
                </a:solidFill>
                <a:latin typeface="Noto Sans" pitchFamily="34" charset="0"/>
                <a:ea typeface="Noto Sans" pitchFamily="34" charset="-122"/>
                <a:cs typeface="Noto Sans" pitchFamily="34" charset="-120"/>
              </a:rPr>
              <a:t>z</a:t>
            </a:r>
            <a:r>
              <a:rPr lang="en-US" sz="1500" dirty="0">
                <a:solidFill>
                  <a:srgbClr val="17212B"/>
                </a:solidFill>
                <a:latin typeface="Noto Sans" pitchFamily="34" charset="0"/>
                <a:ea typeface="Noto Sans" pitchFamily="34" charset="-122"/>
                <a:cs typeface="Noto Sans" pitchFamily="34" charset="-120"/>
              </a:rPr>
              <a:t> / (P</a:t>
            </a:r>
            <a:r>
              <a:rPr lang="en-US" sz="1500" dirty="0">
                <a:solidFill>
                  <a:srgbClr val="1D5F9E"/>
                </a:solidFill>
                <a:latin typeface="Noto Sans" pitchFamily="34" charset="0"/>
                <a:ea typeface="Noto Sans" pitchFamily="34" charset="-122"/>
                <a:cs typeface="Noto Sans" pitchFamily="34" charset="-120"/>
              </a:rPr>
              <a:t>w</a:t>
            </a:r>
            <a:r>
              <a:rPr lang="en-US" sz="1500" dirty="0">
                <a:solidFill>
                  <a:srgbClr val="17212B"/>
                </a:solidFill>
                <a:latin typeface="Noto Sans" pitchFamily="34" charset="0"/>
                <a:ea typeface="Noto Sans" pitchFamily="34" charset="-122"/>
                <a:cs typeface="Noto Sans" pitchFamily="34" charset="-120"/>
              </a:rPr>
              <a:t>·η</a:t>
            </a:r>
            <a:r>
              <a:rPr lang="en-US" sz="1500" dirty="0">
                <a:solidFill>
                  <a:srgbClr val="1D5F9E"/>
                </a:solidFill>
                <a:latin typeface="Noto Sans" pitchFamily="34" charset="0"/>
                <a:ea typeface="Noto Sans" pitchFamily="34" charset="-122"/>
                <a:cs typeface="Noto Sans" pitchFamily="34" charset="-120"/>
              </a:rPr>
              <a:t>m</a:t>
            </a:r>
            <a:r>
              <a:rPr lang="en-US" sz="1500" dirty="0">
                <a:solidFill>
                  <a:srgbClr val="17212B"/>
                </a:solidFill>
                <a:latin typeface="Noto Sans" pitchFamily="34" charset="0"/>
                <a:ea typeface="Noto Sans" pitchFamily="34" charset="-122"/>
                <a:cs typeface="Noto Sans" pitchFamily="34" charset="-120"/>
              </a:rPr>
              <a:t>) = 27 737·1,25 / (15·10⁶·0,9)</a:t>
            </a:r>
            <a:endParaRPr lang="en-US" sz="1500" dirty="0"/>
          </a:p>
        </p:txBody>
      </p:sp>
      <p:sp>
        <p:nvSpPr>
          <p:cNvPr id="7" name="Text 5"/>
          <p:cNvSpPr/>
          <p:nvPr/>
        </p:nvSpPr>
        <p:spPr>
          <a:xfrm>
            <a:off x="8974455" y="1838958"/>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25,68 cm²</a:t>
            </a:r>
            <a:endParaRPr lang="en-US" sz="1700" dirty="0"/>
          </a:p>
        </p:txBody>
      </p:sp>
      <p:sp>
        <p:nvSpPr>
          <p:cNvPr id="8" name="Shape 6"/>
          <p:cNvSpPr/>
          <p:nvPr/>
        </p:nvSpPr>
        <p:spPr>
          <a:xfrm>
            <a:off x="1008380" y="2258696"/>
            <a:ext cx="10175240" cy="0"/>
          </a:xfrm>
          <a:prstGeom prst="line">
            <a:avLst/>
          </a:prstGeom>
          <a:noFill/>
          <a:ln w="6350">
            <a:solidFill>
              <a:srgbClr val="DCD7CB"/>
            </a:solidFill>
            <a:prstDash val="solid"/>
          </a:ln>
        </p:spPr>
      </p:sp>
      <p:sp>
        <p:nvSpPr>
          <p:cNvPr id="9" name="Text 7"/>
          <p:cNvSpPr/>
          <p:nvPr/>
        </p:nvSpPr>
        <p:spPr>
          <a:xfrm>
            <a:off x="1059180" y="2410458"/>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Hisobiy diametr</a:t>
            </a:r>
            <a:endParaRPr lang="en-US" sz="1300" dirty="0"/>
          </a:p>
        </p:txBody>
      </p:sp>
      <p:sp>
        <p:nvSpPr>
          <p:cNvPr id="10" name="Text 8"/>
          <p:cNvSpPr/>
          <p:nvPr/>
        </p:nvSpPr>
        <p:spPr>
          <a:xfrm>
            <a:off x="3078480" y="2392679"/>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D = √(4·A₁ / π) = √(4·2,568·10⁻³ / π)</a:t>
            </a:r>
            <a:endParaRPr lang="en-US" sz="1500" dirty="0"/>
          </a:p>
        </p:txBody>
      </p:sp>
      <p:sp>
        <p:nvSpPr>
          <p:cNvPr id="11" name="Text 9"/>
          <p:cNvSpPr/>
          <p:nvPr/>
        </p:nvSpPr>
        <p:spPr>
          <a:xfrm>
            <a:off x="8974455" y="2374900"/>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57,18 mm</a:t>
            </a:r>
            <a:endParaRPr lang="en-US" sz="1700" dirty="0"/>
          </a:p>
        </p:txBody>
      </p:sp>
      <p:sp>
        <p:nvSpPr>
          <p:cNvPr id="12" name="Shape 10"/>
          <p:cNvSpPr/>
          <p:nvPr/>
        </p:nvSpPr>
        <p:spPr>
          <a:xfrm>
            <a:off x="1008380" y="2794633"/>
            <a:ext cx="10175240" cy="0"/>
          </a:xfrm>
          <a:prstGeom prst="line">
            <a:avLst/>
          </a:prstGeom>
          <a:noFill/>
          <a:ln w="6350">
            <a:solidFill>
              <a:srgbClr val="DCD7CB"/>
            </a:solidFill>
            <a:prstDash val="solid"/>
          </a:ln>
        </p:spPr>
      </p:sp>
      <p:sp>
        <p:nvSpPr>
          <p:cNvPr id="13" name="Text 11"/>
          <p:cNvSpPr/>
          <p:nvPr/>
        </p:nvSpPr>
        <p:spPr>
          <a:xfrm>
            <a:off x="1059180" y="2946400"/>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Standart yuza</a:t>
            </a:r>
            <a:endParaRPr lang="en-US" sz="1300" dirty="0"/>
          </a:p>
        </p:txBody>
      </p:sp>
      <p:sp>
        <p:nvSpPr>
          <p:cNvPr id="14" name="Text 12"/>
          <p:cNvSpPr/>
          <p:nvPr/>
        </p:nvSpPr>
        <p:spPr>
          <a:xfrm>
            <a:off x="3078480" y="2928621"/>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A₁ = π·0,063² / 4 (D = 63 mm)</a:t>
            </a:r>
            <a:endParaRPr lang="en-US" sz="1500" dirty="0"/>
          </a:p>
        </p:txBody>
      </p:sp>
      <p:sp>
        <p:nvSpPr>
          <p:cNvPr id="15" name="Text 13"/>
          <p:cNvSpPr/>
          <p:nvPr/>
        </p:nvSpPr>
        <p:spPr>
          <a:xfrm>
            <a:off x="8974455" y="2910842"/>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31,17 cm²</a:t>
            </a:r>
            <a:endParaRPr lang="en-US" sz="1700" dirty="0"/>
          </a:p>
        </p:txBody>
      </p:sp>
      <p:sp>
        <p:nvSpPr>
          <p:cNvPr id="16" name="Shape 14"/>
          <p:cNvSpPr/>
          <p:nvPr/>
        </p:nvSpPr>
        <p:spPr>
          <a:xfrm>
            <a:off x="1008380" y="3330575"/>
            <a:ext cx="10175240" cy="0"/>
          </a:xfrm>
          <a:prstGeom prst="line">
            <a:avLst/>
          </a:prstGeom>
          <a:noFill/>
          <a:ln w="6350">
            <a:solidFill>
              <a:srgbClr val="DCD7CB"/>
            </a:solidFill>
            <a:prstDash val="solid"/>
          </a:ln>
        </p:spPr>
      </p:sp>
      <p:sp>
        <p:nvSpPr>
          <p:cNvPr id="17" name="Text 15"/>
          <p:cNvSpPr/>
          <p:nvPr/>
        </p:nvSpPr>
        <p:spPr>
          <a:xfrm>
            <a:off x="1059180" y="3482342"/>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Shtok</a:t>
            </a:r>
            <a:endParaRPr lang="en-US" sz="1300" dirty="0"/>
          </a:p>
        </p:txBody>
      </p:sp>
      <p:sp>
        <p:nvSpPr>
          <p:cNvPr id="18" name="Text 16"/>
          <p:cNvSpPr/>
          <p:nvPr/>
        </p:nvSpPr>
        <p:spPr>
          <a:xfrm>
            <a:off x="3078480" y="3464558"/>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d ≈ 0,6·63 = 37,8 mm → 36 mm; A</a:t>
            </a:r>
            <a:r>
              <a:rPr lang="en-US" sz="1500" dirty="0">
                <a:solidFill>
                  <a:srgbClr val="1D5F9E"/>
                </a:solidFill>
                <a:latin typeface="Noto Sans" pitchFamily="34" charset="0"/>
                <a:ea typeface="Noto Sans" pitchFamily="34" charset="-122"/>
                <a:cs typeface="Noto Sans" pitchFamily="34" charset="-120"/>
              </a:rPr>
              <a:t>sht</a:t>
            </a:r>
            <a:r>
              <a:rPr lang="en-US" sz="1500" dirty="0">
                <a:solidFill>
                  <a:srgbClr val="17212B"/>
                </a:solidFill>
                <a:latin typeface="Noto Sans" pitchFamily="34" charset="0"/>
                <a:ea typeface="Noto Sans" pitchFamily="34" charset="-122"/>
                <a:cs typeface="Noto Sans" pitchFamily="34" charset="-120"/>
              </a:rPr>
              <a:t> = π·0,036²/4</a:t>
            </a:r>
            <a:endParaRPr lang="en-US" sz="1500" dirty="0"/>
          </a:p>
        </p:txBody>
      </p:sp>
      <p:sp>
        <p:nvSpPr>
          <p:cNvPr id="19" name="Text 17"/>
          <p:cNvSpPr/>
          <p:nvPr/>
        </p:nvSpPr>
        <p:spPr>
          <a:xfrm>
            <a:off x="8974455" y="3446779"/>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10,18 cm²</a:t>
            </a:r>
            <a:endParaRPr lang="en-US" sz="1700" dirty="0"/>
          </a:p>
        </p:txBody>
      </p:sp>
      <p:sp>
        <p:nvSpPr>
          <p:cNvPr id="20" name="Shape 18"/>
          <p:cNvSpPr/>
          <p:nvPr/>
        </p:nvSpPr>
        <p:spPr>
          <a:xfrm>
            <a:off x="1008380" y="3866517"/>
            <a:ext cx="10175240" cy="0"/>
          </a:xfrm>
          <a:prstGeom prst="line">
            <a:avLst/>
          </a:prstGeom>
          <a:noFill/>
          <a:ln w="6350">
            <a:solidFill>
              <a:srgbClr val="DCD7CB"/>
            </a:solidFill>
            <a:prstDash val="solid"/>
          </a:ln>
        </p:spPr>
      </p:sp>
      <p:sp>
        <p:nvSpPr>
          <p:cNvPr id="21" name="Text 19"/>
          <p:cNvSpPr/>
          <p:nvPr/>
        </p:nvSpPr>
        <p:spPr>
          <a:xfrm>
            <a:off x="1059180" y="4018279"/>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Shtok kamerasi</a:t>
            </a:r>
            <a:endParaRPr lang="en-US" sz="1300" dirty="0"/>
          </a:p>
        </p:txBody>
      </p:sp>
      <p:sp>
        <p:nvSpPr>
          <p:cNvPr id="22" name="Text 20"/>
          <p:cNvSpPr/>
          <p:nvPr/>
        </p:nvSpPr>
        <p:spPr>
          <a:xfrm>
            <a:off x="3078480" y="4000500"/>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A₂ = A₁ − A</a:t>
            </a:r>
            <a:r>
              <a:rPr lang="en-US" sz="1500" dirty="0">
                <a:solidFill>
                  <a:srgbClr val="1D5F9E"/>
                </a:solidFill>
                <a:latin typeface="Noto Sans" pitchFamily="34" charset="0"/>
                <a:ea typeface="Noto Sans" pitchFamily="34" charset="-122"/>
                <a:cs typeface="Noto Sans" pitchFamily="34" charset="-120"/>
              </a:rPr>
              <a:t>sht</a:t>
            </a:r>
            <a:r>
              <a:rPr lang="en-US" sz="1500" dirty="0">
                <a:solidFill>
                  <a:srgbClr val="17212B"/>
                </a:solidFill>
                <a:latin typeface="Noto Sans" pitchFamily="34" charset="0"/>
                <a:ea typeface="Noto Sans" pitchFamily="34" charset="-122"/>
                <a:cs typeface="Noto Sans" pitchFamily="34" charset="-120"/>
              </a:rPr>
              <a:t> = 31,17 − 10,18</a:t>
            </a:r>
            <a:endParaRPr lang="en-US" sz="1500" dirty="0"/>
          </a:p>
        </p:txBody>
      </p:sp>
      <p:sp>
        <p:nvSpPr>
          <p:cNvPr id="23" name="Text 21"/>
          <p:cNvSpPr/>
          <p:nvPr/>
        </p:nvSpPr>
        <p:spPr>
          <a:xfrm>
            <a:off x="8974455" y="3982721"/>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20,99 cm²</a:t>
            </a:r>
            <a:endParaRPr lang="en-US" sz="1700" dirty="0"/>
          </a:p>
        </p:txBody>
      </p:sp>
      <p:sp>
        <p:nvSpPr>
          <p:cNvPr id="24" name="Shape 22"/>
          <p:cNvSpPr/>
          <p:nvPr/>
        </p:nvSpPr>
        <p:spPr>
          <a:xfrm>
            <a:off x="812800" y="4594858"/>
            <a:ext cx="10566400" cy="589280"/>
          </a:xfrm>
          <a:prstGeom prst="roundRect">
            <a:avLst>
              <a:gd name="adj" fmla="val 15086"/>
            </a:avLst>
          </a:prstGeom>
          <a:solidFill>
            <a:srgbClr val="1D5F9E"/>
          </a:solidFill>
          <a:ln/>
        </p:spPr>
      </p:sp>
      <p:pic>
        <p:nvPicPr>
          <p:cNvPr id="25" name="Image 0" descr="CheckCircle">    </p:cNvPr>
          <p:cNvPicPr>
            <a:picLocks noChangeAspect="1"/>
          </p:cNvPicPr>
          <p:nvPr/>
        </p:nvPicPr>
        <p:blipFill>
          <a:blip r:embed="rId1"/>
          <a:srcRect l="0" r="0" t="0" b="0"/>
          <a:stretch/>
        </p:blipFill>
        <p:spPr>
          <a:xfrm>
            <a:off x="1028700" y="4749800"/>
            <a:ext cx="279400" cy="279400"/>
          </a:xfrm>
          <a:prstGeom prst="rect">
            <a:avLst/>
          </a:prstGeom>
        </p:spPr>
      </p:pic>
      <p:sp>
        <p:nvSpPr>
          <p:cNvPr id="26" name="Text 23"/>
          <p:cNvSpPr/>
          <p:nvPr/>
        </p:nvSpPr>
        <p:spPr>
          <a:xfrm>
            <a:off x="1447800" y="4747258"/>
            <a:ext cx="521309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EEE6"/>
                </a:solidFill>
                <a:latin typeface="Noto Sans" pitchFamily="34" charset="0"/>
                <a:ea typeface="Noto Sans" pitchFamily="34" charset="-122"/>
                <a:cs typeface="Noto Sans" pitchFamily="34" charset="-120"/>
              </a:rPr>
              <a:t>Tanlanadi: D = 63 mm, d = 36 mm (ISO 6020)</a:t>
            </a:r>
            <a:endParaRPr lang="en-US" sz="1600" dirty="0"/>
          </a:p>
        </p:txBody>
      </p:sp>
      <p:sp>
        <p:nvSpPr>
          <p:cNvPr id="27" name="Text 24"/>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8" name="Text 25"/>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AMALIY MISOL</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3-bosqich: suyuqlik sarfi va nasos</a:t>
            </a:r>
            <a:endParaRPr lang="en-US" sz="3000" dirty="0"/>
          </a:p>
        </p:txBody>
      </p:sp>
      <p:sp>
        <p:nvSpPr>
          <p:cNvPr id="4" name="Shape 2"/>
          <p:cNvSpPr/>
          <p:nvPr/>
        </p:nvSpPr>
        <p:spPr>
          <a:xfrm>
            <a:off x="815975" y="1684654"/>
            <a:ext cx="10560050" cy="2218690"/>
          </a:xfrm>
          <a:prstGeom prst="roundRect">
            <a:avLst>
              <a:gd name="adj" fmla="val 3864"/>
            </a:avLst>
          </a:prstGeom>
          <a:solidFill>
            <a:srgbClr val="FBFAF7"/>
          </a:solidFill>
          <a:ln w="6350">
            <a:solidFill>
              <a:srgbClr val="DCD7CB"/>
            </a:solidFill>
            <a:prstDash val="solid"/>
          </a:ln>
        </p:spPr>
      </p:sp>
      <p:sp>
        <p:nvSpPr>
          <p:cNvPr id="5" name="Text 3"/>
          <p:cNvSpPr/>
          <p:nvPr/>
        </p:nvSpPr>
        <p:spPr>
          <a:xfrm>
            <a:off x="1059180" y="1874521"/>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Silindr sarfi</a:t>
            </a:r>
            <a:endParaRPr lang="en-US" sz="1300" dirty="0"/>
          </a:p>
        </p:txBody>
      </p:sp>
      <p:sp>
        <p:nvSpPr>
          <p:cNvPr id="6" name="Text 4"/>
          <p:cNvSpPr/>
          <p:nvPr/>
        </p:nvSpPr>
        <p:spPr>
          <a:xfrm>
            <a:off x="3078480" y="1856742"/>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Q = A₁·V = 3,117·10⁻³ · 0,2</a:t>
            </a:r>
            <a:endParaRPr lang="en-US" sz="1500" dirty="0"/>
          </a:p>
        </p:txBody>
      </p:sp>
      <p:sp>
        <p:nvSpPr>
          <p:cNvPr id="7" name="Text 5"/>
          <p:cNvSpPr/>
          <p:nvPr/>
        </p:nvSpPr>
        <p:spPr>
          <a:xfrm>
            <a:off x="8974455" y="1838958"/>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6,234·10⁻⁴ m³/s</a:t>
            </a:r>
            <a:endParaRPr lang="en-US" sz="1700" dirty="0"/>
          </a:p>
        </p:txBody>
      </p:sp>
      <p:sp>
        <p:nvSpPr>
          <p:cNvPr id="8" name="Shape 6"/>
          <p:cNvSpPr/>
          <p:nvPr/>
        </p:nvSpPr>
        <p:spPr>
          <a:xfrm>
            <a:off x="1008380" y="2258696"/>
            <a:ext cx="10175240" cy="0"/>
          </a:xfrm>
          <a:prstGeom prst="line">
            <a:avLst/>
          </a:prstGeom>
          <a:noFill/>
          <a:ln w="6350">
            <a:solidFill>
              <a:srgbClr val="DCD7CB"/>
            </a:solidFill>
            <a:prstDash val="solid"/>
          </a:ln>
        </p:spPr>
      </p:sp>
      <p:sp>
        <p:nvSpPr>
          <p:cNvPr id="9" name="Text 7"/>
          <p:cNvSpPr/>
          <p:nvPr/>
        </p:nvSpPr>
        <p:spPr>
          <a:xfrm>
            <a:off x="1059180" y="2410458"/>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Daqiqalik sarf</a:t>
            </a:r>
            <a:endParaRPr lang="en-US" sz="1300" dirty="0"/>
          </a:p>
        </p:txBody>
      </p:sp>
      <p:sp>
        <p:nvSpPr>
          <p:cNvPr id="10" name="Text 8"/>
          <p:cNvSpPr/>
          <p:nvPr/>
        </p:nvSpPr>
        <p:spPr>
          <a:xfrm>
            <a:off x="3078480" y="2392679"/>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Q = 6,234·10⁻⁴ · 60 000</a:t>
            </a:r>
            <a:endParaRPr lang="en-US" sz="1500" dirty="0"/>
          </a:p>
        </p:txBody>
      </p:sp>
      <p:sp>
        <p:nvSpPr>
          <p:cNvPr id="11" name="Text 9"/>
          <p:cNvSpPr/>
          <p:nvPr/>
        </p:nvSpPr>
        <p:spPr>
          <a:xfrm>
            <a:off x="8974455" y="2374900"/>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37,40 l/min</a:t>
            </a:r>
            <a:endParaRPr lang="en-US" sz="1700" dirty="0"/>
          </a:p>
        </p:txBody>
      </p:sp>
      <p:sp>
        <p:nvSpPr>
          <p:cNvPr id="12" name="Shape 10"/>
          <p:cNvSpPr/>
          <p:nvPr/>
        </p:nvSpPr>
        <p:spPr>
          <a:xfrm>
            <a:off x="1008380" y="2794633"/>
            <a:ext cx="10175240" cy="0"/>
          </a:xfrm>
          <a:prstGeom prst="line">
            <a:avLst/>
          </a:prstGeom>
          <a:noFill/>
          <a:ln w="6350">
            <a:solidFill>
              <a:srgbClr val="DCD7CB"/>
            </a:solidFill>
            <a:prstDash val="solid"/>
          </a:ln>
        </p:spPr>
      </p:sp>
      <p:sp>
        <p:nvSpPr>
          <p:cNvPr id="13" name="Text 11"/>
          <p:cNvSpPr/>
          <p:nvPr/>
        </p:nvSpPr>
        <p:spPr>
          <a:xfrm>
            <a:off x="1059180" y="2946400"/>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Nasos unumdorligi</a:t>
            </a:r>
            <a:endParaRPr lang="en-US" sz="1300" dirty="0"/>
          </a:p>
        </p:txBody>
      </p:sp>
      <p:sp>
        <p:nvSpPr>
          <p:cNvPr id="14" name="Text 12"/>
          <p:cNvSpPr/>
          <p:nvPr/>
        </p:nvSpPr>
        <p:spPr>
          <a:xfrm>
            <a:off x="3078480" y="2928621"/>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Q</a:t>
            </a:r>
            <a:r>
              <a:rPr lang="en-US" sz="1500" dirty="0">
                <a:solidFill>
                  <a:srgbClr val="1D5F9E"/>
                </a:solidFill>
                <a:latin typeface="Noto Sans" pitchFamily="34" charset="0"/>
                <a:ea typeface="Noto Sans" pitchFamily="34" charset="-122"/>
                <a:cs typeface="Noto Sans" pitchFamily="34" charset="-120"/>
              </a:rPr>
              <a:t>nasos</a:t>
            </a:r>
            <a:r>
              <a:rPr lang="en-US" sz="1500" dirty="0">
                <a:solidFill>
                  <a:srgbClr val="17212B"/>
                </a:solidFill>
                <a:latin typeface="Noto Sans" pitchFamily="34" charset="0"/>
                <a:ea typeface="Noto Sans" pitchFamily="34" charset="-122"/>
                <a:cs typeface="Noto Sans" pitchFamily="34" charset="-120"/>
              </a:rPr>
              <a:t> = Q·K</a:t>
            </a:r>
            <a:r>
              <a:rPr lang="en-US" sz="1500" dirty="0">
                <a:solidFill>
                  <a:srgbClr val="1D5F9E"/>
                </a:solidFill>
                <a:latin typeface="Noto Sans" pitchFamily="34" charset="0"/>
                <a:ea typeface="Noto Sans" pitchFamily="34" charset="-122"/>
                <a:cs typeface="Noto Sans" pitchFamily="34" charset="-120"/>
              </a:rPr>
              <a:t>oqish</a:t>
            </a:r>
            <a:r>
              <a:rPr lang="en-US" sz="1500" dirty="0">
                <a:solidFill>
                  <a:srgbClr val="17212B"/>
                </a:solidFill>
                <a:latin typeface="Noto Sans" pitchFamily="34" charset="0"/>
                <a:ea typeface="Noto Sans" pitchFamily="34" charset="-122"/>
                <a:cs typeface="Noto Sans" pitchFamily="34" charset="-120"/>
              </a:rPr>
              <a:t> / η</a:t>
            </a:r>
            <a:r>
              <a:rPr lang="en-US" sz="1500" dirty="0">
                <a:solidFill>
                  <a:srgbClr val="1D5F9E"/>
                </a:solidFill>
                <a:latin typeface="Noto Sans" pitchFamily="34" charset="0"/>
                <a:ea typeface="Noto Sans" pitchFamily="34" charset="-122"/>
                <a:cs typeface="Noto Sans" pitchFamily="34" charset="-120"/>
              </a:rPr>
              <a:t>v</a:t>
            </a:r>
            <a:r>
              <a:rPr lang="en-US" sz="1500" dirty="0">
                <a:solidFill>
                  <a:srgbClr val="17212B"/>
                </a:solidFill>
                <a:latin typeface="Noto Sans" pitchFamily="34" charset="0"/>
                <a:ea typeface="Noto Sans" pitchFamily="34" charset="-122"/>
                <a:cs typeface="Noto Sans" pitchFamily="34" charset="-120"/>
              </a:rPr>
              <a:t> = 37,40·1,1 / 0,92</a:t>
            </a:r>
            <a:endParaRPr lang="en-US" sz="1500" dirty="0"/>
          </a:p>
        </p:txBody>
      </p:sp>
      <p:sp>
        <p:nvSpPr>
          <p:cNvPr id="15" name="Text 13"/>
          <p:cNvSpPr/>
          <p:nvPr/>
        </p:nvSpPr>
        <p:spPr>
          <a:xfrm>
            <a:off x="8974455" y="2910842"/>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44,72 l/min</a:t>
            </a:r>
            <a:endParaRPr lang="en-US" sz="1700" dirty="0"/>
          </a:p>
        </p:txBody>
      </p:sp>
      <p:sp>
        <p:nvSpPr>
          <p:cNvPr id="16" name="Shape 14"/>
          <p:cNvSpPr/>
          <p:nvPr/>
        </p:nvSpPr>
        <p:spPr>
          <a:xfrm>
            <a:off x="1008380" y="3330575"/>
            <a:ext cx="10175240" cy="0"/>
          </a:xfrm>
          <a:prstGeom prst="line">
            <a:avLst/>
          </a:prstGeom>
          <a:noFill/>
          <a:ln w="6350">
            <a:solidFill>
              <a:srgbClr val="DCD7CB"/>
            </a:solidFill>
            <a:prstDash val="solid"/>
          </a:ln>
        </p:spPr>
      </p:sp>
      <p:sp>
        <p:nvSpPr>
          <p:cNvPr id="17" name="Text 15"/>
          <p:cNvSpPr/>
          <p:nvPr/>
        </p:nvSpPr>
        <p:spPr>
          <a:xfrm>
            <a:off x="1059180" y="3482342"/>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Ishchi hajm</a:t>
            </a:r>
            <a:endParaRPr lang="en-US" sz="1300" dirty="0"/>
          </a:p>
        </p:txBody>
      </p:sp>
      <p:sp>
        <p:nvSpPr>
          <p:cNvPr id="18" name="Text 16"/>
          <p:cNvSpPr/>
          <p:nvPr/>
        </p:nvSpPr>
        <p:spPr>
          <a:xfrm>
            <a:off x="3078480" y="3464558"/>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V</a:t>
            </a:r>
            <a:r>
              <a:rPr lang="en-US" sz="1500" dirty="0">
                <a:solidFill>
                  <a:srgbClr val="1D5F9E"/>
                </a:solidFill>
                <a:latin typeface="Noto Sans" pitchFamily="34" charset="0"/>
                <a:ea typeface="Noto Sans" pitchFamily="34" charset="-122"/>
                <a:cs typeface="Noto Sans" pitchFamily="34" charset="-120"/>
              </a:rPr>
              <a:t>q</a:t>
            </a:r>
            <a:r>
              <a:rPr lang="en-US" sz="1500" dirty="0">
                <a:solidFill>
                  <a:srgbClr val="17212B"/>
                </a:solidFill>
                <a:latin typeface="Noto Sans" pitchFamily="34" charset="0"/>
                <a:ea typeface="Noto Sans" pitchFamily="34" charset="-122"/>
                <a:cs typeface="Noto Sans" pitchFamily="34" charset="-120"/>
              </a:rPr>
              <a:t> = Q</a:t>
            </a:r>
            <a:r>
              <a:rPr lang="en-US" sz="1500" dirty="0">
                <a:solidFill>
                  <a:srgbClr val="1D5F9E"/>
                </a:solidFill>
                <a:latin typeface="Noto Sans" pitchFamily="34" charset="0"/>
                <a:ea typeface="Noto Sans" pitchFamily="34" charset="-122"/>
                <a:cs typeface="Noto Sans" pitchFamily="34" charset="-120"/>
              </a:rPr>
              <a:t>nasos</a:t>
            </a:r>
            <a:r>
              <a:rPr lang="en-US" sz="1500" dirty="0">
                <a:solidFill>
                  <a:srgbClr val="17212B"/>
                </a:solidFill>
                <a:latin typeface="Noto Sans" pitchFamily="34" charset="0"/>
                <a:ea typeface="Noto Sans" pitchFamily="34" charset="-122"/>
                <a:cs typeface="Noto Sans" pitchFamily="34" charset="-120"/>
              </a:rPr>
              <a:t>·1000 / n = 44,72·1000 / 1450</a:t>
            </a:r>
            <a:endParaRPr lang="en-US" sz="1500" dirty="0"/>
          </a:p>
        </p:txBody>
      </p:sp>
      <p:sp>
        <p:nvSpPr>
          <p:cNvPr id="19" name="Text 17"/>
          <p:cNvSpPr/>
          <p:nvPr/>
        </p:nvSpPr>
        <p:spPr>
          <a:xfrm>
            <a:off x="8974455" y="3446779"/>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30,84 cm³/ayl</a:t>
            </a:r>
            <a:endParaRPr lang="en-US" sz="1700" dirty="0"/>
          </a:p>
        </p:txBody>
      </p:sp>
      <p:sp>
        <p:nvSpPr>
          <p:cNvPr id="20" name="Shape 18"/>
          <p:cNvSpPr/>
          <p:nvPr/>
        </p:nvSpPr>
        <p:spPr>
          <a:xfrm>
            <a:off x="812800" y="4058921"/>
            <a:ext cx="10566400" cy="589280"/>
          </a:xfrm>
          <a:prstGeom prst="roundRect">
            <a:avLst>
              <a:gd name="adj" fmla="val 15086"/>
            </a:avLst>
          </a:prstGeom>
          <a:solidFill>
            <a:srgbClr val="1D5F9E"/>
          </a:solidFill>
          <a:ln/>
        </p:spPr>
      </p:sp>
      <p:pic>
        <p:nvPicPr>
          <p:cNvPr id="21" name="Image 0" descr="CheckCircle">    </p:cNvPr>
          <p:cNvPicPr>
            <a:picLocks noChangeAspect="1"/>
          </p:cNvPicPr>
          <p:nvPr/>
        </p:nvPicPr>
        <p:blipFill>
          <a:blip r:embed="rId1"/>
          <a:srcRect l="0" r="0" t="0" b="0"/>
          <a:stretch/>
        </p:blipFill>
        <p:spPr>
          <a:xfrm>
            <a:off x="1028700" y="4213858"/>
            <a:ext cx="279400" cy="279400"/>
          </a:xfrm>
          <a:prstGeom prst="rect">
            <a:avLst/>
          </a:prstGeom>
        </p:spPr>
      </p:pic>
      <p:sp>
        <p:nvSpPr>
          <p:cNvPr id="22" name="Text 19"/>
          <p:cNvSpPr/>
          <p:nvPr/>
        </p:nvSpPr>
        <p:spPr>
          <a:xfrm>
            <a:off x="1447800" y="4211321"/>
            <a:ext cx="491477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EEE6"/>
                </a:solidFill>
                <a:latin typeface="Noto Sans" pitchFamily="34" charset="0"/>
                <a:ea typeface="Noto Sans" pitchFamily="34" charset="-122"/>
                <a:cs typeface="Noto Sans" pitchFamily="34" charset="-120"/>
              </a:rPr>
              <a:t>Tanlanadi: Vq = 32 cm³/ayl (n = 1450 rpm)</a:t>
            </a:r>
            <a:endParaRPr lang="en-US" sz="1600" dirty="0"/>
          </a:p>
        </p:txBody>
      </p:sp>
      <p:sp>
        <p:nvSpPr>
          <p:cNvPr id="23" name="Text 20"/>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4" name="Text 21"/>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AMALIY MISOL</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4-bosqich: elektromotor quvvati</a:t>
            </a:r>
            <a:endParaRPr lang="en-US" sz="3000" dirty="0"/>
          </a:p>
        </p:txBody>
      </p:sp>
      <p:sp>
        <p:nvSpPr>
          <p:cNvPr id="4" name="Shape 2"/>
          <p:cNvSpPr/>
          <p:nvPr/>
        </p:nvSpPr>
        <p:spPr>
          <a:xfrm>
            <a:off x="815975" y="1735460"/>
            <a:ext cx="10560050" cy="1146810"/>
          </a:xfrm>
          <a:prstGeom prst="roundRect">
            <a:avLst>
              <a:gd name="adj" fmla="val 7475"/>
            </a:avLst>
          </a:prstGeom>
          <a:solidFill>
            <a:srgbClr val="FBFAF7"/>
          </a:solidFill>
          <a:ln w="6350">
            <a:solidFill>
              <a:srgbClr val="DCD7CB"/>
            </a:solidFill>
            <a:prstDash val="solid"/>
          </a:ln>
        </p:spPr>
      </p:sp>
      <p:sp>
        <p:nvSpPr>
          <p:cNvPr id="5" name="Text 3"/>
          <p:cNvSpPr/>
          <p:nvPr/>
        </p:nvSpPr>
        <p:spPr>
          <a:xfrm>
            <a:off x="1059180" y="1925315"/>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Gidravlik quvvat</a:t>
            </a:r>
            <a:endParaRPr lang="en-US" sz="1300" dirty="0"/>
          </a:p>
        </p:txBody>
      </p:sp>
      <p:sp>
        <p:nvSpPr>
          <p:cNvPr id="6" name="Text 4"/>
          <p:cNvSpPr/>
          <p:nvPr/>
        </p:nvSpPr>
        <p:spPr>
          <a:xfrm>
            <a:off x="3078480" y="1907542"/>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P</a:t>
            </a:r>
            <a:r>
              <a:rPr lang="en-US" sz="1500" dirty="0">
                <a:solidFill>
                  <a:srgbClr val="1D5F9E"/>
                </a:solidFill>
                <a:latin typeface="Noto Sans" pitchFamily="34" charset="0"/>
                <a:ea typeface="Noto Sans" pitchFamily="34" charset="-122"/>
                <a:cs typeface="Noto Sans" pitchFamily="34" charset="-120"/>
              </a:rPr>
              <a:t>gidro</a:t>
            </a:r>
            <a:r>
              <a:rPr lang="en-US" sz="1500" dirty="0">
                <a:solidFill>
                  <a:srgbClr val="17212B"/>
                </a:solidFill>
                <a:latin typeface="Noto Sans" pitchFamily="34" charset="0"/>
                <a:ea typeface="Noto Sans" pitchFamily="34" charset="-122"/>
                <a:cs typeface="Noto Sans" pitchFamily="34" charset="-120"/>
              </a:rPr>
              <a:t> = P</a:t>
            </a:r>
            <a:r>
              <a:rPr lang="en-US" sz="1500" dirty="0">
                <a:solidFill>
                  <a:srgbClr val="1D5F9E"/>
                </a:solidFill>
                <a:latin typeface="Noto Sans" pitchFamily="34" charset="0"/>
                <a:ea typeface="Noto Sans" pitchFamily="34" charset="-122"/>
                <a:cs typeface="Noto Sans" pitchFamily="34" charset="-120"/>
              </a:rPr>
              <a:t>w</a:t>
            </a:r>
            <a:r>
              <a:rPr lang="en-US" sz="1500" dirty="0">
                <a:solidFill>
                  <a:srgbClr val="17212B"/>
                </a:solidFill>
                <a:latin typeface="Noto Sans" pitchFamily="34" charset="0"/>
                <a:ea typeface="Noto Sans" pitchFamily="34" charset="-122"/>
                <a:cs typeface="Noto Sans" pitchFamily="34" charset="-120"/>
              </a:rPr>
              <a:t>·Q</a:t>
            </a:r>
            <a:r>
              <a:rPr lang="en-US" sz="1500" dirty="0">
                <a:solidFill>
                  <a:srgbClr val="1D5F9E"/>
                </a:solidFill>
                <a:latin typeface="Noto Sans" pitchFamily="34" charset="0"/>
                <a:ea typeface="Noto Sans" pitchFamily="34" charset="-122"/>
                <a:cs typeface="Noto Sans" pitchFamily="34" charset="-120"/>
              </a:rPr>
              <a:t>nasos</a:t>
            </a:r>
            <a:r>
              <a:rPr lang="en-US" sz="1500" dirty="0">
                <a:solidFill>
                  <a:srgbClr val="17212B"/>
                </a:solidFill>
                <a:latin typeface="Noto Sans" pitchFamily="34" charset="0"/>
                <a:ea typeface="Noto Sans" pitchFamily="34" charset="-122"/>
                <a:cs typeface="Noto Sans" pitchFamily="34" charset="-120"/>
              </a:rPr>
              <a:t> / 600 = 150·44,72 / 600</a:t>
            </a:r>
            <a:endParaRPr lang="en-US" sz="1500" dirty="0"/>
          </a:p>
        </p:txBody>
      </p:sp>
      <p:sp>
        <p:nvSpPr>
          <p:cNvPr id="7" name="Text 5"/>
          <p:cNvSpPr/>
          <p:nvPr/>
        </p:nvSpPr>
        <p:spPr>
          <a:xfrm>
            <a:off x="8974455" y="1889758"/>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11,18 kW</a:t>
            </a:r>
            <a:endParaRPr lang="en-US" sz="1700" dirty="0"/>
          </a:p>
        </p:txBody>
      </p:sp>
      <p:sp>
        <p:nvSpPr>
          <p:cNvPr id="8" name="Shape 6"/>
          <p:cNvSpPr/>
          <p:nvPr/>
        </p:nvSpPr>
        <p:spPr>
          <a:xfrm>
            <a:off x="1008380" y="2309490"/>
            <a:ext cx="10175240" cy="0"/>
          </a:xfrm>
          <a:prstGeom prst="line">
            <a:avLst/>
          </a:prstGeom>
          <a:noFill/>
          <a:ln w="6350">
            <a:solidFill>
              <a:srgbClr val="DCD7CB"/>
            </a:solidFill>
            <a:prstDash val="solid"/>
          </a:ln>
        </p:spPr>
      </p:sp>
      <p:sp>
        <p:nvSpPr>
          <p:cNvPr id="9" name="Text 7"/>
          <p:cNvSpPr/>
          <p:nvPr/>
        </p:nvSpPr>
        <p:spPr>
          <a:xfrm>
            <a:off x="1059180" y="2461258"/>
            <a:ext cx="18967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Elektromotor</a:t>
            </a:r>
            <a:endParaRPr lang="en-US" sz="1300" dirty="0"/>
          </a:p>
        </p:txBody>
      </p:sp>
      <p:sp>
        <p:nvSpPr>
          <p:cNvPr id="10" name="Text 8"/>
          <p:cNvSpPr/>
          <p:nvPr/>
        </p:nvSpPr>
        <p:spPr>
          <a:xfrm>
            <a:off x="3078480" y="2443485"/>
            <a:ext cx="59544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12B"/>
                </a:solidFill>
                <a:latin typeface="Noto Sans" pitchFamily="34" charset="0"/>
                <a:ea typeface="Noto Sans" pitchFamily="34" charset="-122"/>
                <a:cs typeface="Noto Sans" pitchFamily="34" charset="-120"/>
              </a:rPr>
              <a:t>P</a:t>
            </a:r>
            <a:r>
              <a:rPr lang="en-US" sz="1500" dirty="0">
                <a:solidFill>
                  <a:srgbClr val="1D5F9E"/>
                </a:solidFill>
                <a:latin typeface="Noto Sans" pitchFamily="34" charset="0"/>
                <a:ea typeface="Noto Sans" pitchFamily="34" charset="-122"/>
                <a:cs typeface="Noto Sans" pitchFamily="34" charset="-120"/>
              </a:rPr>
              <a:t>el</a:t>
            </a:r>
            <a:r>
              <a:rPr lang="en-US" sz="1500" dirty="0">
                <a:solidFill>
                  <a:srgbClr val="17212B"/>
                </a:solidFill>
                <a:latin typeface="Noto Sans" pitchFamily="34" charset="0"/>
                <a:ea typeface="Noto Sans" pitchFamily="34" charset="-122"/>
                <a:cs typeface="Noto Sans" pitchFamily="34" charset="-120"/>
              </a:rPr>
              <a:t> = P</a:t>
            </a:r>
            <a:r>
              <a:rPr lang="en-US" sz="1500" dirty="0">
                <a:solidFill>
                  <a:srgbClr val="1D5F9E"/>
                </a:solidFill>
                <a:latin typeface="Noto Sans" pitchFamily="34" charset="0"/>
                <a:ea typeface="Noto Sans" pitchFamily="34" charset="-122"/>
                <a:cs typeface="Noto Sans" pitchFamily="34" charset="-120"/>
              </a:rPr>
              <a:t>gidro</a:t>
            </a:r>
            <a:r>
              <a:rPr lang="en-US" sz="1500" dirty="0">
                <a:solidFill>
                  <a:srgbClr val="17212B"/>
                </a:solidFill>
                <a:latin typeface="Noto Sans" pitchFamily="34" charset="0"/>
                <a:ea typeface="Noto Sans" pitchFamily="34" charset="-122"/>
                <a:cs typeface="Noto Sans" pitchFamily="34" charset="-120"/>
              </a:rPr>
              <a:t> / η</a:t>
            </a:r>
            <a:r>
              <a:rPr lang="en-US" sz="1500" dirty="0">
                <a:solidFill>
                  <a:srgbClr val="1D5F9E"/>
                </a:solidFill>
                <a:latin typeface="Noto Sans" pitchFamily="34" charset="0"/>
                <a:ea typeface="Noto Sans" pitchFamily="34" charset="-122"/>
                <a:cs typeface="Noto Sans" pitchFamily="34" charset="-120"/>
              </a:rPr>
              <a:t>tot</a:t>
            </a:r>
            <a:r>
              <a:rPr lang="en-US" sz="1500" dirty="0">
                <a:solidFill>
                  <a:srgbClr val="17212B"/>
                </a:solidFill>
                <a:latin typeface="Noto Sans" pitchFamily="34" charset="0"/>
                <a:ea typeface="Noto Sans" pitchFamily="34" charset="-122"/>
                <a:cs typeface="Noto Sans" pitchFamily="34" charset="-120"/>
              </a:rPr>
              <a:t> = 11,18 / 0,82</a:t>
            </a:r>
            <a:endParaRPr lang="en-US" sz="1500" dirty="0"/>
          </a:p>
        </p:txBody>
      </p:sp>
      <p:sp>
        <p:nvSpPr>
          <p:cNvPr id="11" name="Text 9"/>
          <p:cNvSpPr/>
          <p:nvPr/>
        </p:nvSpPr>
        <p:spPr>
          <a:xfrm>
            <a:off x="8974455" y="2425700"/>
            <a:ext cx="2158365" cy="327660"/>
          </a:xfrm>
          <a:prstGeom prst="rect">
            <a:avLst/>
          </a:prstGeom>
          <a:noFill/>
          <a:ln/>
        </p:spPr>
        <p:txBody>
          <a:bodyPr wrap="square" lIns="0" tIns="0" rIns="0" bIns="0" rtlCol="0" anchor="t">
            <a:normAutofit/>
          </a:bodyPr>
          <a:lstStyle/>
          <a:p>
            <a:pPr algn="r" indent="0" marL="0">
              <a:lnSpc>
                <a:spcPts val="2380"/>
              </a:lnSpc>
              <a:buNone/>
            </a:pPr>
            <a:r>
              <a:rPr lang="en-US" sz="1700" b="1" dirty="0">
                <a:solidFill>
                  <a:srgbClr val="1D5F9E"/>
                </a:solidFill>
                <a:latin typeface="Noto Sans" pitchFamily="34" charset="0"/>
                <a:ea typeface="Noto Sans" pitchFamily="34" charset="-122"/>
                <a:cs typeface="Noto Sans" pitchFamily="34" charset="-120"/>
              </a:rPr>
              <a:t>13,63 kW</a:t>
            </a:r>
            <a:endParaRPr lang="en-US" sz="1700" dirty="0"/>
          </a:p>
        </p:txBody>
      </p:sp>
      <p:sp>
        <p:nvSpPr>
          <p:cNvPr id="12" name="Shape 10"/>
          <p:cNvSpPr/>
          <p:nvPr/>
        </p:nvSpPr>
        <p:spPr>
          <a:xfrm>
            <a:off x="812800" y="3088642"/>
            <a:ext cx="10566400" cy="589280"/>
          </a:xfrm>
          <a:prstGeom prst="roundRect">
            <a:avLst>
              <a:gd name="adj" fmla="val 15086"/>
            </a:avLst>
          </a:prstGeom>
          <a:solidFill>
            <a:srgbClr val="1D5F9E"/>
          </a:solidFill>
          <a:ln/>
        </p:spPr>
      </p:sp>
      <p:pic>
        <p:nvPicPr>
          <p:cNvPr id="13" name="Image 0" descr="CheckCircle">    </p:cNvPr>
          <p:cNvPicPr>
            <a:picLocks noChangeAspect="1"/>
          </p:cNvPicPr>
          <p:nvPr/>
        </p:nvPicPr>
        <p:blipFill>
          <a:blip r:embed="rId1"/>
          <a:srcRect l="0" r="0" t="0" b="0"/>
          <a:stretch/>
        </p:blipFill>
        <p:spPr>
          <a:xfrm>
            <a:off x="1028700" y="3243585"/>
            <a:ext cx="279400" cy="279400"/>
          </a:xfrm>
          <a:prstGeom prst="rect">
            <a:avLst/>
          </a:prstGeom>
        </p:spPr>
      </p:pic>
      <p:sp>
        <p:nvSpPr>
          <p:cNvPr id="14" name="Text 11"/>
          <p:cNvSpPr/>
          <p:nvPr/>
        </p:nvSpPr>
        <p:spPr>
          <a:xfrm>
            <a:off x="1447800" y="3241042"/>
            <a:ext cx="622236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1EEE6"/>
                </a:solidFill>
                <a:latin typeface="Noto Sans" pitchFamily="34" charset="0"/>
                <a:ea typeface="Noto Sans" pitchFamily="34" charset="-122"/>
                <a:cs typeface="Noto Sans" pitchFamily="34" charset="-120"/>
              </a:rPr>
              <a:t>Tanlanadi: Pnom = 15 kW, uch fazali asinxron motor</a:t>
            </a:r>
            <a:endParaRPr lang="en-US" sz="1600" dirty="0"/>
          </a:p>
        </p:txBody>
      </p:sp>
      <p:sp>
        <p:nvSpPr>
          <p:cNvPr id="15" name="Text 12"/>
          <p:cNvSpPr/>
          <p:nvPr/>
        </p:nvSpPr>
        <p:spPr>
          <a:xfrm>
            <a:off x="812800" y="3881115"/>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16D"/>
                </a:solidFill>
                <a:latin typeface="Noto Sans" pitchFamily="34" charset="0"/>
                <a:ea typeface="Noto Sans" pitchFamily="34" charset="-122"/>
                <a:cs typeface="Noto Sans" pitchFamily="34" charset="-120"/>
              </a:rPr>
              <a:t>Katalogdan hisobiy quvvatdan kattaroq eng yaqin nominal quvvat olinadi.</a:t>
            </a:r>
            <a:endParaRPr lang="en-US" sz="1300" dirty="0"/>
          </a:p>
        </p:txBody>
      </p:sp>
      <p:sp>
        <p:nvSpPr>
          <p:cNvPr id="16" name="Text 13"/>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17" name="Text 14"/>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NATIJALAR</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Hisoblash natijalari</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742445"/>
          <a:ext cx="10556240" cy="3068320"/>
        </p:xfrm>
        <a:graphic>
          <a:graphicData uri="http://schemas.openxmlformats.org/drawingml/2006/table">
            <a:tbl>
              <a:tblPr/>
              <a:tblGrid>
                <a:gridCol w="3589122"/>
                <a:gridCol w="1688998"/>
                <a:gridCol w="2639060"/>
                <a:gridCol w="2639060"/>
              </a:tblGrid>
              <a:tr h="383540">
                <a:tc>
                  <a:txBody>
                    <a:bodyPr/>
                    <a:lstStyle/>
                    <a:p>
                      <a:pP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Parametr</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Belgi</a:t>
                      </a:r>
                      <a:endParaRPr lang="en-US" sz="1400" dirty="0">
                        <a:latin typeface="Noto Sans" charset="0"/>
                        <a:ea typeface="Noto Sans" charset="0"/>
                        <a:cs typeface="Noto Sans" charset="0"/>
                      </a:endParaRPr>
                    </a:p>
                  </a:txBody>
                  <a:tcPr marL="62230" marR="62230" marT="62230" marB="62230" anchor="t">
                    <a:lnL w="12700" cap="flat" cmpd="sng" algn="ctr">
                      <a:solidFill>
                        <a:srgbClr val="B4B2AE"/>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Hisoblangan</a:t>
                      </a:r>
                      <a:endParaRPr lang="en-US" sz="1400" dirty="0">
                        <a:latin typeface="Noto Sans" charset="0"/>
                        <a:ea typeface="Noto Sans" charset="0"/>
                        <a:cs typeface="Noto Sans" charset="0"/>
                      </a:endParaRPr>
                    </a:p>
                  </a:txBody>
                  <a:tcPr marL="62230" marR="62230" marT="62230" marB="62230" anchor="t">
                    <a:lnL w="12700" cap="flat" cmpd="sng" algn="ctr">
                      <a:solidFill>
                        <a:srgbClr val="B4B2AE"/>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c>
                  <a:txBody>
                    <a:bodyPr/>
                    <a:lstStyle/>
                    <a:p>
                      <a:pPr algn="ctr" indent="0" marL="0">
                        <a:lnSpc>
                          <a:spcPts val="1960"/>
                        </a:lnSpc>
                        <a:buNone/>
                      </a:pPr>
                      <a:r>
                        <a:rPr lang="en-US" sz="1400" b="1" dirty="0">
                          <a:solidFill>
                            <a:srgbClr val="17212B"/>
                          </a:solidFill>
                          <a:latin typeface="Noto Sans" pitchFamily="34" charset="0"/>
                          <a:ea typeface="Noto Sans" pitchFamily="34" charset="-122"/>
                          <a:cs typeface="Noto Sans" pitchFamily="34" charset="-120"/>
                        </a:rPr>
                        <a:t>Standart</a:t>
                      </a:r>
                      <a:endParaRPr lang="en-US" sz="1400" dirty="0">
                        <a:latin typeface="Noto Sans" charset="0"/>
                        <a:ea typeface="Noto Sans" charset="0"/>
                        <a:cs typeface="Noto Sans" charset="0"/>
                      </a:endParaRPr>
                    </a:p>
                  </a:txBody>
                  <a:tcPr marL="62230" marR="62230" marT="62230" marB="62230" anchor="t">
                    <a:lnL w="12700" cap="flat" cmpd="sng" algn="ctr">
                      <a:solidFill>
                        <a:srgbClr val="B4B2AE"/>
                      </a:solidFill>
                      <a:prstDash val="solid"/>
                      <a:round/>
                      <a:headEnd type="none" w="med" len="med"/>
                      <a:tailEnd type="none" w="med" len="med"/>
                    </a:lnL>
                    <a:lnR w="12700" cap="flat" cmpd="sng" algn="ctr">
                      <a:solidFill>
                        <a:srgbClr val="B4B2AE"/>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4B2AE"/>
                      </a:solidFill>
                      <a:prstDash val="solid"/>
                      <a:round/>
                      <a:headEnd type="none" w="med" len="med"/>
                      <a:tailEnd type="none" w="med" len="med"/>
                    </a:lnB>
                    <a:solidFill>
                      <a:srgbClr val="E1DFDA"/>
                    </a:solidFill>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Porshen diametri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D</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57,18 mm</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63,0 mm</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4B2AE"/>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Shtok diametri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d</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37,80 mm</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36,0 mm</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Porshen yuzasi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A₁</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25,68 cm²</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31,17 cm²</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Suyuqlik sarfi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Q</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37,40 l/min</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37,40 l/min</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Nasos unumdorligi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Q nasos</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44,72 l/min</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46,40 l/min</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Nasos ishchi hajmi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V q</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30,84 cm³/ayl</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32,0 cm³/ayl</a:t>
                      </a:r>
                      <a:endParaRPr lang="en-US" sz="1400" dirty="0">
                        <a:latin typeface="Noto Sans" charset="0"/>
                        <a:ea typeface="Noto Sans" charset="0"/>
                        <a:cs typeface="Noto Sans"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2C0BB"/>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BE7DD"/>
                    </a:solidFill>
                  </a:tcPr>
                </a:tc>
              </a:tr>
              <a:tr h="383540">
                <a:tc>
                  <a:txBody>
                    <a:bodyPr/>
                    <a:lstStyle/>
                    <a:p>
                      <a:pP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Elektromotor quvvati</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P el</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13,63 kW</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c>
                  <a:txBody>
                    <a:bodyPr/>
                    <a:lstStyle/>
                    <a:p>
                      <a:pPr algn="ctr" indent="0" marL="0">
                        <a:lnSpc>
                          <a:spcPts val="1960"/>
                        </a:lnSpc>
                        <a:buNone/>
                      </a:pPr>
                      <a:r>
                        <a:rPr lang="en-US" sz="1400" dirty="0">
                          <a:solidFill>
                            <a:srgbClr val="17212B"/>
                          </a:solidFill>
                          <a:latin typeface="Noto Sans" pitchFamily="34" charset="0"/>
                          <a:ea typeface="Noto Sans" pitchFamily="34" charset="-122"/>
                          <a:cs typeface="Noto Sans" pitchFamily="34" charset="-120"/>
                        </a:rPr>
                        <a:t>15,0 kW</a:t>
                      </a:r>
                      <a:endParaRPr lang="en-US" sz="1400" dirty="0">
                        <a:latin typeface="Noto Sans" charset="0"/>
                        <a:ea typeface="Noto Sans" charset="0"/>
                        <a:cs typeface="Noto Sans" charset="0"/>
                      </a:endParaRPr>
                    </a:p>
                  </a:txBody>
                  <a:tcPr marL="62230" marR="62230" marT="62230" marB="62230" anchor="t">
                    <a:lnL w="12700" cap="flat" cmpd="sng" algn="ctr">
                      <a:solidFill>
                        <a:srgbClr val="C2C0BB"/>
                      </a:solidFill>
                      <a:prstDash val="solid"/>
                      <a:round/>
                      <a:headEnd type="none" w="med" len="med"/>
                      <a:tailEnd type="none" w="med" len="med"/>
                    </a:lnL>
                    <a:lnR w="12700" cap="flat" cmpd="sng" algn="ctr">
                      <a:solidFill>
                        <a:srgbClr val="C2C0BB"/>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2C0BB"/>
                      </a:solidFill>
                      <a:prstDash val="solid"/>
                      <a:round/>
                      <a:headEnd type="none" w="med" len="med"/>
                      <a:tailEnd type="none" w="med" len="med"/>
                    </a:lnB>
                  </a:tcPr>
                </a:tc>
              </a:tr>
            </a:tbl>
          </a:graphicData>
        </a:graphic>
      </p:graphicFrame>
      <p:sp>
        <p:nvSpPr>
          <p:cNvPr id="5" name="Text 2"/>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6" name="Text 3"/>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1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F12"/>
                </a:solidFill>
                <a:latin typeface="Noto Sans" pitchFamily="34" charset="0"/>
                <a:ea typeface="Noto Sans" pitchFamily="34" charset="-122"/>
                <a:cs typeface="Noto Sans" pitchFamily="34" charset="-120"/>
              </a:rPr>
              <a:t>NAZORAT</a:t>
            </a:r>
            <a:endParaRPr lang="en-US" sz="1200" dirty="0"/>
          </a:p>
        </p:txBody>
      </p:sp>
      <p:sp>
        <p:nvSpPr>
          <p:cNvPr id="3" name="Text 1"/>
          <p:cNvSpPr/>
          <p:nvPr>
            <p:ph type="title"/>
          </p:nvPr>
        </p:nvSpPr>
        <p:spPr>
          <a:xfrm>
            <a:off x="812800" y="1102358"/>
            <a:ext cx="10883392"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17212B"/>
                </a:solidFill>
                <a:latin typeface="Noto Sans" pitchFamily="34" charset="0"/>
                <a:ea typeface="Noto Sans" pitchFamily="34" charset="-122"/>
                <a:cs typeface="Noto Sans" pitchFamily="34" charset="-120"/>
              </a:rPr>
              <a:t>Nazorat savollari</a:t>
            </a:r>
            <a:endParaRPr lang="en-US" sz="3000" dirty="0"/>
          </a:p>
        </p:txBody>
      </p:sp>
      <p:sp>
        <p:nvSpPr>
          <p:cNvPr id="4" name="Shape 2"/>
          <p:cNvSpPr/>
          <p:nvPr/>
        </p:nvSpPr>
        <p:spPr>
          <a:xfrm>
            <a:off x="815975" y="1735460"/>
            <a:ext cx="5207000" cy="781050"/>
          </a:xfrm>
          <a:prstGeom prst="roundRect">
            <a:avLst>
              <a:gd name="adj" fmla="val 10976"/>
            </a:avLst>
          </a:prstGeom>
          <a:solidFill>
            <a:srgbClr val="FBFAF7"/>
          </a:solidFill>
          <a:ln w="6350">
            <a:solidFill>
              <a:srgbClr val="DCD7CB"/>
            </a:solidFill>
            <a:prstDash val="solid"/>
          </a:ln>
        </p:spPr>
      </p:sp>
      <p:sp>
        <p:nvSpPr>
          <p:cNvPr id="5" name="Text 3"/>
          <p:cNvSpPr/>
          <p:nvPr/>
        </p:nvSpPr>
        <p:spPr>
          <a:xfrm>
            <a:off x="982980" y="1877058"/>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C8621A"/>
                </a:solidFill>
                <a:latin typeface="Noto Sans" pitchFamily="34" charset="0"/>
                <a:ea typeface="Noto Sans" pitchFamily="34" charset="-122"/>
                <a:cs typeface="Noto Sans" pitchFamily="34" charset="-120"/>
              </a:rPr>
              <a:t>1</a:t>
            </a:r>
            <a:endParaRPr lang="en-US" sz="2000" dirty="0"/>
          </a:p>
        </p:txBody>
      </p:sp>
      <p:sp>
        <p:nvSpPr>
          <p:cNvPr id="6" name="Text 4"/>
          <p:cNvSpPr/>
          <p:nvPr/>
        </p:nvSpPr>
        <p:spPr>
          <a:xfrm>
            <a:off x="1414780" y="1877058"/>
            <a:ext cx="4574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Gidravlik yuritmalar ogʻir yuk koʻtaruvchi robotlarda nima uchun afzal?</a:t>
            </a:r>
            <a:endParaRPr lang="en-US" sz="1400" dirty="0"/>
          </a:p>
        </p:txBody>
      </p:sp>
      <p:sp>
        <p:nvSpPr>
          <p:cNvPr id="7" name="Shape 5"/>
          <p:cNvSpPr/>
          <p:nvPr/>
        </p:nvSpPr>
        <p:spPr>
          <a:xfrm>
            <a:off x="6169025" y="1735460"/>
            <a:ext cx="5207000" cy="781050"/>
          </a:xfrm>
          <a:prstGeom prst="roundRect">
            <a:avLst>
              <a:gd name="adj" fmla="val 10976"/>
            </a:avLst>
          </a:prstGeom>
          <a:solidFill>
            <a:srgbClr val="FBFAF7"/>
          </a:solidFill>
          <a:ln w="6350">
            <a:solidFill>
              <a:srgbClr val="DCD7CB"/>
            </a:solidFill>
            <a:prstDash val="solid"/>
          </a:ln>
        </p:spPr>
      </p:sp>
      <p:sp>
        <p:nvSpPr>
          <p:cNvPr id="8" name="Text 6"/>
          <p:cNvSpPr/>
          <p:nvPr/>
        </p:nvSpPr>
        <p:spPr>
          <a:xfrm>
            <a:off x="6336030" y="1877058"/>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C8621A"/>
                </a:solidFill>
                <a:latin typeface="Noto Sans" pitchFamily="34" charset="0"/>
                <a:ea typeface="Noto Sans" pitchFamily="34" charset="-122"/>
                <a:cs typeface="Noto Sans" pitchFamily="34" charset="-120"/>
              </a:rPr>
              <a:t>2</a:t>
            </a:r>
            <a:endParaRPr lang="en-US" sz="2000" dirty="0"/>
          </a:p>
        </p:txBody>
      </p:sp>
      <p:sp>
        <p:nvSpPr>
          <p:cNvPr id="9" name="Text 7"/>
          <p:cNvSpPr/>
          <p:nvPr/>
        </p:nvSpPr>
        <p:spPr>
          <a:xfrm>
            <a:off x="6767830" y="1877058"/>
            <a:ext cx="46050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Paskal qonuni mexanik afzallikni qanday taʼminlaydi?</a:t>
            </a:r>
            <a:endParaRPr lang="en-US" sz="1400" dirty="0"/>
          </a:p>
        </p:txBody>
      </p:sp>
      <p:sp>
        <p:nvSpPr>
          <p:cNvPr id="10" name="Shape 8"/>
          <p:cNvSpPr/>
          <p:nvPr/>
        </p:nvSpPr>
        <p:spPr>
          <a:xfrm>
            <a:off x="815975" y="2662560"/>
            <a:ext cx="5207000" cy="781050"/>
          </a:xfrm>
          <a:prstGeom prst="roundRect">
            <a:avLst>
              <a:gd name="adj" fmla="val 10976"/>
            </a:avLst>
          </a:prstGeom>
          <a:solidFill>
            <a:srgbClr val="FBFAF7"/>
          </a:solidFill>
          <a:ln w="6350">
            <a:solidFill>
              <a:srgbClr val="DCD7CB"/>
            </a:solidFill>
            <a:prstDash val="solid"/>
          </a:ln>
        </p:spPr>
      </p:sp>
      <p:sp>
        <p:nvSpPr>
          <p:cNvPr id="11" name="Text 9"/>
          <p:cNvSpPr/>
          <p:nvPr/>
        </p:nvSpPr>
        <p:spPr>
          <a:xfrm>
            <a:off x="982980" y="2804158"/>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C8621A"/>
                </a:solidFill>
                <a:latin typeface="Noto Sans" pitchFamily="34" charset="0"/>
                <a:ea typeface="Noto Sans" pitchFamily="34" charset="-122"/>
                <a:cs typeface="Noto Sans" pitchFamily="34" charset="-120"/>
              </a:rPr>
              <a:t>3</a:t>
            </a:r>
            <a:endParaRPr lang="en-US" sz="2000" dirty="0"/>
          </a:p>
        </p:txBody>
      </p:sp>
      <p:sp>
        <p:nvSpPr>
          <p:cNvPr id="12" name="Text 10"/>
          <p:cNvSpPr/>
          <p:nvPr/>
        </p:nvSpPr>
        <p:spPr>
          <a:xfrm>
            <a:off x="1414780" y="2804158"/>
            <a:ext cx="4574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D va d qaysi mezonlar boʻyicha hisoblanadi, K</a:t>
            </a:r>
            <a:r>
              <a:rPr lang="en-US" sz="1400" dirty="0">
                <a:solidFill>
                  <a:srgbClr val="1D5F9E"/>
                </a:solidFill>
                <a:latin typeface="Noto Sans" pitchFamily="34" charset="0"/>
                <a:ea typeface="Noto Sans" pitchFamily="34" charset="-122"/>
                <a:cs typeface="Noto Sans" pitchFamily="34" charset="-120"/>
              </a:rPr>
              <a:t>z</a:t>
            </a:r>
            <a:r>
              <a:rPr lang="en-US" sz="1400" dirty="0">
                <a:solidFill>
                  <a:srgbClr val="17212B"/>
                </a:solidFill>
                <a:latin typeface="Noto Sans" pitchFamily="34" charset="0"/>
                <a:ea typeface="Noto Sans" pitchFamily="34" charset="-122"/>
                <a:cs typeface="Noto Sans" pitchFamily="34" charset="-120"/>
              </a:rPr>
              <a:t> nimani anglatadi?</a:t>
            </a:r>
            <a:endParaRPr lang="en-US" sz="1400" dirty="0"/>
          </a:p>
        </p:txBody>
      </p:sp>
      <p:sp>
        <p:nvSpPr>
          <p:cNvPr id="13" name="Shape 11"/>
          <p:cNvSpPr/>
          <p:nvPr/>
        </p:nvSpPr>
        <p:spPr>
          <a:xfrm>
            <a:off x="6169025" y="2662560"/>
            <a:ext cx="5207000" cy="781050"/>
          </a:xfrm>
          <a:prstGeom prst="roundRect">
            <a:avLst>
              <a:gd name="adj" fmla="val 10976"/>
            </a:avLst>
          </a:prstGeom>
          <a:solidFill>
            <a:srgbClr val="FBFAF7"/>
          </a:solidFill>
          <a:ln w="6350">
            <a:solidFill>
              <a:srgbClr val="DCD7CB"/>
            </a:solidFill>
            <a:prstDash val="solid"/>
          </a:ln>
        </p:spPr>
      </p:sp>
      <p:sp>
        <p:nvSpPr>
          <p:cNvPr id="14" name="Text 12"/>
          <p:cNvSpPr/>
          <p:nvPr/>
        </p:nvSpPr>
        <p:spPr>
          <a:xfrm>
            <a:off x="6336030" y="2804158"/>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C8621A"/>
                </a:solidFill>
                <a:latin typeface="Noto Sans" pitchFamily="34" charset="0"/>
                <a:ea typeface="Noto Sans" pitchFamily="34" charset="-122"/>
                <a:cs typeface="Noto Sans" pitchFamily="34" charset="-120"/>
              </a:rPr>
              <a:t>4</a:t>
            </a:r>
            <a:endParaRPr lang="en-US" sz="2000" dirty="0"/>
          </a:p>
        </p:txBody>
      </p:sp>
      <p:sp>
        <p:nvSpPr>
          <p:cNvPr id="15" name="Text 13"/>
          <p:cNvSpPr/>
          <p:nvPr/>
        </p:nvSpPr>
        <p:spPr>
          <a:xfrm>
            <a:off x="6767830" y="2804158"/>
            <a:ext cx="4574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Servoyuritma tenglamasida Q</a:t>
            </a:r>
            <a:r>
              <a:rPr lang="en-US" sz="1400" dirty="0">
                <a:solidFill>
                  <a:srgbClr val="1D5F9E"/>
                </a:solidFill>
                <a:latin typeface="Noto Sans" pitchFamily="34" charset="0"/>
                <a:ea typeface="Noto Sans" pitchFamily="34" charset="-122"/>
                <a:cs typeface="Noto Sans" pitchFamily="34" charset="-120"/>
              </a:rPr>
              <a:t>c</a:t>
            </a:r>
            <a:r>
              <a:rPr lang="en-US" sz="1400" dirty="0">
                <a:solidFill>
                  <a:srgbClr val="17212B"/>
                </a:solidFill>
                <a:latin typeface="Noto Sans" pitchFamily="34" charset="0"/>
                <a:ea typeface="Noto Sans" pitchFamily="34" charset="-122"/>
                <a:cs typeface="Noto Sans" pitchFamily="34" charset="-120"/>
              </a:rPr>
              <a:t> va Q</a:t>
            </a:r>
            <a:r>
              <a:rPr lang="en-US" sz="1400" dirty="0">
                <a:solidFill>
                  <a:srgbClr val="1D5F9E"/>
                </a:solidFill>
                <a:latin typeface="Noto Sans" pitchFamily="34" charset="0"/>
                <a:ea typeface="Noto Sans" pitchFamily="34" charset="-122"/>
                <a:cs typeface="Noto Sans" pitchFamily="34" charset="-120"/>
              </a:rPr>
              <a:t>l</a:t>
            </a:r>
            <a:r>
              <a:rPr lang="en-US" sz="1400" dirty="0">
                <a:solidFill>
                  <a:srgbClr val="17212B"/>
                </a:solidFill>
                <a:latin typeface="Noto Sans" pitchFamily="34" charset="0"/>
                <a:ea typeface="Noto Sans" pitchFamily="34" charset="-122"/>
                <a:cs typeface="Noto Sans" pitchFamily="34" charset="-120"/>
              </a:rPr>
              <a:t> qanday hisobga olinadi?</a:t>
            </a:r>
            <a:endParaRPr lang="en-US" sz="1400" dirty="0"/>
          </a:p>
        </p:txBody>
      </p:sp>
      <p:sp>
        <p:nvSpPr>
          <p:cNvPr id="16" name="Shape 14"/>
          <p:cNvSpPr/>
          <p:nvPr/>
        </p:nvSpPr>
        <p:spPr>
          <a:xfrm>
            <a:off x="815975" y="3589660"/>
            <a:ext cx="5207000" cy="781050"/>
          </a:xfrm>
          <a:prstGeom prst="roundRect">
            <a:avLst>
              <a:gd name="adj" fmla="val 10976"/>
            </a:avLst>
          </a:prstGeom>
          <a:solidFill>
            <a:srgbClr val="FBFAF7"/>
          </a:solidFill>
          <a:ln w="6350">
            <a:solidFill>
              <a:srgbClr val="DCD7CB"/>
            </a:solidFill>
            <a:prstDash val="solid"/>
          </a:ln>
        </p:spPr>
      </p:sp>
      <p:sp>
        <p:nvSpPr>
          <p:cNvPr id="17" name="Text 15"/>
          <p:cNvSpPr/>
          <p:nvPr/>
        </p:nvSpPr>
        <p:spPr>
          <a:xfrm>
            <a:off x="982980" y="3731258"/>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C8621A"/>
                </a:solidFill>
                <a:latin typeface="Noto Sans" pitchFamily="34" charset="0"/>
                <a:ea typeface="Noto Sans" pitchFamily="34" charset="-122"/>
                <a:cs typeface="Noto Sans" pitchFamily="34" charset="-120"/>
              </a:rPr>
              <a:t>5</a:t>
            </a:r>
            <a:endParaRPr lang="en-US" sz="2000" dirty="0"/>
          </a:p>
        </p:txBody>
      </p:sp>
      <p:sp>
        <p:nvSpPr>
          <p:cNvPr id="18" name="Text 16"/>
          <p:cNvSpPr/>
          <p:nvPr/>
        </p:nvSpPr>
        <p:spPr>
          <a:xfrm>
            <a:off x="1414780" y="3731258"/>
            <a:ext cx="4574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Q</a:t>
            </a:r>
            <a:r>
              <a:rPr lang="en-US" sz="1400" dirty="0">
                <a:solidFill>
                  <a:srgbClr val="1D5F9E"/>
                </a:solidFill>
                <a:latin typeface="Noto Sans" pitchFamily="34" charset="0"/>
                <a:ea typeface="Noto Sans" pitchFamily="34" charset="-122"/>
                <a:cs typeface="Noto Sans" pitchFamily="34" charset="-120"/>
              </a:rPr>
              <a:t>nasos</a:t>
            </a:r>
            <a:r>
              <a:rPr lang="en-US" sz="1400" dirty="0">
                <a:solidFill>
                  <a:srgbClr val="17212B"/>
                </a:solidFill>
                <a:latin typeface="Noto Sans" pitchFamily="34" charset="0"/>
                <a:ea typeface="Noto Sans" pitchFamily="34" charset="-122"/>
                <a:cs typeface="Noto Sans" pitchFamily="34" charset="-120"/>
              </a:rPr>
              <a:t> va P</a:t>
            </a:r>
            <a:r>
              <a:rPr lang="en-US" sz="1400" dirty="0">
                <a:solidFill>
                  <a:srgbClr val="1D5F9E"/>
                </a:solidFill>
                <a:latin typeface="Noto Sans" pitchFamily="34" charset="0"/>
                <a:ea typeface="Noto Sans" pitchFamily="34" charset="-122"/>
                <a:cs typeface="Noto Sans" pitchFamily="34" charset="-120"/>
              </a:rPr>
              <a:t>el</a:t>
            </a:r>
            <a:r>
              <a:rPr lang="en-US" sz="1400" dirty="0">
                <a:solidFill>
                  <a:srgbClr val="17212B"/>
                </a:solidFill>
                <a:latin typeface="Noto Sans" pitchFamily="34" charset="0"/>
                <a:ea typeface="Noto Sans" pitchFamily="34" charset="-122"/>
                <a:cs typeface="Noto Sans" pitchFamily="34" charset="-120"/>
              </a:rPr>
              <a:t> formulalarini va FIK taʼsirini tushuntiring.</a:t>
            </a:r>
            <a:endParaRPr lang="en-US" sz="1400" dirty="0"/>
          </a:p>
        </p:txBody>
      </p:sp>
      <p:sp>
        <p:nvSpPr>
          <p:cNvPr id="19" name="Shape 17"/>
          <p:cNvSpPr/>
          <p:nvPr/>
        </p:nvSpPr>
        <p:spPr>
          <a:xfrm>
            <a:off x="6169025" y="3589660"/>
            <a:ext cx="5207000" cy="781050"/>
          </a:xfrm>
          <a:prstGeom prst="roundRect">
            <a:avLst>
              <a:gd name="adj" fmla="val 10976"/>
            </a:avLst>
          </a:prstGeom>
          <a:solidFill>
            <a:srgbClr val="FBFAF7"/>
          </a:solidFill>
          <a:ln w="6350">
            <a:solidFill>
              <a:srgbClr val="DCD7CB"/>
            </a:solidFill>
            <a:prstDash val="solid"/>
          </a:ln>
        </p:spPr>
      </p:sp>
      <p:sp>
        <p:nvSpPr>
          <p:cNvPr id="20" name="Text 18"/>
          <p:cNvSpPr/>
          <p:nvPr/>
        </p:nvSpPr>
        <p:spPr>
          <a:xfrm>
            <a:off x="6336030" y="3731258"/>
            <a:ext cx="3556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C8621A"/>
                </a:solidFill>
                <a:latin typeface="Noto Sans" pitchFamily="34" charset="0"/>
                <a:ea typeface="Noto Sans" pitchFamily="34" charset="-122"/>
                <a:cs typeface="Noto Sans" pitchFamily="34" charset="-120"/>
              </a:rPr>
              <a:t>6</a:t>
            </a:r>
            <a:endParaRPr lang="en-US" sz="2000" dirty="0"/>
          </a:p>
        </p:txBody>
      </p:sp>
      <p:sp>
        <p:nvSpPr>
          <p:cNvPr id="21" name="Text 19"/>
          <p:cNvSpPr/>
          <p:nvPr/>
        </p:nvSpPr>
        <p:spPr>
          <a:xfrm>
            <a:off x="6767830" y="3731258"/>
            <a:ext cx="457442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12B"/>
                </a:solidFill>
                <a:latin typeface="Noto Sans" pitchFamily="34" charset="0"/>
                <a:ea typeface="Noto Sans" pitchFamily="34" charset="-122"/>
                <a:cs typeface="Noto Sans" pitchFamily="34" charset="-120"/>
              </a:rPr>
              <a:t>Hisoblangan va standart parametrlar nima uchun farq qiladi?</a:t>
            </a:r>
            <a:endParaRPr lang="en-US" sz="1400" dirty="0"/>
          </a:p>
        </p:txBody>
      </p:sp>
      <p:sp>
        <p:nvSpPr>
          <p:cNvPr id="22" name="Text 20"/>
          <p:cNvSpPr/>
          <p:nvPr/>
        </p:nvSpPr>
        <p:spPr>
          <a:xfrm>
            <a:off x="812800" y="6238242"/>
            <a:ext cx="5854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16D"/>
                </a:solidFill>
                <a:latin typeface="Noto Sans" pitchFamily="34" charset="0"/>
                <a:ea typeface="Noto Sans" pitchFamily="34" charset="-122"/>
                <a:cs typeface="Noto Sans" pitchFamily="34" charset="-120"/>
              </a:rPr>
              <a:t>Mexatron modul va robotlarning yuritmalari · Amaliy mashgʻulot №3</a:t>
            </a:r>
            <a:endParaRPr lang="en-US" sz="1200" dirty="0"/>
          </a:p>
        </p:txBody>
      </p:sp>
      <p:sp>
        <p:nvSpPr>
          <p:cNvPr id="23" name="Text 21"/>
          <p:cNvSpPr/>
          <p:nvPr/>
        </p:nvSpPr>
        <p:spPr>
          <a:xfrm>
            <a:off x="11153987" y="6238242"/>
            <a:ext cx="22521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16D"/>
                </a:solidFill>
                <a:latin typeface="Noto Sans" pitchFamily="34" charset="0"/>
                <a:ea typeface="Noto Sans" pitchFamily="34" charset="-122"/>
                <a:cs typeface="Noto Sans" pitchFamily="34" charset="-120"/>
              </a:rPr>
              <a:t>18</a:t>
            </a:r>
            <a:endParaRPr lang="en-US" sz="1200" dirty="0"/>
          </a:p>
        </p:txBody>
      </p:sp>
    </p:spTree>
  </p:cSld>
  <p:clrMapOvr>
    <a:masterClrMapping/>
  </p:clrMapOvr>
</p:sld>
</file>

<file path=ppt/theme/theme1.xml><?xml version="1.0" encoding="utf-8"?>
<a:theme xmlns:a="http://schemas.openxmlformats.org/drawingml/2006/main" name="Mexatron modul va robotlarning gidravlik yuritmalarini hisoblash">
  <a:themeElements>
    <a:clrScheme name="Mexatron modul va robotlarning gidravlik yuritmalarini hisoblash">
      <a:dk1>
        <a:srgbClr val="17212B"/>
      </a:dk1>
      <a:lt1>
        <a:srgbClr val="F3F1EB"/>
      </a:lt1>
      <a:dk2>
        <a:srgbClr val="4E555B"/>
      </a:dk2>
      <a:lt2>
        <a:srgbClr val="DDDCD8"/>
      </a:lt2>
      <a:accent1>
        <a:srgbClr val="A84F12"/>
      </a:accent1>
      <a:accent2>
        <a:srgbClr val="1D5F9E"/>
      </a:accent2>
      <a:accent3>
        <a:srgbClr val="C8621A"/>
      </a:accent3>
      <a:accent4>
        <a:srgbClr val="1E3147"/>
      </a:accent4>
      <a:accent5>
        <a:srgbClr val="F08A3C"/>
      </a:accent5>
      <a:accent6>
        <a:srgbClr val="C0504D"/>
      </a:accent6>
      <a:hlink>
        <a:srgbClr val="0563C1"/>
      </a:hlink>
      <a:folHlink>
        <a:srgbClr val="954F72"/>
      </a:folHlink>
    </a:clrScheme>
    <a:fontScheme name="Mexatron modul va robotlarning gidravlik yuritmalarini hisoblash">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Mexatron modul va robotlarning gidravlik yuritmalarini hisoblash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Noto Sans
Copyright 2022 The Noto Project Authors (https://github.com/notofonts/latin-greek-cyrillic)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2026-10-26T07:35:11Z</dcterms:created>
  <dcterms:modified xsi:type="dcterms:W3CDTF">2026-10-26T07:35:11Z</dcterms:modified>
</cp:coreProperties>
</file>