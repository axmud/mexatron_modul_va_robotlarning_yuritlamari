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Tajriba mashgʻuloti №2 uchun taqdimot. Toʻliq uslubiy koʻrsatma tajriba_2 hujjatida: nazariya, stend, uchta topshiriq, namunaviy natijalar va hisob.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Mashgʻulot oxirida talaba toʻrtta natijaga ega boʻladi: statik kuch va FIK, ikki bosimdagi yuklama xarakteristikalari, drossel modeli va optimal yuklanish oraligʻi.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Grafik ISO 6358 modeli boʻyicha D = 25 mm, d = 10 mm, b = 0,3, C = 1,231·10⁻⁹ m³/(s·Pa), F_ishq = 15 N uchun hisoblangan. Ikkala bosimda plato bir xil tezlikda, lekin 6 bar da kattaroq yuklamagacha saqlanadi.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Kuchlar muvozanati manometrik bosimlarda aniq yoziladi: atmosfera bosimining shtokka taʼsiri avtomatik hisobga olinadi. Statik kuch tezlik nolga teng boʻlgan nuqta — xarakteristikaning oxirgi nuqtasi.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Meter-out sxemasida porshen tezligi shtok tomonidagi kameradan drossel orqali chiqayotgan havo bilan aniqlanadi. Izotermik farazda chiqayotgan hajmiy sarf Q₂ = C·P₀·φ boʻladi va bosimga bogʻliq emas.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Birinchi xulosa Parr kitobidagi qoidaning miqdoriy ifodasi: bosim tezlikka emas, tezlanishga taʼsir qiladi. Kritik yuklamadan keyin oqim kritik boʻlmagan rejimga oʻtadi va tezlik keskin tushadi. 6 bar uchun F_kr = 182 N, 4 bar uchun 83,9 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Y1 yoqilganda havo porshen tomoniga keladi, shtok tomonidagi havo drossel orqali atmosferaga chiqadi. Silindr: D = 25 mm, d = 10 mm, S = 200 mm, harakatlanuvchi qismlar massasi m₀ = 1,5 kg.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Natijalarni qayta ishlash uchun Python 3 (numpy, matplotlib) kerak boʻladi.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Eng muhim qoida: 2- va 3-topshiriqlarda drossel sozlanishi bir xil boʻlishi kerak, aks holda ikki bosimdagi xarakteristikalarni solishtirib boʻlmaydi.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Ishqalanish kuchi bosimga deyarli bogʻliq emas, shuning uchun bosim ortishi bilan uning nisbiy ulushi kamayadi va η_m oshadi. Oʻrtacha F_ishq = (15,0 + 14,6 + 15,4)/3 = 15,0 N; F_max(6 bar) = 294,5 − 15,0 = 279,5 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Jadvallarning toʻliq shaklida yuk massasi m, vaqt t, quvvat N va yuklama koeffitsiyenti χ ham bor (uslubiy koʻrsatmadagi 2- va 3-jadval). Kichik yuklamalarda p₂ &gt; p₁ ekaniga eʼtibor bering.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F_max yaqinida p₂ juda kichik, shuning uchun p₁ ning ozgina pasayishi ham tezlikka sezilarli taʼsir qiladi. Talabalardan boshqa sabablarni ham soʻrang: ishqalanishning tezlikka bogʻliqligi, issiqlik almashinuvi.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Hisoblangan p₂ P2 datchigi koʻrsatkichi bilan mos keladi — bu oʻlchovlar toʻgʻriligining tekshiruvi. C plato nuqtalaridan, F_kr esa b = 0,3 qiymati bilan topiladi.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Kichik yuklamada tezlik katta, kuch kichik; F_max yaqinida aksincha. Shu sababli quvvat oraliq yuklamada maksimumga erishadi. χ = 0,5…0,8 tavsiyasi amaliyotda qabul qilingan qiymat: bu oraliqda tezlik barqaror va quvvat yuqori.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Grafiklarni uslubiy koʻrsatmadagi Python dasturi bilan qurish mumkin: u C ni hisoblaydi va tajriba nuqtalarini model bilan bitta grafikda koʻrsatadi.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Tayanch javoblar: 2 — chiqish sarfi Q₂ = C·P₀ bosimga bogʻliq emas; 4 — A₂ &lt; A₁; 5 — ishqalanish deyarli oʻzgarmas, nisbiy ulushi kamayadi; 6 — kuch va tezlik koʻpaytmasi oraliq nuqtada eng katta.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body">
    <p:bg>
      <p:bgPr>
        <a:solidFill>
          <a:srgbClr val="F3F1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/>
          <p:nvPr>
            <p:ph type="title"/>
          </p:nvPr>
        </p:nvSpPr>
        <p:spPr>
          <a:xfrm>
            <a:off x="812800" y="1102358"/>
            <a:ext cx="1056640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15000"/>
              </a:lnSpc>
              <a:buNone/>
              <a:defRPr lang="en-US" sz="3000" dirty="0">
                <a:solidFill>
                  <a:srgbClr val="17212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defRPr>
            </a:lvl1pPr>
          </a:lstStyle>
          <a:p>
            <a:pPr algn="l" indent="0" marL="0">
              <a:lnSpc>
                <a:spcPct val="115000"/>
              </a:lnSpc>
              <a:buNone/>
            </a:pPr>
            <a:endParaRPr lang="en-US" sz="3000" dirty="0"/>
          </a:p>
        </p:txBody>
      </p:sp>
      <p:sp>
        <p:nvSpPr>
          <p:cNvPr id="3" name="Text Placeholder 2"/>
          <p:cNvSpPr/>
          <p:nvPr>
            <p:ph idx="101" type="body"/>
          </p:nvPr>
        </p:nvSpPr>
        <p:spPr>
          <a:xfrm>
            <a:off x="812800" y="1833878"/>
            <a:ext cx="10566400" cy="42113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40000"/>
              </a:lnSpc>
              <a:buNone/>
              <a:defRPr lang="en-US" sz="1600" dirty="0">
                <a:solidFill>
                  <a:srgbClr val="17212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defRPr>
            </a:lvl1pPr>
          </a:lstStyle>
          <a:p>
            <a:pPr algn="l" indent="0" marL="0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1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/>
          <p:nvPr>
            <p:ph type="title"/>
          </p:nvPr>
        </p:nvSpPr>
        <p:spPr>
          <a:xfrm>
            <a:off x="812800" y="1102358"/>
            <a:ext cx="1056640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15000"/>
              </a:lnSpc>
              <a:buNone/>
              <a:defRPr lang="en-US" sz="3000" dirty="0">
                <a:solidFill>
                  <a:srgbClr val="17212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defRPr>
            </a:lvl1pPr>
          </a:lstStyle>
          <a:p>
            <a:pPr algn="l" indent="0" marL="0">
              <a:lnSpc>
                <a:spcPct val="115000"/>
              </a:lnSpc>
              <a:buNone/>
            </a:pPr>
            <a:endParaRPr lang="en-US" sz="3000" dirty="0"/>
          </a:p>
        </p:txBody>
      </p:sp>
      <p:sp>
        <p:nvSpPr>
          <p:cNvPr id="3" name="Text Placeholder 2"/>
          <p:cNvSpPr/>
          <p:nvPr>
            <p:ph idx="101" type="body"/>
          </p:nvPr>
        </p:nvSpPr>
        <p:spPr>
          <a:xfrm>
            <a:off x="812800" y="1833878"/>
            <a:ext cx="10566400" cy="42113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40000"/>
              </a:lnSpc>
              <a:buNone/>
              <a:defRPr lang="en-US" sz="1600" dirty="0">
                <a:solidFill>
                  <a:srgbClr val="17212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defRPr>
            </a:lvl1pPr>
          </a:lstStyle>
          <a:p>
            <a:pPr algn="l" indent="0" marL="0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21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spc="200" kern="0" dirty="0">
                <a:solidFill>
                  <a:srgbClr val="F08A3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TAJRIBA MASHGʻULOTI №2</a:t>
            </a:r>
            <a:endParaRPr lang="en-US" sz="14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264920"/>
            <a:ext cx="10883392" cy="1254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840"/>
              </a:lnSpc>
              <a:buNone/>
            </a:pPr>
            <a:r>
              <a:rPr lang="en-US" sz="4400" b="1" i="0" dirty="0">
                <a:solidFill>
                  <a:srgbClr val="F1EEE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Pnevmoyuritma yuklama xarakteristikasini aniqlash</a:t>
            </a:r>
            <a:endParaRPr lang="en-US" sz="4400" dirty="0"/>
          </a:p>
        </p:txBody>
      </p:sp>
      <p:sp>
        <p:nvSpPr>
          <p:cNvPr id="4" name="Shape 2"/>
          <p:cNvSpPr/>
          <p:nvPr/>
        </p:nvSpPr>
        <p:spPr>
          <a:xfrm>
            <a:off x="812800" y="2697480"/>
            <a:ext cx="1016000" cy="50800"/>
          </a:xfrm>
          <a:prstGeom prst="roundRect">
            <a:avLst>
              <a:gd name="adj" fmla="val 50000"/>
            </a:avLst>
          </a:prstGeom>
          <a:solidFill>
            <a:srgbClr val="F08A3C"/>
          </a:solidFill>
          <a:ln/>
        </p:spPr>
      </p:sp>
      <p:sp>
        <p:nvSpPr>
          <p:cNvPr id="5" name="Text 3"/>
          <p:cNvSpPr/>
          <p:nvPr/>
        </p:nvSpPr>
        <p:spPr>
          <a:xfrm>
            <a:off x="812800" y="5496560"/>
            <a:ext cx="4523955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00" kern="0" dirty="0">
                <a:solidFill>
                  <a:srgbClr val="9FB0C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FAN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12800" y="5760720"/>
            <a:ext cx="5001789" cy="309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F1EEE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Mexatron modul va robotlarning yuritmalari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814589" y="5496560"/>
            <a:ext cx="2678989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00" kern="0" dirty="0">
                <a:solidFill>
                  <a:srgbClr val="9FB0C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NATIJA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814589" y="5760720"/>
            <a:ext cx="3121152" cy="309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F1EEE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v = f(F</a:t>
            </a:r>
            <a:r>
              <a:rPr lang="en-US" sz="1600" b="1" dirty="0">
                <a:solidFill>
                  <a:srgbClr val="F08A3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yuk</a:t>
            </a:r>
            <a:r>
              <a:rPr lang="en-US" sz="1600" b="1" dirty="0">
                <a:solidFill>
                  <a:srgbClr val="F1EEE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) xarakteristikasi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F1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A84F1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KIRISH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02360"/>
            <a:ext cx="10883392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360"/>
              </a:lnSpc>
              <a:buNone/>
            </a:pPr>
            <a:r>
              <a:rPr lang="en-US" sz="3000" b="1" i="0" dirty="0">
                <a:solidFill>
                  <a:srgbClr val="17212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Ishning maqsadi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812800" y="1732280"/>
            <a:ext cx="10883392" cy="629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380"/>
              </a:lnSpc>
              <a:buNone/>
            </a:pPr>
            <a:r>
              <a:rPr lang="en-US" sz="1700" dirty="0">
                <a:solidFill>
                  <a:srgbClr val="17212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Pnevmosilindr porshenining harakat tezligi bilan unga taʼsir etuvchi tashqi yuklama orasidagi bogʻliqlikni — yuklama xarakteristikasini — tajriba yoʻli bilan aniqlash.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815975" y="2543175"/>
            <a:ext cx="2520950" cy="1830070"/>
          </a:xfrm>
          <a:prstGeom prst="roundRect">
            <a:avLst>
              <a:gd name="adj" fmla="val 4684"/>
            </a:avLst>
          </a:prstGeom>
          <a:solidFill>
            <a:srgbClr val="FBFAF7"/>
          </a:solidFill>
          <a:ln w="6350">
            <a:solidFill>
              <a:srgbClr val="DCD7C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8380" y="2735580"/>
            <a:ext cx="2200224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000" b="1" dirty="0">
                <a:solidFill>
                  <a:srgbClr val="C8621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01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008380" y="3167380"/>
            <a:ext cx="2200224" cy="269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7212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Statik kuch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08380" y="3487420"/>
            <a:ext cx="2200224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56616D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Fₛₜ, ishqalanish kuchi va mexanik FIK ni oʻlchash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495675" y="2543175"/>
            <a:ext cx="2520950" cy="1830070"/>
          </a:xfrm>
          <a:prstGeom prst="roundRect">
            <a:avLst>
              <a:gd name="adj" fmla="val 4684"/>
            </a:avLst>
          </a:prstGeom>
          <a:solidFill>
            <a:srgbClr val="FBFAF7"/>
          </a:solidFill>
          <a:ln w="6350">
            <a:solidFill>
              <a:srgbClr val="DCD7C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88080" y="2735580"/>
            <a:ext cx="2200224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000" b="1" dirty="0">
                <a:solidFill>
                  <a:srgbClr val="C8621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02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3688080" y="3167380"/>
            <a:ext cx="2200224" cy="269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7212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Xarakteristika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688080" y="3487420"/>
            <a:ext cx="2200224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56616D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4 va 6 bar da v = f(F) va p₂ = f(F) ni qurish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175375" y="2543175"/>
            <a:ext cx="2520950" cy="1830070"/>
          </a:xfrm>
          <a:prstGeom prst="roundRect">
            <a:avLst>
              <a:gd name="adj" fmla="val 4684"/>
            </a:avLst>
          </a:prstGeom>
          <a:solidFill>
            <a:srgbClr val="FBFAF7"/>
          </a:solidFill>
          <a:ln w="6350">
            <a:solidFill>
              <a:srgbClr val="DCD7C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67780" y="2735580"/>
            <a:ext cx="2200224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000" b="1" dirty="0">
                <a:solidFill>
                  <a:srgbClr val="C8621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03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6367780" y="3167380"/>
            <a:ext cx="2200224" cy="269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7212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Model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367780" y="3487420"/>
            <a:ext cx="2200224" cy="7188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56616D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Drossel oʻtkazuvchanligi C ni topib, ISO 6358 modeli bilan solishtirish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8855075" y="2543175"/>
            <a:ext cx="2520950" cy="1830070"/>
          </a:xfrm>
          <a:prstGeom prst="roundRect">
            <a:avLst>
              <a:gd name="adj" fmla="val 4684"/>
            </a:avLst>
          </a:prstGeom>
          <a:solidFill>
            <a:srgbClr val="FBFAF7"/>
          </a:solidFill>
          <a:ln w="6350">
            <a:solidFill>
              <a:srgbClr val="DCD7C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047480" y="2735580"/>
            <a:ext cx="2200224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000" b="1" dirty="0">
                <a:solidFill>
                  <a:srgbClr val="C8621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04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9047480" y="3167380"/>
            <a:ext cx="2200224" cy="269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7212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Optimal rejim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9047480" y="3487420"/>
            <a:ext cx="2200224" cy="7188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56616D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N = f(F) boʻyicha optimal yuklanish oraligʻini baholash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812800" y="6235700"/>
            <a:ext cx="5898388" cy="2413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6616D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Mexatron modul va robotlarning yuritmalari · Tajriba mashgʻuloti №2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1241193" y="6235700"/>
            <a:ext cx="138007" cy="2413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6616D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2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3F1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A84F1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NAZARIY ASOSLAR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02361"/>
            <a:ext cx="10883392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360"/>
              </a:lnSpc>
              <a:buNone/>
            </a:pPr>
            <a:r>
              <a:rPr lang="en-US" sz="3000" b="1" i="0" dirty="0">
                <a:solidFill>
                  <a:srgbClr val="17212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Yuklama xarakteristikasi nima?</a:t>
            </a:r>
            <a:endParaRPr lang="en-US" sz="3000" dirty="0"/>
          </a:p>
        </p:txBody>
      </p:sp>
      <p:pic>
        <p:nvPicPr>
          <p:cNvPr id="4" name="Image 0" descr="grafik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12800" y="1732280"/>
            <a:ext cx="6350000" cy="39370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104900" y="5161280"/>
            <a:ext cx="6858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6616D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0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2038350" y="5161280"/>
            <a:ext cx="6858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6616D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50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2965450" y="5161280"/>
            <a:ext cx="6858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6616D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100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3898900" y="5161280"/>
            <a:ext cx="6858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6616D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150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4832350" y="5161280"/>
            <a:ext cx="6858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6616D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200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5759450" y="5161280"/>
            <a:ext cx="6858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6616D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250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6692900" y="5161280"/>
            <a:ext cx="6858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6616D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300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762000" y="4989830"/>
            <a:ext cx="6096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6616D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0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762000" y="4564380"/>
            <a:ext cx="6096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6616D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0,05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762000" y="4138930"/>
            <a:ext cx="6096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6616D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0,1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762000" y="3713480"/>
            <a:ext cx="6096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6616D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0,15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762000" y="3281680"/>
            <a:ext cx="6096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6616D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0,2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762000" y="2856230"/>
            <a:ext cx="6096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6616D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0,25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762000" y="2430780"/>
            <a:ext cx="6096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6616D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0,3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762000" y="2005330"/>
            <a:ext cx="6096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6616D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0,35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1363980" y="5415280"/>
            <a:ext cx="5755640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17212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Fyuk, N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1511300" y="1757680"/>
            <a:ext cx="1962150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17212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v, m/s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3060700" y="3649980"/>
            <a:ext cx="13208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C0504D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Fₖᵣ (4 bar)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4889500" y="3649980"/>
            <a:ext cx="13208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D5F9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Fₖᵣ (6 bar)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1822450" y="2233930"/>
            <a:ext cx="274701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7212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plato: v = C·P₀ / A₂</a:t>
            </a:r>
            <a:endParaRPr lang="en-US" sz="1200" dirty="0"/>
          </a:p>
        </p:txBody>
      </p:sp>
      <p:sp>
        <p:nvSpPr>
          <p:cNvPr id="25" name="Text 22"/>
          <p:cNvSpPr/>
          <p:nvPr/>
        </p:nvSpPr>
        <p:spPr>
          <a:xfrm>
            <a:off x="7416800" y="1732280"/>
            <a:ext cx="4081272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7212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Taʼrif:</a:t>
            </a:r>
            <a:r>
              <a:rPr lang="en-US" sz="1500" dirty="0">
                <a:solidFill>
                  <a:srgbClr val="17212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p</a:t>
            </a:r>
            <a:r>
              <a:rPr lang="en-US" sz="1500" dirty="0">
                <a:solidFill>
                  <a:srgbClr val="1D5F9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</a:t>
            </a:r>
            <a:r>
              <a:rPr lang="en-US" sz="1500" dirty="0">
                <a:solidFill>
                  <a:srgbClr val="17212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= const va drossel sozlanishi oʻzgarmas boʻlganda porshen tezligi v ning yuklama F</a:t>
            </a:r>
            <a:r>
              <a:rPr lang="en-US" sz="1500" dirty="0">
                <a:solidFill>
                  <a:srgbClr val="1D5F9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yuk</a:t>
            </a:r>
            <a:r>
              <a:rPr lang="en-US" sz="1500" dirty="0">
                <a:solidFill>
                  <a:srgbClr val="17212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ga bogʻliqligi.</a:t>
            </a:r>
            <a:endParaRPr lang="en-US" sz="1500" dirty="0"/>
          </a:p>
        </p:txBody>
      </p:sp>
      <p:sp>
        <p:nvSpPr>
          <p:cNvPr id="26" name="Shape 23"/>
          <p:cNvSpPr/>
          <p:nvPr/>
        </p:nvSpPr>
        <p:spPr>
          <a:xfrm>
            <a:off x="7416800" y="2755900"/>
            <a:ext cx="304800" cy="38100"/>
          </a:xfrm>
          <a:prstGeom prst="rect">
            <a:avLst/>
          </a:prstGeom>
          <a:solidFill>
            <a:srgbClr val="1D5F9E"/>
          </a:solidFill>
          <a:ln/>
        </p:spPr>
      </p:sp>
      <p:sp>
        <p:nvSpPr>
          <p:cNvPr id="27" name="Text 24"/>
          <p:cNvSpPr/>
          <p:nvPr/>
        </p:nvSpPr>
        <p:spPr>
          <a:xfrm>
            <a:off x="7810500" y="2659380"/>
            <a:ext cx="912622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17212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</a:t>
            </a:r>
            <a:r>
              <a:rPr lang="en-US" sz="1300" dirty="0">
                <a:solidFill>
                  <a:srgbClr val="1D5F9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</a:t>
            </a:r>
            <a:r>
              <a:rPr lang="en-US" sz="1300" dirty="0">
                <a:solidFill>
                  <a:srgbClr val="17212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= 6 bar</a:t>
            </a:r>
            <a:endParaRPr lang="en-US" sz="1300" dirty="0"/>
          </a:p>
        </p:txBody>
      </p:sp>
      <p:sp>
        <p:nvSpPr>
          <p:cNvPr id="28" name="Shape 25"/>
          <p:cNvSpPr/>
          <p:nvPr/>
        </p:nvSpPr>
        <p:spPr>
          <a:xfrm>
            <a:off x="7416800" y="3114039"/>
            <a:ext cx="304800" cy="38100"/>
          </a:xfrm>
          <a:prstGeom prst="rect">
            <a:avLst/>
          </a:prstGeom>
          <a:solidFill>
            <a:srgbClr val="C0504D"/>
          </a:solidFill>
          <a:ln/>
        </p:spPr>
      </p:sp>
      <p:sp>
        <p:nvSpPr>
          <p:cNvPr id="29" name="Text 26"/>
          <p:cNvSpPr/>
          <p:nvPr/>
        </p:nvSpPr>
        <p:spPr>
          <a:xfrm>
            <a:off x="7810500" y="3017520"/>
            <a:ext cx="912622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17212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</a:t>
            </a:r>
            <a:r>
              <a:rPr lang="en-US" sz="1300" dirty="0">
                <a:solidFill>
                  <a:srgbClr val="1D5F9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</a:t>
            </a:r>
            <a:r>
              <a:rPr lang="en-US" sz="1300" dirty="0">
                <a:solidFill>
                  <a:srgbClr val="17212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= 4 bar</a:t>
            </a:r>
            <a:endParaRPr lang="en-US" sz="1300" dirty="0"/>
          </a:p>
        </p:txBody>
      </p:sp>
      <p:sp>
        <p:nvSpPr>
          <p:cNvPr id="30" name="Text 27"/>
          <p:cNvSpPr/>
          <p:nvPr/>
        </p:nvSpPr>
        <p:spPr>
          <a:xfrm>
            <a:off x="7416800" y="3375661"/>
            <a:ext cx="4081272" cy="665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6616D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Elektr yuritmaning mexanik xarakteristikasiga oʻxshab, qaysi yuklamada qanday tezlik boʻlishini va yuritma qayerda toʻxtashini koʻrsatadi.</a:t>
            </a:r>
            <a:endParaRPr lang="en-US" sz="1200" dirty="0"/>
          </a:p>
        </p:txBody>
      </p:sp>
      <p:sp>
        <p:nvSpPr>
          <p:cNvPr id="31" name="Text 28"/>
          <p:cNvSpPr/>
          <p:nvPr/>
        </p:nvSpPr>
        <p:spPr>
          <a:xfrm>
            <a:off x="812800" y="6235700"/>
            <a:ext cx="5898388" cy="2413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6616D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Mexatron modul va robotlarning yuritmalari · Tajriba mashgʻuloti №2</a:t>
            </a:r>
            <a:endParaRPr lang="en-US" sz="1200" dirty="0"/>
          </a:p>
        </p:txBody>
      </p:sp>
      <p:sp>
        <p:nvSpPr>
          <p:cNvPr id="32" name="Text 29"/>
          <p:cNvSpPr/>
          <p:nvPr/>
        </p:nvSpPr>
        <p:spPr>
          <a:xfrm>
            <a:off x="11241193" y="6235700"/>
            <a:ext cx="138007" cy="2413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6616D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3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3F1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A84F1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NAZARIY ASOSLAR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02361"/>
            <a:ext cx="10883392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360"/>
              </a:lnSpc>
              <a:buNone/>
            </a:pPr>
            <a:r>
              <a:rPr lang="en-US" sz="3000" b="1" i="0" dirty="0">
                <a:solidFill>
                  <a:srgbClr val="17212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Kuchlar muvozanati va statik kuch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15975" y="1735455"/>
            <a:ext cx="5200650" cy="1101090"/>
          </a:xfrm>
          <a:prstGeom prst="roundRect">
            <a:avLst>
              <a:gd name="adj" fmla="val 7785"/>
            </a:avLst>
          </a:prstGeom>
          <a:solidFill>
            <a:srgbClr val="FBFAF7"/>
          </a:solidFill>
          <a:ln w="6350">
            <a:solidFill>
              <a:srgbClr val="DCD7C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08380" y="1877061"/>
            <a:ext cx="4960315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A84F1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PORSHEN YUZALARI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008380" y="2141220"/>
            <a:ext cx="4960315" cy="3225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340"/>
              </a:lnSpc>
              <a:buNone/>
            </a:pPr>
            <a:r>
              <a:rPr lang="en-US" sz="1800" b="1" dirty="0">
                <a:solidFill>
                  <a:srgbClr val="17212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A₁ = π·D² / 4, A₂ = π·(D² − d²) / 4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175375" y="1735455"/>
            <a:ext cx="5200650" cy="1101090"/>
          </a:xfrm>
          <a:prstGeom prst="roundRect">
            <a:avLst>
              <a:gd name="adj" fmla="val 7785"/>
            </a:avLst>
          </a:prstGeom>
          <a:solidFill>
            <a:srgbClr val="FBFAF7"/>
          </a:solidFill>
          <a:ln w="6350">
            <a:solidFill>
              <a:srgbClr val="DCD7C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367780" y="1877061"/>
            <a:ext cx="4960315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A84F1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BARQAROR HARAKAT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367780" y="2141220"/>
            <a:ext cx="4960315" cy="3225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340"/>
              </a:lnSpc>
              <a:buNone/>
            </a:pPr>
            <a:r>
              <a:rPr lang="en-US" sz="1800" b="1" dirty="0">
                <a:solidFill>
                  <a:srgbClr val="17212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p₁·A₁ − p₂·A₂ = F</a:t>
            </a:r>
            <a:r>
              <a:rPr lang="en-US" sz="1800" b="1" dirty="0">
                <a:solidFill>
                  <a:srgbClr val="1D5F9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yuk</a:t>
            </a:r>
            <a:r>
              <a:rPr lang="en-US" sz="1800" b="1" dirty="0">
                <a:solidFill>
                  <a:srgbClr val="17212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+ F</a:t>
            </a:r>
            <a:r>
              <a:rPr lang="en-US" sz="1800" b="1" dirty="0">
                <a:solidFill>
                  <a:srgbClr val="1D5F9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ishq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367780" y="2489200"/>
            <a:ext cx="4960315" cy="2311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56616D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p₁, p₂ — manometrik bosimlar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815975" y="2995295"/>
            <a:ext cx="5200650" cy="1101090"/>
          </a:xfrm>
          <a:prstGeom prst="roundRect">
            <a:avLst>
              <a:gd name="adj" fmla="val 7785"/>
            </a:avLst>
          </a:prstGeom>
          <a:solidFill>
            <a:srgbClr val="FBFAF7"/>
          </a:solidFill>
          <a:ln w="6350">
            <a:solidFill>
              <a:srgbClr val="DCD7C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08380" y="3136900"/>
            <a:ext cx="4960315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A84F1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STATIK (MAKSIMAL) KUCH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008380" y="3401061"/>
            <a:ext cx="4960315" cy="3225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340"/>
              </a:lnSpc>
              <a:buNone/>
            </a:pPr>
            <a:r>
              <a:rPr lang="en-US" sz="1800" b="1" dirty="0">
                <a:solidFill>
                  <a:srgbClr val="17212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F</a:t>
            </a:r>
            <a:r>
              <a:rPr lang="en-US" sz="1800" b="1" dirty="0">
                <a:solidFill>
                  <a:srgbClr val="1D5F9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st</a:t>
            </a:r>
            <a:r>
              <a:rPr lang="en-US" sz="1800" b="1" dirty="0">
                <a:solidFill>
                  <a:srgbClr val="17212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= p</a:t>
            </a:r>
            <a:r>
              <a:rPr lang="en-US" sz="1800" b="1" dirty="0">
                <a:solidFill>
                  <a:srgbClr val="1D5F9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</a:t>
            </a:r>
            <a:r>
              <a:rPr lang="en-US" sz="1800" b="1" dirty="0">
                <a:solidFill>
                  <a:srgbClr val="17212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·A₁ − F</a:t>
            </a:r>
            <a:r>
              <a:rPr lang="en-US" sz="1800" b="1" dirty="0">
                <a:solidFill>
                  <a:srgbClr val="1D5F9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ishq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008380" y="3749039"/>
            <a:ext cx="4960315" cy="2311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56616D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Shtok toʻsiqqa tiralgan: p₂ = 0, v = 0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175375" y="2995295"/>
            <a:ext cx="5200650" cy="1101090"/>
          </a:xfrm>
          <a:prstGeom prst="roundRect">
            <a:avLst>
              <a:gd name="adj" fmla="val 7785"/>
            </a:avLst>
          </a:prstGeom>
          <a:solidFill>
            <a:srgbClr val="FBFAF7"/>
          </a:solidFill>
          <a:ln w="6350">
            <a:solidFill>
              <a:srgbClr val="DCD7C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367780" y="3136900"/>
            <a:ext cx="4960315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A84F1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MEXANIK FIK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367780" y="3401061"/>
            <a:ext cx="4960315" cy="3225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340"/>
              </a:lnSpc>
              <a:buNone/>
            </a:pPr>
            <a:r>
              <a:rPr lang="en-US" sz="1800" b="1" dirty="0">
                <a:solidFill>
                  <a:srgbClr val="17212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η</a:t>
            </a:r>
            <a:r>
              <a:rPr lang="en-US" sz="1800" b="1" dirty="0">
                <a:solidFill>
                  <a:srgbClr val="1D5F9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</a:t>
            </a:r>
            <a:r>
              <a:rPr lang="en-US" sz="1800" b="1" dirty="0">
                <a:solidFill>
                  <a:srgbClr val="17212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= F</a:t>
            </a:r>
            <a:r>
              <a:rPr lang="en-US" sz="1800" b="1" dirty="0">
                <a:solidFill>
                  <a:srgbClr val="1D5F9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st</a:t>
            </a:r>
            <a:r>
              <a:rPr lang="en-US" sz="1800" b="1" dirty="0">
                <a:solidFill>
                  <a:srgbClr val="17212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/ (p</a:t>
            </a:r>
            <a:r>
              <a:rPr lang="en-US" sz="1800" b="1" dirty="0">
                <a:solidFill>
                  <a:srgbClr val="1D5F9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</a:t>
            </a:r>
            <a:r>
              <a:rPr lang="en-US" sz="1800" b="1" dirty="0">
                <a:solidFill>
                  <a:srgbClr val="17212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·A₁)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6367780" y="3749039"/>
            <a:ext cx="4960315" cy="2311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56616D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Yuklama xarakteristikasida Fₛₜ = Fₘₐₓ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812800" y="6235700"/>
            <a:ext cx="5898388" cy="2413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6616D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Mexatron modul va robotlarning yuritmalari · Tajriba mashgʻuloti №2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1241193" y="6235700"/>
            <a:ext cx="138007" cy="2413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6616D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4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3F1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A84F1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NAZARIY ASOSLAR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02361"/>
            <a:ext cx="10883392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360"/>
              </a:lnSpc>
              <a:buNone/>
            </a:pPr>
            <a:r>
              <a:rPr lang="en-US" sz="3000" b="1" i="0" dirty="0">
                <a:solidFill>
                  <a:srgbClr val="17212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Chiqishni drossellashda porshen tezligi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15975" y="1735454"/>
            <a:ext cx="5525241" cy="828040"/>
          </a:xfrm>
          <a:prstGeom prst="roundRect">
            <a:avLst>
              <a:gd name="adj" fmla="val 10353"/>
            </a:avLst>
          </a:prstGeom>
          <a:solidFill>
            <a:srgbClr val="FBFAF7"/>
          </a:solidFill>
          <a:ln w="6350">
            <a:solidFill>
              <a:srgbClr val="DCD7C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08380" y="1877061"/>
            <a:ext cx="5294644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A84F1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ISO 6358: MASSAVIY SARF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008380" y="2141221"/>
            <a:ext cx="5294644" cy="3060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10"/>
              </a:lnSpc>
              <a:buNone/>
            </a:pPr>
            <a:r>
              <a:rPr lang="en-US" sz="1700" b="1" dirty="0">
                <a:solidFill>
                  <a:srgbClr val="17212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qₘ = C · p₂ᵃᵇˢ · ρ₀ · √(T₀/T) · φ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815975" y="2696846"/>
            <a:ext cx="5525241" cy="1042670"/>
          </a:xfrm>
          <a:prstGeom prst="roundRect">
            <a:avLst>
              <a:gd name="adj" fmla="val 8222"/>
            </a:avLst>
          </a:prstGeom>
          <a:solidFill>
            <a:srgbClr val="FBFAF7"/>
          </a:solidFill>
          <a:ln w="6350">
            <a:solidFill>
              <a:srgbClr val="DCD7C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08380" y="2838450"/>
            <a:ext cx="5294644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A84F1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OQIM REJIMI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008380" y="3102611"/>
            <a:ext cx="5294644" cy="520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500" b="1" dirty="0">
                <a:solidFill>
                  <a:srgbClr val="17212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φ = 1, agar pₐ/p₂ᵃᵇˢ ≤ b (kritik)</a:t>
            </a:r>
            <a:endParaRPr lang="en-US" sz="1500" dirty="0"/>
          </a:p>
          <a:p>
            <a:pPr algn="l" indent="0" marL="0">
              <a:lnSpc>
                <a:spcPts val="1950"/>
              </a:lnSpc>
              <a:buNone/>
            </a:pPr>
            <a:r>
              <a:rPr lang="en-US" sz="1500" b="1" dirty="0">
                <a:solidFill>
                  <a:srgbClr val="17212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φ = √(1 − ((pₐ/p₂ᵃᵇˢ − b)/(1 − b))²)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815975" y="3872864"/>
            <a:ext cx="5525241" cy="828040"/>
          </a:xfrm>
          <a:prstGeom prst="roundRect">
            <a:avLst>
              <a:gd name="adj" fmla="val 10353"/>
            </a:avLst>
          </a:prstGeom>
          <a:solidFill>
            <a:srgbClr val="FBFAF7"/>
          </a:solidFill>
          <a:ln w="6350">
            <a:solidFill>
              <a:srgbClr val="DCD7C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08380" y="4014471"/>
            <a:ext cx="5294644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A84F1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PORSHEN TEZLIGI (IZOTERMIK)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008380" y="4278629"/>
            <a:ext cx="5294644" cy="3060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10"/>
              </a:lnSpc>
              <a:buNone/>
            </a:pPr>
            <a:r>
              <a:rPr lang="en-US" sz="1700" b="1" dirty="0">
                <a:solidFill>
                  <a:srgbClr val="17212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v = Q₂ / A₂ = C · P₀ · φ / A₂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6547591" y="1732279"/>
            <a:ext cx="4831609" cy="2971800"/>
          </a:xfrm>
          <a:prstGeom prst="roundRect">
            <a:avLst>
              <a:gd name="adj" fmla="val 2991"/>
            </a:avLst>
          </a:prstGeom>
          <a:solidFill>
            <a:srgbClr val="E6EDF4"/>
          </a:solidFill>
          <a:ln/>
        </p:spPr>
      </p:sp>
      <p:sp>
        <p:nvSpPr>
          <p:cNvPr id="14" name="Text 12"/>
          <p:cNvSpPr/>
          <p:nvPr/>
        </p:nvSpPr>
        <p:spPr>
          <a:xfrm>
            <a:off x="6750791" y="1935479"/>
            <a:ext cx="4557965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17212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Belgilar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836135" y="2278379"/>
            <a:ext cx="4465001" cy="1181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68656" indent="-168656">
              <a:lnSpc>
                <a:spcPts val="1820"/>
              </a:lnSpc>
              <a:buSzPct val="100000"/>
              <a:buChar char="•"/>
            </a:pPr>
            <a:r>
              <a:rPr lang="en-US" sz="1300" dirty="0">
                <a:solidFill>
                  <a:srgbClr val="17212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 — drossel oʻtkazuvchanligi, m³/(s·Pa)</a:t>
            </a:r>
            <a:endParaRPr lang="en-US" sz="1300" dirty="0"/>
          </a:p>
          <a:p>
            <a:pPr algn="l" marL="168656" indent="-168656">
              <a:lnSpc>
                <a:spcPts val="1820"/>
              </a:lnSpc>
              <a:buSzPct val="100000"/>
              <a:buChar char="•"/>
            </a:pPr>
            <a:r>
              <a:rPr lang="en-US" sz="1300" dirty="0">
                <a:solidFill>
                  <a:srgbClr val="17212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b — kritik bosim nisbati (0,2…0,5)</a:t>
            </a:r>
            <a:endParaRPr lang="en-US" sz="1300" dirty="0"/>
          </a:p>
          <a:p>
            <a:pPr algn="l" marL="168656" indent="-168656">
              <a:lnSpc>
                <a:spcPts val="1820"/>
              </a:lnSpc>
              <a:buSzPct val="100000"/>
              <a:buChar char="•"/>
            </a:pPr>
            <a:r>
              <a:rPr lang="en-US" sz="1300" dirty="0">
                <a:solidFill>
                  <a:srgbClr val="17212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P₀ = 100 kPa, T₀ = 293 K — normal sharoit</a:t>
            </a:r>
            <a:endParaRPr lang="en-US" sz="1300" dirty="0"/>
          </a:p>
          <a:p>
            <a:pPr algn="l" marL="168656" indent="-168656">
              <a:lnSpc>
                <a:spcPts val="1820"/>
              </a:lnSpc>
              <a:buSzPct val="100000"/>
              <a:buChar char="•"/>
            </a:pPr>
            <a:r>
              <a:rPr lang="en-US" sz="1300" dirty="0">
                <a:solidFill>
                  <a:srgbClr val="17212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Tezlikni chiqish kamerasidan atmosferaga chiqayotgan havo belgilaydi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12800" y="6235700"/>
            <a:ext cx="5898388" cy="2413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6616D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Mexatron modul va robotlarning yuritmalari · Tajriba mashgʻuloti №2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1241193" y="6235700"/>
            <a:ext cx="138007" cy="2413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6616D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5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3F1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A84F1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NAZARIY ASOSLAR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02361"/>
            <a:ext cx="10883392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360"/>
              </a:lnSpc>
              <a:buNone/>
            </a:pPr>
            <a:r>
              <a:rPr lang="en-US" sz="3000" b="1" i="0" dirty="0">
                <a:solidFill>
                  <a:srgbClr val="17212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Xarakteristika shaklidan toʻrt xulosa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15975" y="1735454"/>
            <a:ext cx="5200650" cy="1149350"/>
          </a:xfrm>
          <a:prstGeom prst="roundRect">
            <a:avLst>
              <a:gd name="adj" fmla="val 7459"/>
            </a:avLst>
          </a:prstGeom>
          <a:solidFill>
            <a:srgbClr val="FBFAF7"/>
          </a:solidFill>
          <a:ln w="6350">
            <a:solidFill>
              <a:srgbClr val="DCD7C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21080" y="1915161"/>
            <a:ext cx="406400" cy="3327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20"/>
              </a:lnSpc>
              <a:buNone/>
            </a:pPr>
            <a:r>
              <a:rPr lang="en-US" sz="2200" b="1" dirty="0">
                <a:solidFill>
                  <a:srgbClr val="C8621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529080" y="1915161"/>
            <a:ext cx="4410913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17212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Kritik rejim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529080" y="2207261"/>
            <a:ext cx="4410913" cy="523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17212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v = C·P₀/A₂: tezlik yuklamaga ham, bosimga ham bogʻliq emas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175375" y="1735454"/>
            <a:ext cx="5200650" cy="1149350"/>
          </a:xfrm>
          <a:prstGeom prst="roundRect">
            <a:avLst>
              <a:gd name="adj" fmla="val 7459"/>
            </a:avLst>
          </a:prstGeom>
          <a:solidFill>
            <a:srgbClr val="FBFAF7"/>
          </a:solidFill>
          <a:ln w="6350">
            <a:solidFill>
              <a:srgbClr val="DCD7C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380480" y="1915161"/>
            <a:ext cx="406400" cy="3327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20"/>
              </a:lnSpc>
              <a:buNone/>
            </a:pPr>
            <a:r>
              <a:rPr lang="en-US" sz="2200" b="1" dirty="0">
                <a:solidFill>
                  <a:srgbClr val="C8621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2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6888480" y="1915161"/>
            <a:ext cx="4410913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17212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Kritik yuklama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888480" y="2207261"/>
            <a:ext cx="441091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17212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F</a:t>
            </a:r>
            <a:r>
              <a:rPr lang="en-US" sz="1400" dirty="0">
                <a:solidFill>
                  <a:srgbClr val="1D5F9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kr</a:t>
            </a:r>
            <a:r>
              <a:rPr lang="en-US" sz="1400" dirty="0">
                <a:solidFill>
                  <a:srgbClr val="17212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= p</a:t>
            </a:r>
            <a:r>
              <a:rPr lang="en-US" sz="1400" dirty="0">
                <a:solidFill>
                  <a:srgbClr val="1D5F9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</a:t>
            </a:r>
            <a:r>
              <a:rPr lang="en-US" sz="1400" dirty="0">
                <a:solidFill>
                  <a:srgbClr val="17212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A₁ − (pₐ/b − pₐ)A₂ − F</a:t>
            </a:r>
            <a:r>
              <a:rPr lang="en-US" sz="1400" dirty="0">
                <a:solidFill>
                  <a:srgbClr val="1D5F9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ishq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815975" y="3043554"/>
            <a:ext cx="5200650" cy="900430"/>
          </a:xfrm>
          <a:prstGeom prst="roundRect">
            <a:avLst>
              <a:gd name="adj" fmla="val 9520"/>
            </a:avLst>
          </a:prstGeom>
          <a:solidFill>
            <a:srgbClr val="FBFAF7"/>
          </a:solidFill>
          <a:ln w="6350">
            <a:solidFill>
              <a:srgbClr val="DCD7C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21080" y="3223261"/>
            <a:ext cx="406400" cy="3327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20"/>
              </a:lnSpc>
              <a:buNone/>
            </a:pPr>
            <a:r>
              <a:rPr lang="en-US" sz="2200" b="1" dirty="0">
                <a:solidFill>
                  <a:srgbClr val="C8621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3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529080" y="3223261"/>
            <a:ext cx="4410913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17212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Toʻxtash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529080" y="3515361"/>
            <a:ext cx="441091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17212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F</a:t>
            </a:r>
            <a:r>
              <a:rPr lang="en-US" sz="1400" dirty="0">
                <a:solidFill>
                  <a:srgbClr val="1D5F9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yuk</a:t>
            </a:r>
            <a:r>
              <a:rPr lang="en-US" sz="1400" dirty="0">
                <a:solidFill>
                  <a:srgbClr val="17212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→ F</a:t>
            </a:r>
            <a:r>
              <a:rPr lang="en-US" sz="1400" dirty="0">
                <a:solidFill>
                  <a:srgbClr val="1D5F9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max</a:t>
            </a:r>
            <a:r>
              <a:rPr lang="en-US" sz="1400" dirty="0">
                <a:solidFill>
                  <a:srgbClr val="17212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: p₂ → 0 va v → 0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175375" y="3043554"/>
            <a:ext cx="5200650" cy="900430"/>
          </a:xfrm>
          <a:prstGeom prst="roundRect">
            <a:avLst>
              <a:gd name="adj" fmla="val 9520"/>
            </a:avLst>
          </a:prstGeom>
          <a:solidFill>
            <a:srgbClr val="FBFAF7"/>
          </a:solidFill>
          <a:ln w="6350">
            <a:solidFill>
              <a:srgbClr val="DCD7C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380480" y="3223261"/>
            <a:ext cx="406400" cy="3327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20"/>
              </a:lnSpc>
              <a:buNone/>
            </a:pPr>
            <a:r>
              <a:rPr lang="en-US" sz="2200" b="1" dirty="0">
                <a:solidFill>
                  <a:srgbClr val="C8621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4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6888480" y="3223261"/>
            <a:ext cx="4410913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17212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p₂ &gt; p₁ holati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888480" y="3515361"/>
            <a:ext cx="441091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17212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Kichik yuklamada p₂ ≈ p₁·A₁/A₂, chunki A₂ &lt; A₁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812800" y="6235700"/>
            <a:ext cx="5898388" cy="2413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6616D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Mexatron modul va robotlarning yuritmalari · Tajriba mashgʻuloti №2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1241193" y="6235700"/>
            <a:ext cx="138007" cy="2413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6616D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6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3F1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A84F1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TAJRIBA STENDI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02361"/>
            <a:ext cx="10883392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360"/>
              </a:lnSpc>
              <a:buNone/>
            </a:pPr>
            <a:r>
              <a:rPr lang="en-US" sz="3000" b="1" i="0" dirty="0">
                <a:solidFill>
                  <a:srgbClr val="17212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Stend sxemasi</a:t>
            </a:r>
            <a:endParaRPr lang="en-US" sz="3000" dirty="0"/>
          </a:p>
        </p:txBody>
      </p:sp>
      <p:pic>
        <p:nvPicPr>
          <p:cNvPr id="4" name="Image 0" descr="Tajriba stendi sxemasi: taʼminot, FRL bloki, 5/2 taqsimlagich, vertikal pnevmosilindr, shtok tomonidagi liniyada drossel, P1 va P2 bosim datchiklari, B1 va B2 gerkonlari, taymer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12800" y="1732279"/>
            <a:ext cx="5873750" cy="405765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87400" y="5313679"/>
            <a:ext cx="1009650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440"/>
              </a:lnSpc>
              <a:buNone/>
            </a:pPr>
            <a:r>
              <a:rPr lang="en-US" sz="1200" b="1" dirty="0">
                <a:solidFill>
                  <a:srgbClr val="17212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Taʼminot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2012950" y="5313679"/>
            <a:ext cx="1009650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440"/>
              </a:lnSpc>
              <a:buNone/>
            </a:pPr>
            <a:r>
              <a:rPr lang="en-US" sz="1200" b="1" dirty="0">
                <a:solidFill>
                  <a:srgbClr val="17212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FRL bloki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3238500" y="5224779"/>
            <a:ext cx="1333500" cy="391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440"/>
              </a:lnSpc>
              <a:buNone/>
            </a:pPr>
            <a:r>
              <a:rPr lang="en-US" sz="1200" b="1" dirty="0">
                <a:solidFill>
                  <a:srgbClr val="17212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5/2</a:t>
            </a:r>
            <a:endParaRPr lang="en-US" sz="1200" dirty="0"/>
          </a:p>
          <a:p>
            <a:pPr algn="ctr" indent="0" marL="0">
              <a:lnSpc>
                <a:spcPts val="1440"/>
              </a:lnSpc>
              <a:buNone/>
            </a:pPr>
            <a:r>
              <a:rPr lang="en-US" sz="1200" b="1" dirty="0">
                <a:solidFill>
                  <a:srgbClr val="17212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taqsimlagich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5480050" y="5313679"/>
            <a:ext cx="1225550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440"/>
              </a:lnSpc>
              <a:buNone/>
            </a:pPr>
            <a:r>
              <a:rPr lang="en-US" sz="1200" b="1" dirty="0">
                <a:solidFill>
                  <a:srgbClr val="17212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Taymer / PLC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2368550" y="4818379"/>
            <a:ext cx="304800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440"/>
              </a:lnSpc>
              <a:buNone/>
            </a:pPr>
            <a:r>
              <a:rPr lang="en-US" sz="1200" b="1" dirty="0">
                <a:solidFill>
                  <a:srgbClr val="17212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4470400" y="4399279"/>
            <a:ext cx="368300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440"/>
              </a:lnSpc>
              <a:buNone/>
            </a:pPr>
            <a:r>
              <a:rPr lang="en-US" sz="1200" b="1" dirty="0">
                <a:solidFill>
                  <a:srgbClr val="17212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P1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4470400" y="2691129"/>
            <a:ext cx="368300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440"/>
              </a:lnSpc>
              <a:buNone/>
            </a:pPr>
            <a:r>
              <a:rPr lang="en-US" sz="1200" b="1" dirty="0">
                <a:solidFill>
                  <a:srgbClr val="17212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P2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2311400" y="3643629"/>
            <a:ext cx="1066800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440"/>
              </a:lnSpc>
              <a:buNone/>
            </a:pPr>
            <a:r>
              <a:rPr lang="en-US" sz="1200" b="1" dirty="0">
                <a:solidFill>
                  <a:srgbClr val="C0504D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Drossel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5137150" y="1840229"/>
            <a:ext cx="5334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17212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6146800" y="1891029"/>
            <a:ext cx="584200" cy="223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300" b="1" dirty="0">
                <a:solidFill>
                  <a:srgbClr val="17212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F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5905500" y="4113529"/>
            <a:ext cx="368300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1200" b="1" dirty="0">
                <a:solidFill>
                  <a:srgbClr val="17212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B1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5905500" y="3097529"/>
            <a:ext cx="368300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1200" b="1" dirty="0">
                <a:solidFill>
                  <a:srgbClr val="17212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B2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6394450" y="3599179"/>
            <a:ext cx="368300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1200" b="1" dirty="0">
                <a:solidFill>
                  <a:srgbClr val="17212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L₀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6940550" y="1828800"/>
            <a:ext cx="304800" cy="38100"/>
          </a:xfrm>
          <a:prstGeom prst="rect">
            <a:avLst/>
          </a:prstGeom>
          <a:solidFill>
            <a:srgbClr val="1D5F9E"/>
          </a:solidFill>
          <a:ln/>
        </p:spPr>
      </p:sp>
      <p:sp>
        <p:nvSpPr>
          <p:cNvPr id="19" name="Text 16"/>
          <p:cNvSpPr/>
          <p:nvPr/>
        </p:nvSpPr>
        <p:spPr>
          <a:xfrm>
            <a:off x="7334250" y="1732279"/>
            <a:ext cx="1629283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17212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ishchi kamera, P1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6940550" y="2174239"/>
            <a:ext cx="304800" cy="38100"/>
          </a:xfrm>
          <a:prstGeom prst="rect">
            <a:avLst/>
          </a:prstGeom>
          <a:solidFill>
            <a:srgbClr val="C0504D"/>
          </a:solidFill>
          <a:ln/>
        </p:spPr>
      </p:sp>
      <p:sp>
        <p:nvSpPr>
          <p:cNvPr id="21" name="Text 18"/>
          <p:cNvSpPr/>
          <p:nvPr/>
        </p:nvSpPr>
        <p:spPr>
          <a:xfrm>
            <a:off x="7334250" y="2077721"/>
            <a:ext cx="2673731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17212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chiqish kamerasi, drossel, P2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6940550" y="2423161"/>
            <a:ext cx="4571810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17212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Porshen yukni koʻtaradi: F</a:t>
            </a:r>
            <a:r>
              <a:rPr lang="en-US" sz="1300" dirty="0">
                <a:solidFill>
                  <a:srgbClr val="1D5F9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yuk</a:t>
            </a:r>
            <a:r>
              <a:rPr lang="en-US" sz="1300" dirty="0">
                <a:solidFill>
                  <a:srgbClr val="17212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= (m + m₀)·g.</a:t>
            </a:r>
            <a:endParaRPr lang="en-US" sz="1300" dirty="0"/>
          </a:p>
        </p:txBody>
      </p:sp>
      <p:sp>
        <p:nvSpPr>
          <p:cNvPr id="23" name="Text 20"/>
          <p:cNvSpPr/>
          <p:nvPr/>
        </p:nvSpPr>
        <p:spPr>
          <a:xfrm>
            <a:off x="6940550" y="2768600"/>
            <a:ext cx="5251450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17212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Tezlik B1–B2 oraligʻida oʻlchanadi: v = L₀ / t, L₀ = 150 mm.</a:t>
            </a:r>
            <a:endParaRPr lang="en-US" sz="1300" dirty="0"/>
          </a:p>
        </p:txBody>
      </p:sp>
      <p:sp>
        <p:nvSpPr>
          <p:cNvPr id="24" name="Text 21"/>
          <p:cNvSpPr/>
          <p:nvPr/>
        </p:nvSpPr>
        <p:spPr>
          <a:xfrm>
            <a:off x="6940550" y="3114039"/>
            <a:ext cx="4571810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6616D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Oraliq yurishning oʻrtasida: tezlanish va dempferlash hududlari oʻlchovga taʼsir qilmaydi.</a:t>
            </a:r>
            <a:endParaRPr lang="en-US" sz="1200" dirty="0"/>
          </a:p>
        </p:txBody>
      </p:sp>
      <p:sp>
        <p:nvSpPr>
          <p:cNvPr id="25" name="Text 22"/>
          <p:cNvSpPr/>
          <p:nvPr/>
        </p:nvSpPr>
        <p:spPr>
          <a:xfrm>
            <a:off x="812800" y="6235700"/>
            <a:ext cx="5898388" cy="2413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6616D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Mexatron modul va robotlarning yuritmalari · Tajriba mashgʻuloti №2</a:t>
            </a:r>
            <a:endParaRPr lang="en-US" sz="1200" dirty="0"/>
          </a:p>
        </p:txBody>
      </p:sp>
      <p:sp>
        <p:nvSpPr>
          <p:cNvPr id="26" name="Text 23"/>
          <p:cNvSpPr/>
          <p:nvPr/>
        </p:nvSpPr>
        <p:spPr>
          <a:xfrm>
            <a:off x="11241193" y="6235700"/>
            <a:ext cx="138007" cy="2413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6616D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7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3F1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A84F1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TAJRIBA STENDI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02361"/>
            <a:ext cx="10883392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360"/>
              </a:lnSpc>
              <a:buNone/>
            </a:pPr>
            <a:r>
              <a:rPr lang="en-US" sz="3000" b="1" i="0" dirty="0">
                <a:solidFill>
                  <a:srgbClr val="17212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Kerakli jihozlar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15975" y="1735454"/>
            <a:ext cx="2540000" cy="999490"/>
          </a:xfrm>
          <a:prstGeom prst="roundRect">
            <a:avLst>
              <a:gd name="adj" fmla="val 8577"/>
            </a:avLst>
          </a:prstGeom>
          <a:solidFill>
            <a:srgbClr val="FBFAF7"/>
          </a:solidFill>
          <a:ln w="6350">
            <a:solidFill>
              <a:srgbClr val="DCD7C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95680" y="1889761"/>
            <a:ext cx="2246008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17212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Pnevmosilindr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995680" y="2153921"/>
            <a:ext cx="2246008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6616D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D = 25 mm, d = 10 mm, S = 200 mm, vertikal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489325" y="1735454"/>
            <a:ext cx="2540000" cy="999490"/>
          </a:xfrm>
          <a:prstGeom prst="roundRect">
            <a:avLst>
              <a:gd name="adj" fmla="val 8577"/>
            </a:avLst>
          </a:prstGeom>
          <a:solidFill>
            <a:srgbClr val="FBFAF7"/>
          </a:solidFill>
          <a:ln w="6350">
            <a:solidFill>
              <a:srgbClr val="DCD7C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69030" y="1889761"/>
            <a:ext cx="2246008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17212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FRL bloki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669030" y="2153921"/>
            <a:ext cx="2246008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6616D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filtr, regulyator, manometr 0–10 bar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162675" y="1735454"/>
            <a:ext cx="2540000" cy="999490"/>
          </a:xfrm>
          <a:prstGeom prst="roundRect">
            <a:avLst>
              <a:gd name="adj" fmla="val 8577"/>
            </a:avLst>
          </a:prstGeom>
          <a:solidFill>
            <a:srgbClr val="FBFAF7"/>
          </a:solidFill>
          <a:ln w="6350">
            <a:solidFill>
              <a:srgbClr val="DCD7C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342380" y="1889761"/>
            <a:ext cx="2246008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17212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Taqsimlagich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342380" y="2153921"/>
            <a:ext cx="2246008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6616D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5/2-yoʻlli, monostabil, Y1 gʻaltagi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836025" y="1735454"/>
            <a:ext cx="2540000" cy="999490"/>
          </a:xfrm>
          <a:prstGeom prst="roundRect">
            <a:avLst>
              <a:gd name="adj" fmla="val 8577"/>
            </a:avLst>
          </a:prstGeom>
          <a:solidFill>
            <a:srgbClr val="FBFAF7"/>
          </a:solidFill>
          <a:ln w="6350">
            <a:solidFill>
              <a:srgbClr val="DCD7C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015730" y="1889761"/>
            <a:ext cx="2246008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17212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Bir tomonlama drossel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9015730" y="2153921"/>
            <a:ext cx="2246008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6616D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shtok tomonida, meter-out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15975" y="2868296"/>
            <a:ext cx="2540000" cy="786130"/>
          </a:xfrm>
          <a:prstGeom prst="roundRect">
            <a:avLst>
              <a:gd name="adj" fmla="val 10905"/>
            </a:avLst>
          </a:prstGeom>
          <a:solidFill>
            <a:srgbClr val="FBFAF7"/>
          </a:solidFill>
          <a:ln w="6350">
            <a:solidFill>
              <a:srgbClr val="DCD7C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95680" y="3022600"/>
            <a:ext cx="2246008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17212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Bosim datchiklari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995680" y="3286761"/>
            <a:ext cx="2246008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6616D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P1, P2: 0–10 bar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489325" y="2868296"/>
            <a:ext cx="2540000" cy="786130"/>
          </a:xfrm>
          <a:prstGeom prst="roundRect">
            <a:avLst>
              <a:gd name="adj" fmla="val 10905"/>
            </a:avLst>
          </a:prstGeom>
          <a:solidFill>
            <a:srgbClr val="FBFAF7"/>
          </a:solidFill>
          <a:ln w="6350">
            <a:solidFill>
              <a:srgbClr val="DCD7C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69030" y="3022600"/>
            <a:ext cx="2246008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17212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Gerkonlar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3669030" y="3286761"/>
            <a:ext cx="2246008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6616D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B1, B2: oraligʻi L₀ = 150 mm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162675" y="2868296"/>
            <a:ext cx="2540000" cy="786130"/>
          </a:xfrm>
          <a:prstGeom prst="roundRect">
            <a:avLst>
              <a:gd name="adj" fmla="val 10905"/>
            </a:avLst>
          </a:prstGeom>
          <a:solidFill>
            <a:srgbClr val="FBFAF7"/>
          </a:solidFill>
          <a:ln w="6350">
            <a:solidFill>
              <a:srgbClr val="DCD7C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342380" y="3022600"/>
            <a:ext cx="2246008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17212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Taymer / PLC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342380" y="3286761"/>
            <a:ext cx="2246008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6616D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vaqt oʻlchash aniqligi 1 ms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8836025" y="2868296"/>
            <a:ext cx="2540000" cy="786130"/>
          </a:xfrm>
          <a:prstGeom prst="roundRect">
            <a:avLst>
              <a:gd name="adj" fmla="val 10905"/>
            </a:avLst>
          </a:prstGeom>
          <a:solidFill>
            <a:srgbClr val="FBFAF7"/>
          </a:solidFill>
          <a:ln w="6350">
            <a:solidFill>
              <a:srgbClr val="DCD7C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015730" y="3022600"/>
            <a:ext cx="2246008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17212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Yuklar va dinamometr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9015730" y="3286761"/>
            <a:ext cx="2246008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6616D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27,5 kg gacha; 0–500 N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812800" y="3860800"/>
            <a:ext cx="10566400" cy="535940"/>
          </a:xfrm>
          <a:prstGeom prst="roundRect">
            <a:avLst>
              <a:gd name="adj" fmla="val 16588"/>
            </a:avLst>
          </a:prstGeom>
          <a:solidFill>
            <a:srgbClr val="F6E6D8"/>
          </a:solidFill>
          <a:ln/>
        </p:spPr>
        <p:txBody>
          <a:bodyPr wrap="square" lIns="177162" tIns="126362" rIns="0" bIns="100962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17212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Xavfsizlik:</a:t>
            </a:r>
            <a:r>
              <a:rPr lang="en-US" sz="1300" dirty="0">
                <a:solidFill>
                  <a:srgbClr val="17212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sxema faqat bosimsiz yigʻiladi; yuk faqat porshen pastda va Y1 oʻchiq holatda qoʻyiladi; p</a:t>
            </a:r>
            <a:r>
              <a:rPr lang="en-US" sz="1300" dirty="0">
                <a:solidFill>
                  <a:srgbClr val="1D5F9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</a:t>
            </a:r>
            <a:r>
              <a:rPr lang="en-US" sz="1300" dirty="0">
                <a:solidFill>
                  <a:srgbClr val="17212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≤ 6 bar.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812800" y="6235700"/>
            <a:ext cx="5898388" cy="2413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6616D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Mexatron modul va robotlarning yuritmalari · Tajriba mashgʻuloti №2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11241193" y="6235700"/>
            <a:ext cx="138007" cy="2413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6616D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8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3F1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A84F1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ISHNI BAJARISH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02358"/>
            <a:ext cx="10883392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360"/>
              </a:lnSpc>
              <a:buNone/>
            </a:pPr>
            <a:r>
              <a:rPr lang="en-US" sz="3000" b="1" i="0" dirty="0">
                <a:solidFill>
                  <a:srgbClr val="17212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Uchta topshiriq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15975" y="1735454"/>
            <a:ext cx="3397250" cy="2447290"/>
          </a:xfrm>
          <a:prstGeom prst="roundRect">
            <a:avLst>
              <a:gd name="adj" fmla="val 3503"/>
            </a:avLst>
          </a:prstGeom>
          <a:solidFill>
            <a:srgbClr val="FBFAF7"/>
          </a:solidFill>
          <a:ln w="6350">
            <a:solidFill>
              <a:srgbClr val="DCD7C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08380" y="1927858"/>
            <a:ext cx="3102813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A84F1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1-TOPSHIRIQ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008380" y="2242821"/>
            <a:ext cx="3102813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17212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Statik kuch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1080770" y="2603500"/>
            <a:ext cx="3022803" cy="7188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81610" indent="-181610">
              <a:lnSpc>
                <a:spcPts val="1820"/>
              </a:lnSpc>
              <a:buSzPct val="100000"/>
              <a:buFontTx/>
              <a:buAutoNum type="arabicPeriod" startAt="1"/>
            </a:pPr>
            <a:r>
              <a:rPr lang="en-US" sz="1300" dirty="0">
                <a:solidFill>
                  <a:srgbClr val="17212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Shtokni dinamometrga tirash</a:t>
            </a:r>
            <a:endParaRPr lang="en-US" sz="1300" dirty="0"/>
          </a:p>
          <a:p>
            <a:pPr algn="l" marL="181610" indent="-181610">
              <a:lnSpc>
                <a:spcPts val="1820"/>
              </a:lnSpc>
              <a:buSzPct val="100000"/>
              <a:buFontTx/>
              <a:buAutoNum type="arabicPeriod" startAt="1"/>
            </a:pPr>
            <a:r>
              <a:rPr lang="en-US" sz="1300" dirty="0">
                <a:solidFill>
                  <a:srgbClr val="17212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pₛ = 4, 5, 6 bar da Fₛₜ ni oʻlchash</a:t>
            </a:r>
            <a:endParaRPr lang="en-US" sz="1300" dirty="0"/>
          </a:p>
          <a:p>
            <a:pPr algn="l" marL="181610" indent="-181610">
              <a:lnSpc>
                <a:spcPts val="1820"/>
              </a:lnSpc>
              <a:buSzPct val="100000"/>
              <a:buFontTx/>
              <a:buAutoNum type="arabicPeriod" startAt="1"/>
            </a:pPr>
            <a:r>
              <a:rPr lang="en-US" sz="1300" dirty="0">
                <a:solidFill>
                  <a:srgbClr val="17212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Fᵢₛₕq va ηₘ ni hisoblash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397375" y="1735454"/>
            <a:ext cx="3397250" cy="2447290"/>
          </a:xfrm>
          <a:prstGeom prst="roundRect">
            <a:avLst>
              <a:gd name="adj" fmla="val 3503"/>
            </a:avLst>
          </a:prstGeom>
          <a:solidFill>
            <a:srgbClr val="FBFAF7"/>
          </a:solidFill>
          <a:ln w="6350">
            <a:solidFill>
              <a:srgbClr val="DCD7C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89780" y="1927858"/>
            <a:ext cx="3102813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A84F1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2-TOPSHIRIQ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89780" y="2242821"/>
            <a:ext cx="3102813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17212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6 bar da v = f(F)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4662170" y="2603500"/>
            <a:ext cx="3022803" cy="1412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81610" indent="-181610">
              <a:lnSpc>
                <a:spcPts val="1820"/>
              </a:lnSpc>
              <a:buSzPct val="100000"/>
              <a:buFontTx/>
              <a:buAutoNum type="arabicPeriod" startAt="1"/>
            </a:pPr>
            <a:r>
              <a:rPr lang="en-US" sz="1300" dirty="0">
                <a:solidFill>
                  <a:srgbClr val="17212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 = 0 da v ≈ 0,3 m/s ga drosselni sozlash</a:t>
            </a:r>
            <a:endParaRPr lang="en-US" sz="1300" dirty="0"/>
          </a:p>
          <a:p>
            <a:pPr algn="l" marL="181610" indent="-181610">
              <a:lnSpc>
                <a:spcPts val="1820"/>
              </a:lnSpc>
              <a:buSzPct val="100000"/>
              <a:buFontTx/>
              <a:buAutoNum type="arabicPeriod" startAt="1"/>
            </a:pPr>
            <a:r>
              <a:rPr lang="en-US" sz="1300" dirty="0">
                <a:solidFill>
                  <a:srgbClr val="17212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Drossel vintini boshqa oʻzgartirmaslik</a:t>
            </a:r>
            <a:endParaRPr lang="en-US" sz="1300" dirty="0"/>
          </a:p>
          <a:p>
            <a:pPr algn="l" marL="181610" indent="-181610">
              <a:lnSpc>
                <a:spcPts val="1820"/>
              </a:lnSpc>
              <a:buSzPct val="100000"/>
              <a:buFontTx/>
              <a:buAutoNum type="arabicPeriod" startAt="1"/>
            </a:pPr>
            <a:r>
              <a:rPr lang="en-US" sz="1300" dirty="0">
                <a:solidFill>
                  <a:srgbClr val="17212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Har yuklamada t, p₁, p₂ ni 3 marta oʻlchash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7978775" y="1735454"/>
            <a:ext cx="3397250" cy="2447290"/>
          </a:xfrm>
          <a:prstGeom prst="roundRect">
            <a:avLst>
              <a:gd name="adj" fmla="val 3503"/>
            </a:avLst>
          </a:prstGeom>
          <a:solidFill>
            <a:srgbClr val="FBFAF7"/>
          </a:solidFill>
          <a:ln w="6350">
            <a:solidFill>
              <a:srgbClr val="DCD7C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171180" y="1927858"/>
            <a:ext cx="3102813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A84F1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3-TOPSHIRIQ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8171180" y="2242821"/>
            <a:ext cx="3102813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17212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4 bar da v = f(F)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8243570" y="2603500"/>
            <a:ext cx="3022803" cy="1181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81610" indent="-181610">
              <a:lnSpc>
                <a:spcPts val="1820"/>
              </a:lnSpc>
              <a:buSzPct val="100000"/>
              <a:buFontTx/>
              <a:buAutoNum type="arabicPeriod" startAt="1"/>
            </a:pPr>
            <a:r>
              <a:rPr lang="en-US" sz="1300" dirty="0">
                <a:solidFill>
                  <a:srgbClr val="17212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Drosselni oʻzgartirmasdan pₛ = 4 bar</a:t>
            </a:r>
            <a:endParaRPr lang="en-US" sz="1300" dirty="0"/>
          </a:p>
          <a:p>
            <a:pPr algn="l" marL="181610" indent="-181610">
              <a:lnSpc>
                <a:spcPts val="1820"/>
              </a:lnSpc>
              <a:buSzPct val="100000"/>
              <a:buFontTx/>
              <a:buAutoNum type="arabicPeriod" startAt="1"/>
            </a:pPr>
            <a:r>
              <a:rPr lang="en-US" sz="1300" dirty="0">
                <a:solidFill>
                  <a:srgbClr val="17212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2-topshiriqni takrorlash</a:t>
            </a:r>
            <a:endParaRPr lang="en-US" sz="1300" dirty="0"/>
          </a:p>
          <a:p>
            <a:pPr algn="l" marL="181610" indent="-181610">
              <a:lnSpc>
                <a:spcPts val="1820"/>
              </a:lnSpc>
              <a:buSzPct val="100000"/>
              <a:buFontTx/>
              <a:buAutoNum type="arabicPeriod" startAt="1"/>
            </a:pPr>
            <a:r>
              <a:rPr lang="en-US" sz="1300" dirty="0">
                <a:solidFill>
                  <a:srgbClr val="17212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Fₘₐₓ yaqinida kichik qadam bilan yuklash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12800" y="6235700"/>
            <a:ext cx="5898388" cy="2413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6616D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Mexatron modul va robotlarning yuritmalari · Tajriba mashgʻuloti №2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1241193" y="6235700"/>
            <a:ext cx="138007" cy="2413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6616D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9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3F1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A84F1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NATIJALAR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02358"/>
            <a:ext cx="10883392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360"/>
              </a:lnSpc>
              <a:buNone/>
            </a:pPr>
            <a:r>
              <a:rPr lang="en-US" sz="3000" b="1" i="0" dirty="0">
                <a:solidFill>
                  <a:srgbClr val="17212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1-topshiriq: statik kuch va FIK</a:t>
            </a:r>
            <a:endParaRPr lang="en-US" sz="30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1742439"/>
          <a:ext cx="6005407" cy="1907540"/>
        </p:xfrm>
        <a:graphic>
          <a:graphicData uri="http://schemas.openxmlformats.org/drawingml/2006/table">
            <a:tbl>
              <a:tblPr/>
              <a:tblGrid>
                <a:gridCol w="1080973"/>
                <a:gridCol w="1261135"/>
                <a:gridCol w="1261135"/>
                <a:gridCol w="1261135"/>
                <a:gridCol w="1141027"/>
              </a:tblGrid>
              <a:tr h="676910"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b="1" dirty="0">
                          <a:solidFill>
                            <a:srgbClr val="17212B"/>
                          </a:solidFill>
                          <a:latin typeface="Noto Sans" pitchFamily="34" charset="0"/>
                          <a:ea typeface="Noto Sans" pitchFamily="34" charset="-122"/>
                          <a:cs typeface="Noto Sans" pitchFamily="34" charset="-120"/>
                        </a:rPr>
                        <a:t>pₛ, bar</a:t>
                      </a:r>
                      <a:endParaRPr lang="en-US" sz="1500" dirty="0">
                        <a:latin typeface="Noto Sans" charset="0"/>
                        <a:ea typeface="Noto Sans" charset="0"/>
                        <a:cs typeface="Noto Sans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C2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4B2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2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4B2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DFD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b="1" dirty="0">
                          <a:solidFill>
                            <a:srgbClr val="17212B"/>
                          </a:solidFill>
                          <a:latin typeface="Noto Sans" pitchFamily="34" charset="0"/>
                          <a:ea typeface="Noto Sans" pitchFamily="34" charset="-122"/>
                          <a:cs typeface="Noto Sans" pitchFamily="34" charset="-120"/>
                        </a:rPr>
                        <a:t>pₛ·A₁, N</a:t>
                      </a:r>
                      <a:endParaRPr lang="en-US" sz="1500" dirty="0">
                        <a:latin typeface="Noto Sans" charset="0"/>
                        <a:ea typeface="Noto Sans" charset="0"/>
                        <a:cs typeface="Noto Sans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B4B2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4B2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2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4B2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DFD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b="1" dirty="0">
                          <a:solidFill>
                            <a:srgbClr val="17212B"/>
                          </a:solidFill>
                          <a:latin typeface="Noto Sans" pitchFamily="34" charset="0"/>
                          <a:ea typeface="Noto Sans" pitchFamily="34" charset="-122"/>
                          <a:cs typeface="Noto Sans" pitchFamily="34" charset="-120"/>
                        </a:rPr>
                        <a:t>Fₛₜ, N</a:t>
                      </a:r>
                      <a:endParaRPr lang="en-US" sz="1500" dirty="0">
                        <a:latin typeface="Noto Sans" charset="0"/>
                        <a:ea typeface="Noto Sans" charset="0"/>
                        <a:cs typeface="Noto Sans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B4B2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4B2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2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4B2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DFD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b="1" dirty="0">
                          <a:solidFill>
                            <a:srgbClr val="17212B"/>
                          </a:solidFill>
                          <a:latin typeface="Noto Sans" pitchFamily="34" charset="0"/>
                          <a:ea typeface="Noto Sans" pitchFamily="34" charset="-122"/>
                          <a:cs typeface="Noto Sans" pitchFamily="34" charset="-120"/>
                        </a:rPr>
                        <a:t>Ishqalanish, N</a:t>
                      </a:r>
                      <a:endParaRPr lang="en-US" sz="1500" dirty="0">
                        <a:latin typeface="Noto Sans" charset="0"/>
                        <a:ea typeface="Noto Sans" charset="0"/>
                        <a:cs typeface="Noto Sans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B4B2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4B2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2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4B2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DFD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b="1" dirty="0">
                          <a:solidFill>
                            <a:srgbClr val="17212B"/>
                          </a:solidFill>
                          <a:latin typeface="Noto Sans" pitchFamily="34" charset="0"/>
                          <a:ea typeface="Noto Sans" pitchFamily="34" charset="-122"/>
                          <a:cs typeface="Noto Sans" pitchFamily="34" charset="-120"/>
                        </a:rPr>
                        <a:t>ηₘ</a:t>
                      </a:r>
                      <a:endParaRPr lang="en-US" sz="1500" dirty="0">
                        <a:latin typeface="Noto Sans" charset="0"/>
                        <a:ea typeface="Noto Sans" charset="0"/>
                        <a:cs typeface="Noto Sans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B4B2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4B2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2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4B2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DFDA"/>
                    </a:solidFill>
                  </a:tcPr>
                </a:tc>
              </a:tr>
              <a:tr h="410210"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7212B"/>
                          </a:solidFill>
                          <a:latin typeface="Noto Sans" pitchFamily="34" charset="0"/>
                          <a:ea typeface="Noto Sans" pitchFamily="34" charset="-122"/>
                          <a:cs typeface="Noto Sans" pitchFamily="34" charset="-120"/>
                        </a:rPr>
                        <a:t>4</a:t>
                      </a:r>
                      <a:endParaRPr lang="en-US" sz="1500" dirty="0">
                        <a:latin typeface="Noto Sans" charset="0"/>
                        <a:ea typeface="Noto Sans" charset="0"/>
                        <a:cs typeface="Noto Sans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C2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2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4B2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2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7212B"/>
                          </a:solidFill>
                          <a:latin typeface="Noto Sans" pitchFamily="34" charset="0"/>
                          <a:ea typeface="Noto Sans" pitchFamily="34" charset="-122"/>
                          <a:cs typeface="Noto Sans" pitchFamily="34" charset="-120"/>
                        </a:rPr>
                        <a:t>196,3</a:t>
                      </a:r>
                      <a:endParaRPr lang="en-US" sz="1500" dirty="0">
                        <a:latin typeface="Noto Sans" charset="0"/>
                        <a:ea typeface="Noto Sans" charset="0"/>
                        <a:cs typeface="Noto Sans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C2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2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4B2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2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7212B"/>
                          </a:solidFill>
                          <a:latin typeface="Noto Sans" pitchFamily="34" charset="0"/>
                          <a:ea typeface="Noto Sans" pitchFamily="34" charset="-122"/>
                          <a:cs typeface="Noto Sans" pitchFamily="34" charset="-120"/>
                        </a:rPr>
                        <a:t>181,4</a:t>
                      </a:r>
                      <a:endParaRPr lang="en-US" sz="1500" dirty="0">
                        <a:latin typeface="Noto Sans" charset="0"/>
                        <a:ea typeface="Noto Sans" charset="0"/>
                        <a:cs typeface="Noto Sans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C2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2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4B2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2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7212B"/>
                          </a:solidFill>
                          <a:latin typeface="Noto Sans" pitchFamily="34" charset="0"/>
                          <a:ea typeface="Noto Sans" pitchFamily="34" charset="-122"/>
                          <a:cs typeface="Noto Sans" pitchFamily="34" charset="-120"/>
                        </a:rPr>
                        <a:t>15,0</a:t>
                      </a:r>
                      <a:endParaRPr lang="en-US" sz="1500" dirty="0">
                        <a:latin typeface="Noto Sans" charset="0"/>
                        <a:ea typeface="Noto Sans" charset="0"/>
                        <a:cs typeface="Noto Sans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C2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2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4B2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2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7212B"/>
                          </a:solidFill>
                          <a:latin typeface="Noto Sans" pitchFamily="34" charset="0"/>
                          <a:ea typeface="Noto Sans" pitchFamily="34" charset="-122"/>
                          <a:cs typeface="Noto Sans" pitchFamily="34" charset="-120"/>
                        </a:rPr>
                        <a:t>0,924</a:t>
                      </a:r>
                      <a:endParaRPr lang="en-US" sz="1500" dirty="0">
                        <a:latin typeface="Noto Sans" charset="0"/>
                        <a:ea typeface="Noto Sans" charset="0"/>
                        <a:cs typeface="Noto Sans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C2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2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4B2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2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0210"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7212B"/>
                          </a:solidFill>
                          <a:latin typeface="Noto Sans" pitchFamily="34" charset="0"/>
                          <a:ea typeface="Noto Sans" pitchFamily="34" charset="-122"/>
                          <a:cs typeface="Noto Sans" pitchFamily="34" charset="-120"/>
                        </a:rPr>
                        <a:t>5</a:t>
                      </a:r>
                      <a:endParaRPr lang="en-US" sz="1500" dirty="0">
                        <a:latin typeface="Noto Sans" charset="0"/>
                        <a:ea typeface="Noto Sans" charset="0"/>
                        <a:cs typeface="Noto Sans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C2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2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7D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7212B"/>
                          </a:solidFill>
                          <a:latin typeface="Noto Sans" pitchFamily="34" charset="0"/>
                          <a:ea typeface="Noto Sans" pitchFamily="34" charset="-122"/>
                          <a:cs typeface="Noto Sans" pitchFamily="34" charset="-120"/>
                        </a:rPr>
                        <a:t>245,4</a:t>
                      </a:r>
                      <a:endParaRPr lang="en-US" sz="1500" dirty="0">
                        <a:latin typeface="Noto Sans" charset="0"/>
                        <a:ea typeface="Noto Sans" charset="0"/>
                        <a:cs typeface="Noto Sans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2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7D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7212B"/>
                          </a:solidFill>
                          <a:latin typeface="Noto Sans" pitchFamily="34" charset="0"/>
                          <a:ea typeface="Noto Sans" pitchFamily="34" charset="-122"/>
                          <a:cs typeface="Noto Sans" pitchFamily="34" charset="-120"/>
                        </a:rPr>
                        <a:t>230,9</a:t>
                      </a:r>
                      <a:endParaRPr lang="en-US" sz="1500" dirty="0">
                        <a:latin typeface="Noto Sans" charset="0"/>
                        <a:ea typeface="Noto Sans" charset="0"/>
                        <a:cs typeface="Noto Sans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2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7D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7212B"/>
                          </a:solidFill>
                          <a:latin typeface="Noto Sans" pitchFamily="34" charset="0"/>
                          <a:ea typeface="Noto Sans" pitchFamily="34" charset="-122"/>
                          <a:cs typeface="Noto Sans" pitchFamily="34" charset="-120"/>
                        </a:rPr>
                        <a:t>14,6</a:t>
                      </a:r>
                      <a:endParaRPr lang="en-US" sz="1500" dirty="0">
                        <a:latin typeface="Noto Sans" charset="0"/>
                        <a:ea typeface="Noto Sans" charset="0"/>
                        <a:cs typeface="Noto Sans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2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7D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7212B"/>
                          </a:solidFill>
                          <a:latin typeface="Noto Sans" pitchFamily="34" charset="0"/>
                          <a:ea typeface="Noto Sans" pitchFamily="34" charset="-122"/>
                          <a:cs typeface="Noto Sans" pitchFamily="34" charset="-120"/>
                        </a:rPr>
                        <a:t>0,941</a:t>
                      </a:r>
                      <a:endParaRPr lang="en-US" sz="1500" dirty="0">
                        <a:latin typeface="Noto Sans" charset="0"/>
                        <a:ea typeface="Noto Sans" charset="0"/>
                        <a:cs typeface="Noto Sans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2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7DD"/>
                    </a:solidFill>
                  </a:tcPr>
                </a:tc>
              </a:tr>
              <a:tr h="410210"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7212B"/>
                          </a:solidFill>
                          <a:latin typeface="Noto Sans" pitchFamily="34" charset="0"/>
                          <a:ea typeface="Noto Sans" pitchFamily="34" charset="-122"/>
                          <a:cs typeface="Noto Sans" pitchFamily="34" charset="-120"/>
                        </a:rPr>
                        <a:t>6</a:t>
                      </a:r>
                      <a:endParaRPr lang="en-US" sz="1500" dirty="0">
                        <a:latin typeface="Noto Sans" charset="0"/>
                        <a:ea typeface="Noto Sans" charset="0"/>
                        <a:cs typeface="Noto Sans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C2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2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2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7212B"/>
                          </a:solidFill>
                          <a:latin typeface="Noto Sans" pitchFamily="34" charset="0"/>
                          <a:ea typeface="Noto Sans" pitchFamily="34" charset="-122"/>
                          <a:cs typeface="Noto Sans" pitchFamily="34" charset="-120"/>
                        </a:rPr>
                        <a:t>294,5</a:t>
                      </a:r>
                      <a:endParaRPr lang="en-US" sz="1500" dirty="0">
                        <a:latin typeface="Noto Sans" charset="0"/>
                        <a:ea typeface="Noto Sans" charset="0"/>
                        <a:cs typeface="Noto Sans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C2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2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2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7212B"/>
                          </a:solidFill>
                          <a:latin typeface="Noto Sans" pitchFamily="34" charset="0"/>
                          <a:ea typeface="Noto Sans" pitchFamily="34" charset="-122"/>
                          <a:cs typeface="Noto Sans" pitchFamily="34" charset="-120"/>
                        </a:rPr>
                        <a:t>279,1</a:t>
                      </a:r>
                      <a:endParaRPr lang="en-US" sz="1500" dirty="0">
                        <a:latin typeface="Noto Sans" charset="0"/>
                        <a:ea typeface="Noto Sans" charset="0"/>
                        <a:cs typeface="Noto Sans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C2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2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2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7212B"/>
                          </a:solidFill>
                          <a:latin typeface="Noto Sans" pitchFamily="34" charset="0"/>
                          <a:ea typeface="Noto Sans" pitchFamily="34" charset="-122"/>
                          <a:cs typeface="Noto Sans" pitchFamily="34" charset="-120"/>
                        </a:rPr>
                        <a:t>15,4</a:t>
                      </a:r>
                      <a:endParaRPr lang="en-US" sz="1500" dirty="0">
                        <a:latin typeface="Noto Sans" charset="0"/>
                        <a:ea typeface="Noto Sans" charset="0"/>
                        <a:cs typeface="Noto Sans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C2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2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2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7212B"/>
                          </a:solidFill>
                          <a:latin typeface="Noto Sans" pitchFamily="34" charset="0"/>
                          <a:ea typeface="Noto Sans" pitchFamily="34" charset="-122"/>
                          <a:cs typeface="Noto Sans" pitchFamily="34" charset="-120"/>
                        </a:rPr>
                        <a:t>0,948</a:t>
                      </a:r>
                      <a:endParaRPr lang="en-US" sz="1500" dirty="0">
                        <a:latin typeface="Noto Sans" charset="0"/>
                        <a:ea typeface="Noto Sans" charset="0"/>
                        <a:cs typeface="Noto Sans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C2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2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2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812800" y="3776979"/>
            <a:ext cx="6196034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6616D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Nazariy kuch pₛ·A₁, A₁ = 4,909·10⁻⁴ m². Namunaviy oʻlchov natijalari.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7082367" y="1732279"/>
            <a:ext cx="4296833" cy="1104900"/>
          </a:xfrm>
          <a:prstGeom prst="roundRect">
            <a:avLst>
              <a:gd name="adj" fmla="val 8046"/>
            </a:avLst>
          </a:prstGeom>
          <a:solidFill>
            <a:srgbClr val="142130"/>
          </a:solidFill>
          <a:ln/>
        </p:spPr>
      </p:sp>
      <p:sp>
        <p:nvSpPr>
          <p:cNvPr id="7" name="Text 4"/>
          <p:cNvSpPr/>
          <p:nvPr/>
        </p:nvSpPr>
        <p:spPr>
          <a:xfrm>
            <a:off x="7285567" y="1910079"/>
            <a:ext cx="4007146" cy="523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20"/>
              </a:lnSpc>
              <a:buNone/>
            </a:pPr>
            <a:r>
              <a:rPr lang="en-US" sz="2800" b="1" dirty="0">
                <a:solidFill>
                  <a:srgbClr val="F08A3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15,0 N</a:t>
            </a:r>
            <a:endParaRPr lang="en-US" sz="2800" dirty="0"/>
          </a:p>
        </p:txBody>
      </p:sp>
      <p:sp>
        <p:nvSpPr>
          <p:cNvPr id="8" name="Text 5"/>
          <p:cNvSpPr/>
          <p:nvPr/>
        </p:nvSpPr>
        <p:spPr>
          <a:xfrm>
            <a:off x="7285567" y="2446021"/>
            <a:ext cx="4007146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A9B8C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oʻrtacha ishqalanish kuchi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7082367" y="2964179"/>
            <a:ext cx="4296833" cy="1104900"/>
          </a:xfrm>
          <a:prstGeom prst="roundRect">
            <a:avLst>
              <a:gd name="adj" fmla="val 8046"/>
            </a:avLst>
          </a:prstGeom>
          <a:solidFill>
            <a:srgbClr val="142130"/>
          </a:solidFill>
          <a:ln/>
        </p:spPr>
      </p:sp>
      <p:sp>
        <p:nvSpPr>
          <p:cNvPr id="10" name="Text 7"/>
          <p:cNvSpPr/>
          <p:nvPr/>
        </p:nvSpPr>
        <p:spPr>
          <a:xfrm>
            <a:off x="7285567" y="3141979"/>
            <a:ext cx="4007146" cy="523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20"/>
              </a:lnSpc>
              <a:buNone/>
            </a:pPr>
            <a:r>
              <a:rPr lang="en-US" sz="2800" b="1" dirty="0">
                <a:solidFill>
                  <a:srgbClr val="F08A3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279,5 N</a:t>
            </a:r>
            <a:endParaRPr lang="en-US" sz="2800" dirty="0"/>
          </a:p>
        </p:txBody>
      </p:sp>
      <p:sp>
        <p:nvSpPr>
          <p:cNvPr id="11" name="Text 8"/>
          <p:cNvSpPr/>
          <p:nvPr/>
        </p:nvSpPr>
        <p:spPr>
          <a:xfrm>
            <a:off x="7285567" y="3677921"/>
            <a:ext cx="4007146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A9B8C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Fₘₐₓ, 6 bar da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812800" y="6235700"/>
            <a:ext cx="5898388" cy="2413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6616D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Mexatron modul va robotlarning yuritmalari · Tajriba mashgʻuloti №2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11153987" y="6235700"/>
            <a:ext cx="225213" cy="2413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6616D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10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3F1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A84F1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NATIJALAR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02358"/>
            <a:ext cx="10883392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360"/>
              </a:lnSpc>
              <a:buNone/>
            </a:pPr>
            <a:r>
              <a:rPr lang="en-US" sz="3000" b="1" i="0" dirty="0">
                <a:solidFill>
                  <a:srgbClr val="17212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2–3-topshiriq: oʻlchov natijalari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812800" y="1732279"/>
            <a:ext cx="52847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D5F9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pₛ = 6 bar</a:t>
            </a:r>
            <a:endParaRPr lang="en-US" sz="14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2067560"/>
          <a:ext cx="5120640" cy="2971800"/>
        </p:xfrm>
        <a:graphic>
          <a:graphicData uri="http://schemas.openxmlformats.org/drawingml/2006/table">
            <a:tbl>
              <a:tblPr/>
              <a:tblGrid>
                <a:gridCol w="1280160"/>
                <a:gridCol w="1280160"/>
                <a:gridCol w="1280160"/>
                <a:gridCol w="1280160"/>
              </a:tblGrid>
              <a:tr h="330200"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17212B"/>
                          </a:solidFill>
                          <a:latin typeface="Noto Sans" pitchFamily="34" charset="0"/>
                          <a:ea typeface="Noto Sans" pitchFamily="34" charset="-122"/>
                          <a:cs typeface="Noto Sans" pitchFamily="34" charset="-120"/>
                        </a:rPr>
                        <a:t>F, N</a:t>
                      </a:r>
                      <a:endParaRPr lang="en-US" sz="1200" dirty="0">
                        <a:latin typeface="Noto Sans" charset="0"/>
                        <a:ea typeface="Noto Sans" charset="0"/>
                        <a:cs typeface="Noto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2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4B2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2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4B2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DFD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17212B"/>
                          </a:solidFill>
                          <a:latin typeface="Noto Sans" pitchFamily="34" charset="0"/>
                          <a:ea typeface="Noto Sans" pitchFamily="34" charset="-122"/>
                          <a:cs typeface="Noto Sans" pitchFamily="34" charset="-120"/>
                        </a:rPr>
                        <a:t>v, m/s</a:t>
                      </a:r>
                      <a:endParaRPr lang="en-US" sz="1200" dirty="0">
                        <a:latin typeface="Noto Sans" charset="0"/>
                        <a:ea typeface="Noto Sans" charset="0"/>
                        <a:cs typeface="Noto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B4B2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4B2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2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4B2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DFD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17212B"/>
                          </a:solidFill>
                          <a:latin typeface="Noto Sans" pitchFamily="34" charset="0"/>
                          <a:ea typeface="Noto Sans" pitchFamily="34" charset="-122"/>
                          <a:cs typeface="Noto Sans" pitchFamily="34" charset="-120"/>
                        </a:rPr>
                        <a:t>p₁, bar</a:t>
                      </a:r>
                      <a:endParaRPr lang="en-US" sz="1200" dirty="0">
                        <a:latin typeface="Noto Sans" charset="0"/>
                        <a:ea typeface="Noto Sans" charset="0"/>
                        <a:cs typeface="Noto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B4B2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4B2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2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4B2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DFD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17212B"/>
                          </a:solidFill>
                          <a:latin typeface="Noto Sans" pitchFamily="34" charset="0"/>
                          <a:ea typeface="Noto Sans" pitchFamily="34" charset="-122"/>
                          <a:cs typeface="Noto Sans" pitchFamily="34" charset="-120"/>
                        </a:rPr>
                        <a:t>p₂, bar</a:t>
                      </a:r>
                      <a:endParaRPr lang="en-US" sz="1200" dirty="0">
                        <a:latin typeface="Noto Sans" charset="0"/>
                        <a:ea typeface="Noto Sans" charset="0"/>
                        <a:cs typeface="Noto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B4B2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4B2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2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4B2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DFDA"/>
                    </a:solidFill>
                  </a:tcPr>
                </a:tc>
              </a:tr>
              <a:tr h="330200"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7212B"/>
                          </a:solidFill>
                          <a:latin typeface="Noto Sans" pitchFamily="34" charset="0"/>
                          <a:ea typeface="Noto Sans" pitchFamily="34" charset="-122"/>
                          <a:cs typeface="Noto Sans" pitchFamily="34" charset="-120"/>
                        </a:rPr>
                        <a:t>14,7</a:t>
                      </a:r>
                      <a:endParaRPr lang="en-US" sz="1200" dirty="0">
                        <a:latin typeface="Noto Sans" charset="0"/>
                        <a:ea typeface="Noto Sans" charset="0"/>
                        <a:cs typeface="Noto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2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2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4B2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2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7212B"/>
                          </a:solidFill>
                          <a:latin typeface="Noto Sans" pitchFamily="34" charset="0"/>
                          <a:ea typeface="Noto Sans" pitchFamily="34" charset="-122"/>
                          <a:cs typeface="Noto Sans" pitchFamily="34" charset="-120"/>
                        </a:rPr>
                        <a:t>0,300</a:t>
                      </a:r>
                      <a:endParaRPr lang="en-US" sz="1200" dirty="0">
                        <a:latin typeface="Noto Sans" charset="0"/>
                        <a:ea typeface="Noto Sans" charset="0"/>
                        <a:cs typeface="Noto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2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2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4B2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2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7212B"/>
                          </a:solidFill>
                          <a:latin typeface="Noto Sans" pitchFamily="34" charset="0"/>
                          <a:ea typeface="Noto Sans" pitchFamily="34" charset="-122"/>
                          <a:cs typeface="Noto Sans" pitchFamily="34" charset="-120"/>
                        </a:rPr>
                        <a:t>5,81</a:t>
                      </a:r>
                      <a:endParaRPr lang="en-US" sz="1200" dirty="0">
                        <a:latin typeface="Noto Sans" charset="0"/>
                        <a:ea typeface="Noto Sans" charset="0"/>
                        <a:cs typeface="Noto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2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2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4B2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2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7212B"/>
                          </a:solidFill>
                          <a:latin typeface="Noto Sans" pitchFamily="34" charset="0"/>
                          <a:ea typeface="Noto Sans" pitchFamily="34" charset="-122"/>
                          <a:cs typeface="Noto Sans" pitchFamily="34" charset="-120"/>
                        </a:rPr>
                        <a:t>6,20</a:t>
                      </a:r>
                      <a:endParaRPr lang="en-US" sz="1200" dirty="0">
                        <a:latin typeface="Noto Sans" charset="0"/>
                        <a:ea typeface="Noto Sans" charset="0"/>
                        <a:cs typeface="Noto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2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2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4B2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2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0200"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7212B"/>
                          </a:solidFill>
                          <a:latin typeface="Noto Sans" pitchFamily="34" charset="0"/>
                          <a:ea typeface="Noto Sans" pitchFamily="34" charset="-122"/>
                          <a:cs typeface="Noto Sans" pitchFamily="34" charset="-120"/>
                        </a:rPr>
                        <a:t>63,8</a:t>
                      </a:r>
                      <a:endParaRPr lang="en-US" sz="1200" dirty="0">
                        <a:latin typeface="Noto Sans" charset="0"/>
                        <a:ea typeface="Noto Sans" charset="0"/>
                        <a:cs typeface="Noto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2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2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7D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7212B"/>
                          </a:solidFill>
                          <a:latin typeface="Noto Sans" pitchFamily="34" charset="0"/>
                          <a:ea typeface="Noto Sans" pitchFamily="34" charset="-122"/>
                          <a:cs typeface="Noto Sans" pitchFamily="34" charset="-120"/>
                        </a:rPr>
                        <a:t>0,298</a:t>
                      </a:r>
                      <a:endParaRPr lang="en-US" sz="1200" dirty="0">
                        <a:latin typeface="Noto Sans" charset="0"/>
                        <a:ea typeface="Noto Sans" charset="0"/>
                        <a:cs typeface="Noto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2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7D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7212B"/>
                          </a:solidFill>
                          <a:latin typeface="Noto Sans" pitchFamily="34" charset="0"/>
                          <a:ea typeface="Noto Sans" pitchFamily="34" charset="-122"/>
                          <a:cs typeface="Noto Sans" pitchFamily="34" charset="-120"/>
                        </a:rPr>
                        <a:t>5,80</a:t>
                      </a:r>
                      <a:endParaRPr lang="en-US" sz="1200" dirty="0">
                        <a:latin typeface="Noto Sans" charset="0"/>
                        <a:ea typeface="Noto Sans" charset="0"/>
                        <a:cs typeface="Noto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2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7D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7212B"/>
                          </a:solidFill>
                          <a:latin typeface="Noto Sans" pitchFamily="34" charset="0"/>
                          <a:ea typeface="Noto Sans" pitchFamily="34" charset="-122"/>
                          <a:cs typeface="Noto Sans" pitchFamily="34" charset="-120"/>
                        </a:rPr>
                        <a:t>4,99</a:t>
                      </a:r>
                      <a:endParaRPr lang="en-US" sz="1200" dirty="0">
                        <a:latin typeface="Noto Sans" charset="0"/>
                        <a:ea typeface="Noto Sans" charset="0"/>
                        <a:cs typeface="Noto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2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7DD"/>
                    </a:solidFill>
                  </a:tcPr>
                </a:tc>
              </a:tr>
              <a:tr h="330200"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7212B"/>
                          </a:solidFill>
                          <a:latin typeface="Noto Sans" pitchFamily="34" charset="0"/>
                          <a:ea typeface="Noto Sans" pitchFamily="34" charset="-122"/>
                          <a:cs typeface="Noto Sans" pitchFamily="34" charset="-120"/>
                        </a:rPr>
                        <a:t>112,8</a:t>
                      </a:r>
                      <a:endParaRPr lang="en-US" sz="1200" dirty="0">
                        <a:latin typeface="Noto Sans" charset="0"/>
                        <a:ea typeface="Noto Sans" charset="0"/>
                        <a:cs typeface="Noto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2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2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2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7212B"/>
                          </a:solidFill>
                          <a:latin typeface="Noto Sans" pitchFamily="34" charset="0"/>
                          <a:ea typeface="Noto Sans" pitchFamily="34" charset="-122"/>
                          <a:cs typeface="Noto Sans" pitchFamily="34" charset="-120"/>
                        </a:rPr>
                        <a:t>0,302</a:t>
                      </a:r>
                      <a:endParaRPr lang="en-US" sz="1200" dirty="0">
                        <a:latin typeface="Noto Sans" charset="0"/>
                        <a:ea typeface="Noto Sans" charset="0"/>
                        <a:cs typeface="Noto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2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2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2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7212B"/>
                          </a:solidFill>
                          <a:latin typeface="Noto Sans" pitchFamily="34" charset="0"/>
                          <a:ea typeface="Noto Sans" pitchFamily="34" charset="-122"/>
                          <a:cs typeface="Noto Sans" pitchFamily="34" charset="-120"/>
                        </a:rPr>
                        <a:t>5,80</a:t>
                      </a:r>
                      <a:endParaRPr lang="en-US" sz="1200" dirty="0">
                        <a:latin typeface="Noto Sans" charset="0"/>
                        <a:ea typeface="Noto Sans" charset="0"/>
                        <a:cs typeface="Noto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2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2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2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7212B"/>
                          </a:solidFill>
                          <a:latin typeface="Noto Sans" pitchFamily="34" charset="0"/>
                          <a:ea typeface="Noto Sans" pitchFamily="34" charset="-122"/>
                          <a:cs typeface="Noto Sans" pitchFamily="34" charset="-120"/>
                        </a:rPr>
                        <a:t>3,81</a:t>
                      </a:r>
                      <a:endParaRPr lang="en-US" sz="1200" dirty="0">
                        <a:latin typeface="Noto Sans" charset="0"/>
                        <a:ea typeface="Noto Sans" charset="0"/>
                        <a:cs typeface="Noto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2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2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2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0200"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7212B"/>
                          </a:solidFill>
                          <a:latin typeface="Noto Sans" pitchFamily="34" charset="0"/>
                          <a:ea typeface="Noto Sans" pitchFamily="34" charset="-122"/>
                          <a:cs typeface="Noto Sans" pitchFamily="34" charset="-120"/>
                        </a:rPr>
                        <a:t>161,9</a:t>
                      </a:r>
                      <a:endParaRPr lang="en-US" sz="1200" dirty="0">
                        <a:latin typeface="Noto Sans" charset="0"/>
                        <a:ea typeface="Noto Sans" charset="0"/>
                        <a:cs typeface="Noto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2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2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7D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7212B"/>
                          </a:solidFill>
                          <a:latin typeface="Noto Sans" pitchFamily="34" charset="0"/>
                          <a:ea typeface="Noto Sans" pitchFamily="34" charset="-122"/>
                          <a:cs typeface="Noto Sans" pitchFamily="34" charset="-120"/>
                        </a:rPr>
                        <a:t>0,294</a:t>
                      </a:r>
                      <a:endParaRPr lang="en-US" sz="1200" dirty="0">
                        <a:latin typeface="Noto Sans" charset="0"/>
                        <a:ea typeface="Noto Sans" charset="0"/>
                        <a:cs typeface="Noto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2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7D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7212B"/>
                          </a:solidFill>
                          <a:latin typeface="Noto Sans" pitchFamily="34" charset="0"/>
                          <a:ea typeface="Noto Sans" pitchFamily="34" charset="-122"/>
                          <a:cs typeface="Noto Sans" pitchFamily="34" charset="-120"/>
                        </a:rPr>
                        <a:t>5,82</a:t>
                      </a:r>
                      <a:endParaRPr lang="en-US" sz="1200" dirty="0">
                        <a:latin typeface="Noto Sans" charset="0"/>
                        <a:ea typeface="Noto Sans" charset="0"/>
                        <a:cs typeface="Noto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2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7D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7212B"/>
                          </a:solidFill>
                          <a:latin typeface="Noto Sans" pitchFamily="34" charset="0"/>
                          <a:ea typeface="Noto Sans" pitchFamily="34" charset="-122"/>
                          <a:cs typeface="Noto Sans" pitchFamily="34" charset="-120"/>
                        </a:rPr>
                        <a:t>2,61</a:t>
                      </a:r>
                      <a:endParaRPr lang="en-US" sz="1200" dirty="0">
                        <a:latin typeface="Noto Sans" charset="0"/>
                        <a:ea typeface="Noto Sans" charset="0"/>
                        <a:cs typeface="Noto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2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7DD"/>
                    </a:solidFill>
                  </a:tcPr>
                </a:tc>
              </a:tr>
              <a:tr h="330200"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7212B"/>
                          </a:solidFill>
                          <a:latin typeface="Noto Sans" pitchFamily="34" charset="0"/>
                          <a:ea typeface="Noto Sans" pitchFamily="34" charset="-122"/>
                          <a:cs typeface="Noto Sans" pitchFamily="34" charset="-120"/>
                        </a:rPr>
                        <a:t>210,9</a:t>
                      </a:r>
                      <a:endParaRPr lang="en-US" sz="1200" dirty="0">
                        <a:latin typeface="Noto Sans" charset="0"/>
                        <a:ea typeface="Noto Sans" charset="0"/>
                        <a:cs typeface="Noto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2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2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2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7212B"/>
                          </a:solidFill>
                          <a:latin typeface="Noto Sans" pitchFamily="34" charset="0"/>
                          <a:ea typeface="Noto Sans" pitchFamily="34" charset="-122"/>
                          <a:cs typeface="Noto Sans" pitchFamily="34" charset="-120"/>
                        </a:rPr>
                        <a:t>0,298</a:t>
                      </a:r>
                      <a:endParaRPr lang="en-US" sz="1200" dirty="0">
                        <a:latin typeface="Noto Sans" charset="0"/>
                        <a:ea typeface="Noto Sans" charset="0"/>
                        <a:cs typeface="Noto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2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2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2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7212B"/>
                          </a:solidFill>
                          <a:latin typeface="Noto Sans" pitchFamily="34" charset="0"/>
                          <a:ea typeface="Noto Sans" pitchFamily="34" charset="-122"/>
                          <a:cs typeface="Noto Sans" pitchFamily="34" charset="-120"/>
                        </a:rPr>
                        <a:t>5,80</a:t>
                      </a:r>
                      <a:endParaRPr lang="en-US" sz="1200" dirty="0">
                        <a:latin typeface="Noto Sans" charset="0"/>
                        <a:ea typeface="Noto Sans" charset="0"/>
                        <a:cs typeface="Noto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2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2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2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7212B"/>
                          </a:solidFill>
                          <a:latin typeface="Noto Sans" pitchFamily="34" charset="0"/>
                          <a:ea typeface="Noto Sans" pitchFamily="34" charset="-122"/>
                          <a:cs typeface="Noto Sans" pitchFamily="34" charset="-120"/>
                        </a:rPr>
                        <a:t>1,43</a:t>
                      </a:r>
                      <a:endParaRPr lang="en-US" sz="1200" dirty="0">
                        <a:latin typeface="Noto Sans" charset="0"/>
                        <a:ea typeface="Noto Sans" charset="0"/>
                        <a:cs typeface="Noto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2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2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2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0200"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7212B"/>
                          </a:solidFill>
                          <a:latin typeface="Noto Sans" pitchFamily="34" charset="0"/>
                          <a:ea typeface="Noto Sans" pitchFamily="34" charset="-122"/>
                          <a:cs typeface="Noto Sans" pitchFamily="34" charset="-120"/>
                        </a:rPr>
                        <a:t>235,4</a:t>
                      </a:r>
                      <a:endParaRPr lang="en-US" sz="1200" dirty="0">
                        <a:latin typeface="Noto Sans" charset="0"/>
                        <a:ea typeface="Noto Sans" charset="0"/>
                        <a:cs typeface="Noto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2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2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7D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7212B"/>
                          </a:solidFill>
                          <a:latin typeface="Noto Sans" pitchFamily="34" charset="0"/>
                          <a:ea typeface="Noto Sans" pitchFamily="34" charset="-122"/>
                          <a:cs typeface="Noto Sans" pitchFamily="34" charset="-120"/>
                        </a:rPr>
                        <a:t>0,282</a:t>
                      </a:r>
                      <a:endParaRPr lang="en-US" sz="1200" dirty="0">
                        <a:latin typeface="Noto Sans" charset="0"/>
                        <a:ea typeface="Noto Sans" charset="0"/>
                        <a:cs typeface="Noto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2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7D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7212B"/>
                          </a:solidFill>
                          <a:latin typeface="Noto Sans" pitchFamily="34" charset="0"/>
                          <a:ea typeface="Noto Sans" pitchFamily="34" charset="-122"/>
                          <a:cs typeface="Noto Sans" pitchFamily="34" charset="-120"/>
                        </a:rPr>
                        <a:t>5,82</a:t>
                      </a:r>
                      <a:endParaRPr lang="en-US" sz="1200" dirty="0">
                        <a:latin typeface="Noto Sans" charset="0"/>
                        <a:ea typeface="Noto Sans" charset="0"/>
                        <a:cs typeface="Noto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2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7D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7212B"/>
                          </a:solidFill>
                          <a:latin typeface="Noto Sans" pitchFamily="34" charset="0"/>
                          <a:ea typeface="Noto Sans" pitchFamily="34" charset="-122"/>
                          <a:cs typeface="Noto Sans" pitchFamily="34" charset="-120"/>
                        </a:rPr>
                        <a:t>0,84</a:t>
                      </a:r>
                      <a:endParaRPr lang="en-US" sz="1200" dirty="0">
                        <a:latin typeface="Noto Sans" charset="0"/>
                        <a:ea typeface="Noto Sans" charset="0"/>
                        <a:cs typeface="Noto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2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7DD"/>
                    </a:solidFill>
                  </a:tcPr>
                </a:tc>
              </a:tr>
              <a:tr h="330200"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7212B"/>
                          </a:solidFill>
                          <a:latin typeface="Noto Sans" pitchFamily="34" charset="0"/>
                          <a:ea typeface="Noto Sans" pitchFamily="34" charset="-122"/>
                          <a:cs typeface="Noto Sans" pitchFamily="34" charset="-120"/>
                        </a:rPr>
                        <a:t>260,0</a:t>
                      </a:r>
                      <a:endParaRPr lang="en-US" sz="1200" dirty="0">
                        <a:latin typeface="Noto Sans" charset="0"/>
                        <a:ea typeface="Noto Sans" charset="0"/>
                        <a:cs typeface="Noto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2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2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2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7212B"/>
                          </a:solidFill>
                          <a:latin typeface="Noto Sans" pitchFamily="34" charset="0"/>
                          <a:ea typeface="Noto Sans" pitchFamily="34" charset="-122"/>
                          <a:cs typeface="Noto Sans" pitchFamily="34" charset="-120"/>
                        </a:rPr>
                        <a:t>0,221</a:t>
                      </a:r>
                      <a:endParaRPr lang="en-US" sz="1200" dirty="0">
                        <a:latin typeface="Noto Sans" charset="0"/>
                        <a:ea typeface="Noto Sans" charset="0"/>
                        <a:cs typeface="Noto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2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2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2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7212B"/>
                          </a:solidFill>
                          <a:latin typeface="Noto Sans" pitchFamily="34" charset="0"/>
                          <a:ea typeface="Noto Sans" pitchFamily="34" charset="-122"/>
                          <a:cs typeface="Noto Sans" pitchFamily="34" charset="-120"/>
                        </a:rPr>
                        <a:t>5,86</a:t>
                      </a:r>
                      <a:endParaRPr lang="en-US" sz="1200" dirty="0">
                        <a:latin typeface="Noto Sans" charset="0"/>
                        <a:ea typeface="Noto Sans" charset="0"/>
                        <a:cs typeface="Noto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2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2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2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7212B"/>
                          </a:solidFill>
                          <a:latin typeface="Noto Sans" pitchFamily="34" charset="0"/>
                          <a:ea typeface="Noto Sans" pitchFamily="34" charset="-122"/>
                          <a:cs typeface="Noto Sans" pitchFamily="34" charset="-120"/>
                        </a:rPr>
                        <a:t>0,29</a:t>
                      </a:r>
                      <a:endParaRPr lang="en-US" sz="1200" dirty="0">
                        <a:latin typeface="Noto Sans" charset="0"/>
                        <a:ea typeface="Noto Sans" charset="0"/>
                        <a:cs typeface="Noto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2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2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2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0200"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7212B"/>
                          </a:solidFill>
                          <a:latin typeface="Noto Sans" pitchFamily="34" charset="0"/>
                          <a:ea typeface="Noto Sans" pitchFamily="34" charset="-122"/>
                          <a:cs typeface="Noto Sans" pitchFamily="34" charset="-120"/>
                        </a:rPr>
                        <a:t>274,7</a:t>
                      </a:r>
                      <a:endParaRPr lang="en-US" sz="1200" dirty="0">
                        <a:latin typeface="Noto Sans" charset="0"/>
                        <a:ea typeface="Noto Sans" charset="0"/>
                        <a:cs typeface="Noto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2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2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7D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7212B"/>
                          </a:solidFill>
                          <a:latin typeface="Noto Sans" pitchFamily="34" charset="0"/>
                          <a:ea typeface="Noto Sans" pitchFamily="34" charset="-122"/>
                          <a:cs typeface="Noto Sans" pitchFamily="34" charset="-120"/>
                        </a:rPr>
                        <a:t>0,096</a:t>
                      </a:r>
                      <a:endParaRPr lang="en-US" sz="1200" dirty="0">
                        <a:latin typeface="Noto Sans" charset="0"/>
                        <a:ea typeface="Noto Sans" charset="0"/>
                        <a:cs typeface="Noto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2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7D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7212B"/>
                          </a:solidFill>
                          <a:latin typeface="Noto Sans" pitchFamily="34" charset="0"/>
                          <a:ea typeface="Noto Sans" pitchFamily="34" charset="-122"/>
                          <a:cs typeface="Noto Sans" pitchFamily="34" charset="-120"/>
                        </a:rPr>
                        <a:t>5,94</a:t>
                      </a:r>
                      <a:endParaRPr lang="en-US" sz="1200" dirty="0">
                        <a:latin typeface="Noto Sans" charset="0"/>
                        <a:ea typeface="Noto Sans" charset="0"/>
                        <a:cs typeface="Noto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2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7D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7212B"/>
                          </a:solidFill>
                          <a:latin typeface="Noto Sans" pitchFamily="34" charset="0"/>
                          <a:ea typeface="Noto Sans" pitchFamily="34" charset="-122"/>
                          <a:cs typeface="Noto Sans" pitchFamily="34" charset="-120"/>
                        </a:rPr>
                        <a:t>0,03</a:t>
                      </a:r>
                      <a:endParaRPr lang="en-US" sz="1200" dirty="0">
                        <a:latin typeface="Noto Sans" charset="0"/>
                        <a:ea typeface="Noto Sans" charset="0"/>
                        <a:cs typeface="Noto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2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7DD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6248400" y="1732279"/>
            <a:ext cx="52847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C0504D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pₛ = 4 bar</a:t>
            </a:r>
            <a:endParaRPr lang="en-US" sz="1400" dirty="0"/>
          </a:p>
        </p:txBody>
      </p:sp>
      <p:graphicFrame>
        <p:nvGraphicFramePr>
          <p:cNvPr id="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58560" y="2067560"/>
          <a:ext cx="5120640" cy="2971800"/>
        </p:xfrm>
        <a:graphic>
          <a:graphicData uri="http://schemas.openxmlformats.org/drawingml/2006/table">
            <a:tbl>
              <a:tblPr/>
              <a:tblGrid>
                <a:gridCol w="1280160"/>
                <a:gridCol w="1280160"/>
                <a:gridCol w="1280160"/>
                <a:gridCol w="1280160"/>
              </a:tblGrid>
              <a:tr h="330200"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17212B"/>
                          </a:solidFill>
                          <a:latin typeface="Noto Sans" pitchFamily="34" charset="0"/>
                          <a:ea typeface="Noto Sans" pitchFamily="34" charset="-122"/>
                          <a:cs typeface="Noto Sans" pitchFamily="34" charset="-120"/>
                        </a:rPr>
                        <a:t>F, N</a:t>
                      </a:r>
                      <a:endParaRPr lang="en-US" sz="1200" dirty="0">
                        <a:latin typeface="Noto Sans" charset="0"/>
                        <a:ea typeface="Noto Sans" charset="0"/>
                        <a:cs typeface="Noto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2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4B2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2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4B2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DFD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17212B"/>
                          </a:solidFill>
                          <a:latin typeface="Noto Sans" pitchFamily="34" charset="0"/>
                          <a:ea typeface="Noto Sans" pitchFamily="34" charset="-122"/>
                          <a:cs typeface="Noto Sans" pitchFamily="34" charset="-120"/>
                        </a:rPr>
                        <a:t>v, m/s</a:t>
                      </a:r>
                      <a:endParaRPr lang="en-US" sz="1200" dirty="0">
                        <a:latin typeface="Noto Sans" charset="0"/>
                        <a:ea typeface="Noto Sans" charset="0"/>
                        <a:cs typeface="Noto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B4B2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4B2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2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4B2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DFD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17212B"/>
                          </a:solidFill>
                          <a:latin typeface="Noto Sans" pitchFamily="34" charset="0"/>
                          <a:ea typeface="Noto Sans" pitchFamily="34" charset="-122"/>
                          <a:cs typeface="Noto Sans" pitchFamily="34" charset="-120"/>
                        </a:rPr>
                        <a:t>p₁, bar</a:t>
                      </a:r>
                      <a:endParaRPr lang="en-US" sz="1200" dirty="0">
                        <a:latin typeface="Noto Sans" charset="0"/>
                        <a:ea typeface="Noto Sans" charset="0"/>
                        <a:cs typeface="Noto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B4B2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4B2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2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4B2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DFD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17212B"/>
                          </a:solidFill>
                          <a:latin typeface="Noto Sans" pitchFamily="34" charset="0"/>
                          <a:ea typeface="Noto Sans" pitchFamily="34" charset="-122"/>
                          <a:cs typeface="Noto Sans" pitchFamily="34" charset="-120"/>
                        </a:rPr>
                        <a:t>p₂, bar</a:t>
                      </a:r>
                      <a:endParaRPr lang="en-US" sz="1200" dirty="0">
                        <a:latin typeface="Noto Sans" charset="0"/>
                        <a:ea typeface="Noto Sans" charset="0"/>
                        <a:cs typeface="Noto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B4B2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4B2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2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4B2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DFDA"/>
                    </a:solidFill>
                  </a:tcPr>
                </a:tc>
              </a:tr>
              <a:tr h="330200"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7212B"/>
                          </a:solidFill>
                          <a:latin typeface="Noto Sans" pitchFamily="34" charset="0"/>
                          <a:ea typeface="Noto Sans" pitchFamily="34" charset="-122"/>
                          <a:cs typeface="Noto Sans" pitchFamily="34" charset="-120"/>
                        </a:rPr>
                        <a:t>14,7</a:t>
                      </a:r>
                      <a:endParaRPr lang="en-US" sz="1200" dirty="0">
                        <a:latin typeface="Noto Sans" charset="0"/>
                        <a:ea typeface="Noto Sans" charset="0"/>
                        <a:cs typeface="Noto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2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2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4B2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2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7212B"/>
                          </a:solidFill>
                          <a:latin typeface="Noto Sans" pitchFamily="34" charset="0"/>
                          <a:ea typeface="Noto Sans" pitchFamily="34" charset="-122"/>
                          <a:cs typeface="Noto Sans" pitchFamily="34" charset="-120"/>
                        </a:rPr>
                        <a:t>0,293</a:t>
                      </a:r>
                      <a:endParaRPr lang="en-US" sz="1200" dirty="0">
                        <a:latin typeface="Noto Sans" charset="0"/>
                        <a:ea typeface="Noto Sans" charset="0"/>
                        <a:cs typeface="Noto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2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2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4B2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2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7212B"/>
                          </a:solidFill>
                          <a:latin typeface="Noto Sans" pitchFamily="34" charset="0"/>
                          <a:ea typeface="Noto Sans" pitchFamily="34" charset="-122"/>
                          <a:cs typeface="Noto Sans" pitchFamily="34" charset="-120"/>
                        </a:rPr>
                        <a:t>3,79</a:t>
                      </a:r>
                      <a:endParaRPr lang="en-US" sz="1200" dirty="0">
                        <a:latin typeface="Noto Sans" charset="0"/>
                        <a:ea typeface="Noto Sans" charset="0"/>
                        <a:cs typeface="Noto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2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2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4B2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2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7212B"/>
                          </a:solidFill>
                          <a:latin typeface="Noto Sans" pitchFamily="34" charset="0"/>
                          <a:ea typeface="Noto Sans" pitchFamily="34" charset="-122"/>
                          <a:cs typeface="Noto Sans" pitchFamily="34" charset="-120"/>
                        </a:rPr>
                        <a:t>3,80</a:t>
                      </a:r>
                      <a:endParaRPr lang="en-US" sz="1200" dirty="0">
                        <a:latin typeface="Noto Sans" charset="0"/>
                        <a:ea typeface="Noto Sans" charset="0"/>
                        <a:cs typeface="Noto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2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2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4B2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2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0200"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7212B"/>
                          </a:solidFill>
                          <a:latin typeface="Noto Sans" pitchFamily="34" charset="0"/>
                          <a:ea typeface="Noto Sans" pitchFamily="34" charset="-122"/>
                          <a:cs typeface="Noto Sans" pitchFamily="34" charset="-120"/>
                        </a:rPr>
                        <a:t>39,2</a:t>
                      </a:r>
                      <a:endParaRPr lang="en-US" sz="1200" dirty="0">
                        <a:latin typeface="Noto Sans" charset="0"/>
                        <a:ea typeface="Noto Sans" charset="0"/>
                        <a:cs typeface="Noto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2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2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7D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7212B"/>
                          </a:solidFill>
                          <a:latin typeface="Noto Sans" pitchFamily="34" charset="0"/>
                          <a:ea typeface="Noto Sans" pitchFamily="34" charset="-122"/>
                          <a:cs typeface="Noto Sans" pitchFamily="34" charset="-120"/>
                        </a:rPr>
                        <a:t>0,296</a:t>
                      </a:r>
                      <a:endParaRPr lang="en-US" sz="1200" dirty="0">
                        <a:latin typeface="Noto Sans" charset="0"/>
                        <a:ea typeface="Noto Sans" charset="0"/>
                        <a:cs typeface="Noto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2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7D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7212B"/>
                          </a:solidFill>
                          <a:latin typeface="Noto Sans" pitchFamily="34" charset="0"/>
                          <a:ea typeface="Noto Sans" pitchFamily="34" charset="-122"/>
                          <a:cs typeface="Noto Sans" pitchFamily="34" charset="-120"/>
                        </a:rPr>
                        <a:t>3,79</a:t>
                      </a:r>
                      <a:endParaRPr lang="en-US" sz="1200" dirty="0">
                        <a:latin typeface="Noto Sans" charset="0"/>
                        <a:ea typeface="Noto Sans" charset="0"/>
                        <a:cs typeface="Noto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2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7D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7212B"/>
                          </a:solidFill>
                          <a:latin typeface="Noto Sans" pitchFamily="34" charset="0"/>
                          <a:ea typeface="Noto Sans" pitchFamily="34" charset="-122"/>
                          <a:cs typeface="Noto Sans" pitchFamily="34" charset="-120"/>
                        </a:rPr>
                        <a:t>3,21</a:t>
                      </a:r>
                      <a:endParaRPr lang="en-US" sz="1200" dirty="0">
                        <a:latin typeface="Noto Sans" charset="0"/>
                        <a:ea typeface="Noto Sans" charset="0"/>
                        <a:cs typeface="Noto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2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7DD"/>
                    </a:solidFill>
                  </a:tcPr>
                </a:tc>
              </a:tr>
              <a:tr h="330200"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7212B"/>
                          </a:solidFill>
                          <a:latin typeface="Noto Sans" pitchFamily="34" charset="0"/>
                          <a:ea typeface="Noto Sans" pitchFamily="34" charset="-122"/>
                          <a:cs typeface="Noto Sans" pitchFamily="34" charset="-120"/>
                        </a:rPr>
                        <a:t>63,8</a:t>
                      </a:r>
                      <a:endParaRPr lang="en-US" sz="1200" dirty="0">
                        <a:latin typeface="Noto Sans" charset="0"/>
                        <a:ea typeface="Noto Sans" charset="0"/>
                        <a:cs typeface="Noto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2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2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2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7212B"/>
                          </a:solidFill>
                          <a:latin typeface="Noto Sans" pitchFamily="34" charset="0"/>
                          <a:ea typeface="Noto Sans" pitchFamily="34" charset="-122"/>
                          <a:cs typeface="Noto Sans" pitchFamily="34" charset="-120"/>
                        </a:rPr>
                        <a:t>0,303</a:t>
                      </a:r>
                      <a:endParaRPr lang="en-US" sz="1200" dirty="0">
                        <a:latin typeface="Noto Sans" charset="0"/>
                        <a:ea typeface="Noto Sans" charset="0"/>
                        <a:cs typeface="Noto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2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2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2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7212B"/>
                          </a:solidFill>
                          <a:latin typeface="Noto Sans" pitchFamily="34" charset="0"/>
                          <a:ea typeface="Noto Sans" pitchFamily="34" charset="-122"/>
                          <a:cs typeface="Noto Sans" pitchFamily="34" charset="-120"/>
                        </a:rPr>
                        <a:t>3,80</a:t>
                      </a:r>
                      <a:endParaRPr lang="en-US" sz="1200" dirty="0">
                        <a:latin typeface="Noto Sans" charset="0"/>
                        <a:ea typeface="Noto Sans" charset="0"/>
                        <a:cs typeface="Noto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2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2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2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7212B"/>
                          </a:solidFill>
                          <a:latin typeface="Noto Sans" pitchFamily="34" charset="0"/>
                          <a:ea typeface="Noto Sans" pitchFamily="34" charset="-122"/>
                          <a:cs typeface="Noto Sans" pitchFamily="34" charset="-120"/>
                        </a:rPr>
                        <a:t>2,61</a:t>
                      </a:r>
                      <a:endParaRPr lang="en-US" sz="1200" dirty="0">
                        <a:latin typeface="Noto Sans" charset="0"/>
                        <a:ea typeface="Noto Sans" charset="0"/>
                        <a:cs typeface="Noto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2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2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2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0200"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7212B"/>
                          </a:solidFill>
                          <a:latin typeface="Noto Sans" pitchFamily="34" charset="0"/>
                          <a:ea typeface="Noto Sans" pitchFamily="34" charset="-122"/>
                          <a:cs typeface="Noto Sans" pitchFamily="34" charset="-120"/>
                        </a:rPr>
                        <a:t>88,3</a:t>
                      </a:r>
                      <a:endParaRPr lang="en-US" sz="1200" dirty="0">
                        <a:latin typeface="Noto Sans" charset="0"/>
                        <a:ea typeface="Noto Sans" charset="0"/>
                        <a:cs typeface="Noto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2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2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7D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7212B"/>
                          </a:solidFill>
                          <a:latin typeface="Noto Sans" pitchFamily="34" charset="0"/>
                          <a:ea typeface="Noto Sans" pitchFamily="34" charset="-122"/>
                          <a:cs typeface="Noto Sans" pitchFamily="34" charset="-120"/>
                        </a:rPr>
                        <a:t>0,301</a:t>
                      </a:r>
                      <a:endParaRPr lang="en-US" sz="1200" dirty="0">
                        <a:latin typeface="Noto Sans" charset="0"/>
                        <a:ea typeface="Noto Sans" charset="0"/>
                        <a:cs typeface="Noto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2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7D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7212B"/>
                          </a:solidFill>
                          <a:latin typeface="Noto Sans" pitchFamily="34" charset="0"/>
                          <a:ea typeface="Noto Sans" pitchFamily="34" charset="-122"/>
                          <a:cs typeface="Noto Sans" pitchFamily="34" charset="-120"/>
                        </a:rPr>
                        <a:t>3,81</a:t>
                      </a:r>
                      <a:endParaRPr lang="en-US" sz="1200" dirty="0">
                        <a:latin typeface="Noto Sans" charset="0"/>
                        <a:ea typeface="Noto Sans" charset="0"/>
                        <a:cs typeface="Noto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2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7D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7212B"/>
                          </a:solidFill>
                          <a:latin typeface="Noto Sans" pitchFamily="34" charset="0"/>
                          <a:ea typeface="Noto Sans" pitchFamily="34" charset="-122"/>
                          <a:cs typeface="Noto Sans" pitchFamily="34" charset="-120"/>
                        </a:rPr>
                        <a:t>2,02</a:t>
                      </a:r>
                      <a:endParaRPr lang="en-US" sz="1200" dirty="0">
                        <a:latin typeface="Noto Sans" charset="0"/>
                        <a:ea typeface="Noto Sans" charset="0"/>
                        <a:cs typeface="Noto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2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7DD"/>
                    </a:solidFill>
                  </a:tcPr>
                </a:tc>
              </a:tr>
              <a:tr h="330200"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7212B"/>
                          </a:solidFill>
                          <a:latin typeface="Noto Sans" pitchFamily="34" charset="0"/>
                          <a:ea typeface="Noto Sans" pitchFamily="34" charset="-122"/>
                          <a:cs typeface="Noto Sans" pitchFamily="34" charset="-120"/>
                        </a:rPr>
                        <a:t>112,8</a:t>
                      </a:r>
                      <a:endParaRPr lang="en-US" sz="1200" dirty="0">
                        <a:latin typeface="Noto Sans" charset="0"/>
                        <a:ea typeface="Noto Sans" charset="0"/>
                        <a:cs typeface="Noto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2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2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2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7212B"/>
                          </a:solidFill>
                          <a:latin typeface="Noto Sans" pitchFamily="34" charset="0"/>
                          <a:ea typeface="Noto Sans" pitchFamily="34" charset="-122"/>
                          <a:cs typeface="Noto Sans" pitchFamily="34" charset="-120"/>
                        </a:rPr>
                        <a:t>0,298</a:t>
                      </a:r>
                      <a:endParaRPr lang="en-US" sz="1200" dirty="0">
                        <a:latin typeface="Noto Sans" charset="0"/>
                        <a:ea typeface="Noto Sans" charset="0"/>
                        <a:cs typeface="Noto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2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2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2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7212B"/>
                          </a:solidFill>
                          <a:latin typeface="Noto Sans" pitchFamily="34" charset="0"/>
                          <a:ea typeface="Noto Sans" pitchFamily="34" charset="-122"/>
                          <a:cs typeface="Noto Sans" pitchFamily="34" charset="-120"/>
                        </a:rPr>
                        <a:t>3,81</a:t>
                      </a:r>
                      <a:endParaRPr lang="en-US" sz="1200" dirty="0">
                        <a:latin typeface="Noto Sans" charset="0"/>
                        <a:ea typeface="Noto Sans" charset="0"/>
                        <a:cs typeface="Noto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2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2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2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7212B"/>
                          </a:solidFill>
                          <a:latin typeface="Noto Sans" pitchFamily="34" charset="0"/>
                          <a:ea typeface="Noto Sans" pitchFamily="34" charset="-122"/>
                          <a:cs typeface="Noto Sans" pitchFamily="34" charset="-120"/>
                        </a:rPr>
                        <a:t>1,43</a:t>
                      </a:r>
                      <a:endParaRPr lang="en-US" sz="1200" dirty="0">
                        <a:latin typeface="Noto Sans" charset="0"/>
                        <a:ea typeface="Noto Sans" charset="0"/>
                        <a:cs typeface="Noto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2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2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2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0200"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7212B"/>
                          </a:solidFill>
                          <a:latin typeface="Noto Sans" pitchFamily="34" charset="0"/>
                          <a:ea typeface="Noto Sans" pitchFamily="34" charset="-122"/>
                          <a:cs typeface="Noto Sans" pitchFamily="34" charset="-120"/>
                        </a:rPr>
                        <a:t>137,3</a:t>
                      </a:r>
                      <a:endParaRPr lang="en-US" sz="1200" dirty="0">
                        <a:latin typeface="Noto Sans" charset="0"/>
                        <a:ea typeface="Noto Sans" charset="0"/>
                        <a:cs typeface="Noto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2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2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7D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7212B"/>
                          </a:solidFill>
                          <a:latin typeface="Noto Sans" pitchFamily="34" charset="0"/>
                          <a:ea typeface="Noto Sans" pitchFamily="34" charset="-122"/>
                          <a:cs typeface="Noto Sans" pitchFamily="34" charset="-120"/>
                        </a:rPr>
                        <a:t>0,278</a:t>
                      </a:r>
                      <a:endParaRPr lang="en-US" sz="1200" dirty="0">
                        <a:latin typeface="Noto Sans" charset="0"/>
                        <a:ea typeface="Noto Sans" charset="0"/>
                        <a:cs typeface="Noto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2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7D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7212B"/>
                          </a:solidFill>
                          <a:latin typeface="Noto Sans" pitchFamily="34" charset="0"/>
                          <a:ea typeface="Noto Sans" pitchFamily="34" charset="-122"/>
                          <a:cs typeface="Noto Sans" pitchFamily="34" charset="-120"/>
                        </a:rPr>
                        <a:t>3,82</a:t>
                      </a:r>
                      <a:endParaRPr lang="en-US" sz="1200" dirty="0">
                        <a:latin typeface="Noto Sans" charset="0"/>
                        <a:ea typeface="Noto Sans" charset="0"/>
                        <a:cs typeface="Noto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2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7D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7212B"/>
                          </a:solidFill>
                          <a:latin typeface="Noto Sans" pitchFamily="34" charset="0"/>
                          <a:ea typeface="Noto Sans" pitchFamily="34" charset="-122"/>
                          <a:cs typeface="Noto Sans" pitchFamily="34" charset="-120"/>
                        </a:rPr>
                        <a:t>0,85</a:t>
                      </a:r>
                      <a:endParaRPr lang="en-US" sz="1200" dirty="0">
                        <a:latin typeface="Noto Sans" charset="0"/>
                        <a:ea typeface="Noto Sans" charset="0"/>
                        <a:cs typeface="Noto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2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7DD"/>
                    </a:solidFill>
                  </a:tcPr>
                </a:tc>
              </a:tr>
              <a:tr h="330200"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7212B"/>
                          </a:solidFill>
                          <a:latin typeface="Noto Sans" pitchFamily="34" charset="0"/>
                          <a:ea typeface="Noto Sans" pitchFamily="34" charset="-122"/>
                          <a:cs typeface="Noto Sans" pitchFamily="34" charset="-120"/>
                        </a:rPr>
                        <a:t>161,9</a:t>
                      </a:r>
                      <a:endParaRPr lang="en-US" sz="1200" dirty="0">
                        <a:latin typeface="Noto Sans" charset="0"/>
                        <a:ea typeface="Noto Sans" charset="0"/>
                        <a:cs typeface="Noto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2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2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2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7212B"/>
                          </a:solidFill>
                          <a:latin typeface="Noto Sans" pitchFamily="34" charset="0"/>
                          <a:ea typeface="Noto Sans" pitchFamily="34" charset="-122"/>
                          <a:cs typeface="Noto Sans" pitchFamily="34" charset="-120"/>
                        </a:rPr>
                        <a:t>0,224</a:t>
                      </a:r>
                      <a:endParaRPr lang="en-US" sz="1200" dirty="0">
                        <a:latin typeface="Noto Sans" charset="0"/>
                        <a:ea typeface="Noto Sans" charset="0"/>
                        <a:cs typeface="Noto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2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2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2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7212B"/>
                          </a:solidFill>
                          <a:latin typeface="Noto Sans" pitchFamily="34" charset="0"/>
                          <a:ea typeface="Noto Sans" pitchFamily="34" charset="-122"/>
                          <a:cs typeface="Noto Sans" pitchFamily="34" charset="-120"/>
                        </a:rPr>
                        <a:t>3,84</a:t>
                      </a:r>
                      <a:endParaRPr lang="en-US" sz="1200" dirty="0">
                        <a:latin typeface="Noto Sans" charset="0"/>
                        <a:ea typeface="Noto Sans" charset="0"/>
                        <a:cs typeface="Noto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2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2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2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7212B"/>
                          </a:solidFill>
                          <a:latin typeface="Noto Sans" pitchFamily="34" charset="0"/>
                          <a:ea typeface="Noto Sans" pitchFamily="34" charset="-122"/>
                          <a:cs typeface="Noto Sans" pitchFamily="34" charset="-120"/>
                        </a:rPr>
                        <a:t>0,29</a:t>
                      </a:r>
                      <a:endParaRPr lang="en-US" sz="1200" dirty="0">
                        <a:latin typeface="Noto Sans" charset="0"/>
                        <a:ea typeface="Noto Sans" charset="0"/>
                        <a:cs typeface="Noto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2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2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2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0200"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7212B"/>
                          </a:solidFill>
                          <a:latin typeface="Noto Sans" pitchFamily="34" charset="0"/>
                          <a:ea typeface="Noto Sans" pitchFamily="34" charset="-122"/>
                          <a:cs typeface="Noto Sans" pitchFamily="34" charset="-120"/>
                        </a:rPr>
                        <a:t>176,6</a:t>
                      </a:r>
                      <a:endParaRPr lang="en-US" sz="1200" dirty="0">
                        <a:latin typeface="Noto Sans" charset="0"/>
                        <a:ea typeface="Noto Sans" charset="0"/>
                        <a:cs typeface="Noto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2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2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7D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7212B"/>
                          </a:solidFill>
                          <a:latin typeface="Noto Sans" pitchFamily="34" charset="0"/>
                          <a:ea typeface="Noto Sans" pitchFamily="34" charset="-122"/>
                          <a:cs typeface="Noto Sans" pitchFamily="34" charset="-120"/>
                        </a:rPr>
                        <a:t>0,095</a:t>
                      </a:r>
                      <a:endParaRPr lang="en-US" sz="1200" dirty="0">
                        <a:latin typeface="Noto Sans" charset="0"/>
                        <a:ea typeface="Noto Sans" charset="0"/>
                        <a:cs typeface="Noto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2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7D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7212B"/>
                          </a:solidFill>
                          <a:latin typeface="Noto Sans" pitchFamily="34" charset="0"/>
                          <a:ea typeface="Noto Sans" pitchFamily="34" charset="-122"/>
                          <a:cs typeface="Noto Sans" pitchFamily="34" charset="-120"/>
                        </a:rPr>
                        <a:t>3,92</a:t>
                      </a:r>
                      <a:endParaRPr lang="en-US" sz="1200" dirty="0">
                        <a:latin typeface="Noto Sans" charset="0"/>
                        <a:ea typeface="Noto Sans" charset="0"/>
                        <a:cs typeface="Noto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2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7D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7212B"/>
                          </a:solidFill>
                          <a:latin typeface="Noto Sans" pitchFamily="34" charset="0"/>
                          <a:ea typeface="Noto Sans" pitchFamily="34" charset="-122"/>
                          <a:cs typeface="Noto Sans" pitchFamily="34" charset="-120"/>
                        </a:rPr>
                        <a:t>0,04</a:t>
                      </a:r>
                      <a:endParaRPr lang="en-US" sz="1200" dirty="0">
                        <a:latin typeface="Noto Sans" charset="0"/>
                        <a:ea typeface="Noto Sans" charset="0"/>
                        <a:cs typeface="Noto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2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7DD"/>
                    </a:solidFill>
                  </a:tcPr>
                </a:tc>
              </a:tr>
            </a:tbl>
          </a:graphicData>
        </a:graphic>
      </p:graphicFrame>
      <p:sp>
        <p:nvSpPr>
          <p:cNvPr id="8" name="Text 4"/>
          <p:cNvSpPr/>
          <p:nvPr/>
        </p:nvSpPr>
        <p:spPr>
          <a:xfrm>
            <a:off x="812800" y="6235700"/>
            <a:ext cx="5898388" cy="2413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6616D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Mexatron modul va robotlarning yuritmalari · Tajriba mashgʻuloti №2</a:t>
            </a:r>
            <a:endParaRPr lang="en-US" sz="1200" dirty="0"/>
          </a:p>
        </p:txBody>
      </p:sp>
      <p:sp>
        <p:nvSpPr>
          <p:cNvPr id="9" name="Text 5"/>
          <p:cNvSpPr/>
          <p:nvPr/>
        </p:nvSpPr>
        <p:spPr>
          <a:xfrm>
            <a:off x="11153987" y="6235700"/>
            <a:ext cx="225213" cy="2413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6616D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11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3F1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A84F1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TAHLIL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02358"/>
            <a:ext cx="10883392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360"/>
              </a:lnSpc>
              <a:buNone/>
            </a:pPr>
            <a:r>
              <a:rPr lang="en-US" sz="3000" b="1" i="0" dirty="0">
                <a:solidFill>
                  <a:srgbClr val="17212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Model va tajriba taqqoslanishi</a:t>
            </a:r>
            <a:endParaRPr lang="en-US" sz="3000" dirty="0"/>
          </a:p>
        </p:txBody>
      </p:sp>
      <p:pic>
        <p:nvPicPr>
          <p:cNvPr id="4" name="Image 0" descr="grafik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12800" y="1732279"/>
            <a:ext cx="6350000" cy="39370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104900" y="5161279"/>
            <a:ext cx="6858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6616D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0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2038350" y="5161279"/>
            <a:ext cx="6858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6616D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50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2965450" y="5161279"/>
            <a:ext cx="6858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6616D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100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3898900" y="5161279"/>
            <a:ext cx="6858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6616D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150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4832350" y="5161279"/>
            <a:ext cx="6858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6616D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200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5759450" y="5161279"/>
            <a:ext cx="6858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6616D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250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6692900" y="5161279"/>
            <a:ext cx="6858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6616D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300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762000" y="4989829"/>
            <a:ext cx="6096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6616D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0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762000" y="4564379"/>
            <a:ext cx="6096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6616D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0,05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762000" y="4138929"/>
            <a:ext cx="6096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6616D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0,1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762000" y="3713479"/>
            <a:ext cx="6096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6616D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0,15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762000" y="3281679"/>
            <a:ext cx="6096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6616D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0,2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762000" y="2856229"/>
            <a:ext cx="6096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6616D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0,25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762000" y="2430779"/>
            <a:ext cx="6096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6616D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0,3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762000" y="2005329"/>
            <a:ext cx="6096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6616D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0,35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1363980" y="5415279"/>
            <a:ext cx="5755640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17212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Fyuk, N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1511300" y="1757679"/>
            <a:ext cx="1962150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17212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v, m/s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7416800" y="1732279"/>
            <a:ext cx="4081272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17212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Chiziqlar — ISO 6358 modeli, nuqtalar — tajriba.</a:t>
            </a:r>
            <a:endParaRPr lang="en-US" sz="1300" dirty="0"/>
          </a:p>
        </p:txBody>
      </p:sp>
      <p:sp>
        <p:nvSpPr>
          <p:cNvPr id="23" name="Text 20"/>
          <p:cNvSpPr/>
          <p:nvPr/>
        </p:nvSpPr>
        <p:spPr>
          <a:xfrm>
            <a:off x="7419975" y="2093596"/>
            <a:ext cx="3956050" cy="770890"/>
          </a:xfrm>
          <a:prstGeom prst="roundRect">
            <a:avLst>
              <a:gd name="adj" fmla="val 11120"/>
            </a:avLst>
          </a:prstGeom>
          <a:solidFill>
            <a:srgbClr val="FBFAF7"/>
          </a:solidFill>
          <a:ln w="6350">
            <a:solidFill>
              <a:srgbClr val="DCD7CB"/>
            </a:solidFill>
            <a:prstDash val="solid"/>
          </a:ln>
        </p:spPr>
        <p:txBody>
          <a:bodyPr wrap="square" lIns="154597" tIns="129197" rIns="46697" bIns="103797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17212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Platoda</a:t>
            </a:r>
            <a:r>
              <a:rPr lang="en-US" sz="1300" dirty="0">
                <a:solidFill>
                  <a:srgbClr val="17212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model va tajriba deyarli toʻliq mos keladi.</a:t>
            </a:r>
            <a:endParaRPr lang="en-US" sz="1300" dirty="0"/>
          </a:p>
        </p:txBody>
      </p:sp>
      <p:sp>
        <p:nvSpPr>
          <p:cNvPr id="24" name="Text 21"/>
          <p:cNvSpPr/>
          <p:nvPr/>
        </p:nvSpPr>
        <p:spPr>
          <a:xfrm>
            <a:off x="7416800" y="2994658"/>
            <a:ext cx="3962400" cy="767080"/>
          </a:xfrm>
          <a:prstGeom prst="roundRect">
            <a:avLst>
              <a:gd name="adj" fmla="val 11589"/>
            </a:avLst>
          </a:prstGeom>
          <a:solidFill>
            <a:srgbClr val="F6E6D8"/>
          </a:solidFill>
          <a:ln/>
        </p:spPr>
        <p:txBody>
          <a:bodyPr wrap="square" lIns="151762" tIns="126362" rIns="43558" bIns="100962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17212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Fₘₐₓ yaqinida</a:t>
            </a:r>
            <a:r>
              <a:rPr lang="en-US" sz="1300" dirty="0">
                <a:solidFill>
                  <a:srgbClr val="17212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tajriba tezligi past: m = 25 kg da model 0,25, tajriba 0,221 m/s.</a:t>
            </a:r>
            <a:endParaRPr lang="en-US" sz="1300" dirty="0"/>
          </a:p>
        </p:txBody>
      </p:sp>
      <p:sp>
        <p:nvSpPr>
          <p:cNvPr id="25" name="Text 22"/>
          <p:cNvSpPr/>
          <p:nvPr/>
        </p:nvSpPr>
        <p:spPr>
          <a:xfrm>
            <a:off x="7416800" y="3888742"/>
            <a:ext cx="4081272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6616D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Sabab: taʼminot liniyasida bosim yoʻqotishi (p₁ = 5,86 &lt; 6 bar).</a:t>
            </a:r>
            <a:endParaRPr lang="en-US" sz="1200" dirty="0"/>
          </a:p>
        </p:txBody>
      </p:sp>
      <p:sp>
        <p:nvSpPr>
          <p:cNvPr id="26" name="Text 23"/>
          <p:cNvSpPr/>
          <p:nvPr/>
        </p:nvSpPr>
        <p:spPr>
          <a:xfrm>
            <a:off x="812800" y="6235700"/>
            <a:ext cx="5898388" cy="2413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6616D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Mexatron modul va robotlarning yuritmalari · Tajriba mashgʻuloti №2</a:t>
            </a:r>
            <a:endParaRPr lang="en-US" sz="1200" dirty="0"/>
          </a:p>
        </p:txBody>
      </p:sp>
      <p:sp>
        <p:nvSpPr>
          <p:cNvPr id="27" name="Text 24"/>
          <p:cNvSpPr/>
          <p:nvPr/>
        </p:nvSpPr>
        <p:spPr>
          <a:xfrm>
            <a:off x="11153987" y="6235700"/>
            <a:ext cx="225213" cy="2413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6616D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12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3F1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A84F1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NATIJALARNI QAYTA ISHLASH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02358"/>
            <a:ext cx="10883392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360"/>
              </a:lnSpc>
              <a:buNone/>
            </a:pPr>
            <a:r>
              <a:rPr lang="en-US" sz="3000" b="1" i="0" dirty="0">
                <a:solidFill>
                  <a:srgbClr val="17212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Namunaviy hisob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15975" y="1735454"/>
            <a:ext cx="10560050" cy="3600450"/>
          </a:xfrm>
          <a:prstGeom prst="roundRect">
            <a:avLst>
              <a:gd name="adj" fmla="val 2381"/>
            </a:avLst>
          </a:prstGeom>
          <a:solidFill>
            <a:srgbClr val="FBFAF7"/>
          </a:solidFill>
          <a:ln w="6350">
            <a:solidFill>
              <a:srgbClr val="DCD7C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59180" y="2045971"/>
            <a:ext cx="1831340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56616D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Porshen yuzalari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014980" y="2028192"/>
            <a:ext cx="6346901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17212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A₁ = π·0,025²/4; A₂ = π(0,025² − 0,010²)/4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9301480" y="1877058"/>
            <a:ext cx="18313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1D5F9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4,909 / 4,123 ·10⁻⁴ m²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1008380" y="2550796"/>
            <a:ext cx="10175240" cy="0"/>
          </a:xfrm>
          <a:prstGeom prst="line">
            <a:avLst/>
          </a:prstGeom>
          <a:noFill/>
          <a:ln w="6350">
            <a:solidFill>
              <a:srgbClr val="DCD7C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59180" y="2680971"/>
            <a:ext cx="1831340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56616D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Muvozanat, m = 20 kg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014980" y="2663192"/>
            <a:ext cx="6346901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17212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p₂ = (5,80·10⁵·A₁ − 210,9 − 15,0) / A₂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9301480" y="2654300"/>
            <a:ext cx="1831340" cy="309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1D5F9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1,43 bar ✓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1008380" y="3043554"/>
            <a:ext cx="10175240" cy="0"/>
          </a:xfrm>
          <a:prstGeom prst="line">
            <a:avLst/>
          </a:prstGeom>
          <a:noFill/>
          <a:ln w="6350">
            <a:solidFill>
              <a:srgbClr val="DCD7C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59180" y="3173729"/>
            <a:ext cx="1831340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56616D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Plato tezligi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014980" y="3155950"/>
            <a:ext cx="6346901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17212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vₘₐₓ = (0,300 + 0,298 + 0,302 + 0,294) / 4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9301480" y="3147058"/>
            <a:ext cx="1831340" cy="309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1D5F9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0,2985 m/s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1008380" y="3536317"/>
            <a:ext cx="10175240" cy="0"/>
          </a:xfrm>
          <a:prstGeom prst="line">
            <a:avLst/>
          </a:prstGeom>
          <a:noFill/>
          <a:ln w="6350">
            <a:solidFill>
              <a:srgbClr val="DCD7C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59180" y="3808729"/>
            <a:ext cx="1831340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56616D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Drossel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014980" y="3790950"/>
            <a:ext cx="6346901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17212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 = vₘₐₓ·A₂ / P₀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9301480" y="3639821"/>
            <a:ext cx="18313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1D5F9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1,231·10⁻⁹ m³/(s·Pa)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1008380" y="4313554"/>
            <a:ext cx="10175240" cy="0"/>
          </a:xfrm>
          <a:prstGeom prst="line">
            <a:avLst/>
          </a:prstGeom>
          <a:noFill/>
          <a:ln w="6350">
            <a:solidFill>
              <a:srgbClr val="DCD7C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59180" y="4443729"/>
            <a:ext cx="1831340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56616D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Kritik yuklama, 6 bar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3014980" y="4425950"/>
            <a:ext cx="6346901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17212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Fₖᵣ = 294,5 − (1,013/0,3 − 1,013)·10⁵·A₂ − 15,0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9301480" y="4417058"/>
            <a:ext cx="1831340" cy="309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1D5F9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182,0 N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1008380" y="4806317"/>
            <a:ext cx="10175240" cy="0"/>
          </a:xfrm>
          <a:prstGeom prst="line">
            <a:avLst/>
          </a:prstGeom>
          <a:noFill/>
          <a:ln w="6350">
            <a:solidFill>
              <a:srgbClr val="DCD7C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059180" y="4936492"/>
            <a:ext cx="1831340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56616D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Kritik yuklama, 4 bar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3014980" y="4918708"/>
            <a:ext cx="6346901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17212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xuddi shunday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9301480" y="4909821"/>
            <a:ext cx="1831340" cy="309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1D5F9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83,9 N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812800" y="6235700"/>
            <a:ext cx="5898388" cy="2413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6616D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Mexatron modul va robotlarning yuritmalari · Tajriba mashgʻuloti №2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11153987" y="6235700"/>
            <a:ext cx="225213" cy="2413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6616D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13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3F1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A84F1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TAHLIL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02358"/>
            <a:ext cx="10883392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360"/>
              </a:lnSpc>
              <a:buNone/>
            </a:pPr>
            <a:r>
              <a:rPr lang="en-US" sz="3000" b="1" i="0" dirty="0">
                <a:solidFill>
                  <a:srgbClr val="17212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Foydali quvvat va optimal yuklanish</a:t>
            </a:r>
            <a:endParaRPr lang="en-US" sz="3000" dirty="0"/>
          </a:p>
        </p:txBody>
      </p:sp>
      <p:pic>
        <p:nvPicPr>
          <p:cNvPr id="4" name="Image 0" descr="grafik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12800" y="1732279"/>
            <a:ext cx="6350000" cy="39370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104900" y="5161279"/>
            <a:ext cx="6858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6616D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0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2038350" y="5161279"/>
            <a:ext cx="6858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6616D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50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2965450" y="5161279"/>
            <a:ext cx="6858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6616D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100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3898900" y="5161279"/>
            <a:ext cx="6858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6616D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150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4832350" y="5161279"/>
            <a:ext cx="6858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6616D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200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5759450" y="5161279"/>
            <a:ext cx="6858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6616D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250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6692900" y="5161279"/>
            <a:ext cx="6858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6616D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300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762000" y="4989829"/>
            <a:ext cx="6096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6616D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0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762000" y="4564379"/>
            <a:ext cx="6096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6616D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10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762000" y="4138929"/>
            <a:ext cx="6096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6616D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20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762000" y="3713479"/>
            <a:ext cx="6096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6616D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30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762000" y="3281679"/>
            <a:ext cx="6096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6616D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40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762000" y="2856229"/>
            <a:ext cx="6096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6616D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50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762000" y="2430779"/>
            <a:ext cx="6096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6616D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60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762000" y="2005329"/>
            <a:ext cx="6096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6616D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70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1363980" y="5415279"/>
            <a:ext cx="5755640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17212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Fyuk, N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1511300" y="1757679"/>
            <a:ext cx="1962150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17212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N, W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7416800" y="1732279"/>
            <a:ext cx="4081272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7212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N = F</a:t>
            </a:r>
            <a:r>
              <a:rPr lang="en-US" sz="1500" b="1" dirty="0">
                <a:solidFill>
                  <a:srgbClr val="1D5F9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yuk</a:t>
            </a:r>
            <a:r>
              <a:rPr lang="en-US" sz="1500" b="1" dirty="0">
                <a:solidFill>
                  <a:srgbClr val="17212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·v, χ = F</a:t>
            </a:r>
            <a:r>
              <a:rPr lang="en-US" sz="1500" b="1" dirty="0">
                <a:solidFill>
                  <a:srgbClr val="1D5F9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yuk</a:t>
            </a:r>
            <a:r>
              <a:rPr lang="en-US" sz="1500" b="1" dirty="0">
                <a:solidFill>
                  <a:srgbClr val="17212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/F</a:t>
            </a:r>
            <a:r>
              <a:rPr lang="en-US" sz="1500" b="1" dirty="0">
                <a:solidFill>
                  <a:srgbClr val="1D5F9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max</a:t>
            </a:r>
            <a:endParaRPr lang="en-US" sz="1500" dirty="0"/>
          </a:p>
        </p:txBody>
      </p:sp>
      <p:sp>
        <p:nvSpPr>
          <p:cNvPr id="23" name="Shape 20"/>
          <p:cNvSpPr/>
          <p:nvPr/>
        </p:nvSpPr>
        <p:spPr>
          <a:xfrm>
            <a:off x="7416800" y="2125979"/>
            <a:ext cx="3962400" cy="970280"/>
          </a:xfrm>
          <a:prstGeom prst="roundRect">
            <a:avLst>
              <a:gd name="adj" fmla="val 9162"/>
            </a:avLst>
          </a:prstGeom>
          <a:solidFill>
            <a:srgbClr val="142130"/>
          </a:solidFill>
          <a:ln/>
        </p:spPr>
      </p:sp>
      <p:sp>
        <p:nvSpPr>
          <p:cNvPr id="24" name="Text 21"/>
          <p:cNvSpPr/>
          <p:nvPr/>
        </p:nvSpPr>
        <p:spPr>
          <a:xfrm>
            <a:off x="7594600" y="2278379"/>
            <a:ext cx="3715004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360"/>
              </a:lnSpc>
              <a:buNone/>
            </a:pPr>
            <a:r>
              <a:rPr lang="en-US" sz="2400" b="1" dirty="0">
                <a:solidFill>
                  <a:srgbClr val="F08A3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66,5 W</a:t>
            </a:r>
            <a:endParaRPr lang="en-US" sz="2400" dirty="0"/>
          </a:p>
        </p:txBody>
      </p:sp>
      <p:sp>
        <p:nvSpPr>
          <p:cNvPr id="25" name="Text 22"/>
          <p:cNvSpPr/>
          <p:nvPr/>
        </p:nvSpPr>
        <p:spPr>
          <a:xfrm>
            <a:off x="7594600" y="2730500"/>
            <a:ext cx="3715004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A9B8C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6 bar, χ = 0,84</a:t>
            </a:r>
            <a:endParaRPr lang="en-US" sz="1200" dirty="0"/>
          </a:p>
        </p:txBody>
      </p:sp>
      <p:sp>
        <p:nvSpPr>
          <p:cNvPr id="26" name="Shape 23"/>
          <p:cNvSpPr/>
          <p:nvPr/>
        </p:nvSpPr>
        <p:spPr>
          <a:xfrm>
            <a:off x="7416800" y="3223258"/>
            <a:ext cx="3962400" cy="970280"/>
          </a:xfrm>
          <a:prstGeom prst="roundRect">
            <a:avLst>
              <a:gd name="adj" fmla="val 9162"/>
            </a:avLst>
          </a:prstGeom>
          <a:solidFill>
            <a:srgbClr val="142130"/>
          </a:solidFill>
          <a:ln/>
        </p:spPr>
      </p:sp>
      <p:sp>
        <p:nvSpPr>
          <p:cNvPr id="27" name="Text 24"/>
          <p:cNvSpPr/>
          <p:nvPr/>
        </p:nvSpPr>
        <p:spPr>
          <a:xfrm>
            <a:off x="7594600" y="3375658"/>
            <a:ext cx="3715004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360"/>
              </a:lnSpc>
              <a:buNone/>
            </a:pPr>
            <a:r>
              <a:rPr lang="en-US" sz="2400" b="1" dirty="0">
                <a:solidFill>
                  <a:srgbClr val="F08A3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38,2 W</a:t>
            </a:r>
            <a:endParaRPr lang="en-US" sz="2400" dirty="0"/>
          </a:p>
        </p:txBody>
      </p:sp>
      <p:sp>
        <p:nvSpPr>
          <p:cNvPr id="28" name="Text 25"/>
          <p:cNvSpPr/>
          <p:nvPr/>
        </p:nvSpPr>
        <p:spPr>
          <a:xfrm>
            <a:off x="7594600" y="3827779"/>
            <a:ext cx="3715004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A9B8C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4 bar, χ = 0,76</a:t>
            </a:r>
            <a:endParaRPr lang="en-US" sz="1200" dirty="0"/>
          </a:p>
        </p:txBody>
      </p:sp>
      <p:sp>
        <p:nvSpPr>
          <p:cNvPr id="29" name="Text 26"/>
          <p:cNvSpPr/>
          <p:nvPr/>
        </p:nvSpPr>
        <p:spPr>
          <a:xfrm>
            <a:off x="7416800" y="4320542"/>
            <a:ext cx="408127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6616D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Amaliyotda tavsiya: χ = 0,5…0,8.</a:t>
            </a:r>
            <a:endParaRPr lang="en-US" sz="1200" dirty="0"/>
          </a:p>
        </p:txBody>
      </p:sp>
      <p:sp>
        <p:nvSpPr>
          <p:cNvPr id="30" name="Text 27"/>
          <p:cNvSpPr/>
          <p:nvPr/>
        </p:nvSpPr>
        <p:spPr>
          <a:xfrm>
            <a:off x="812800" y="6235700"/>
            <a:ext cx="5898388" cy="2413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6616D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Mexatron modul va robotlarning yuritmalari · Tajriba mashgʻuloti №2</a:t>
            </a:r>
            <a:endParaRPr lang="en-US" sz="1200" dirty="0"/>
          </a:p>
        </p:txBody>
      </p:sp>
      <p:sp>
        <p:nvSpPr>
          <p:cNvPr id="31" name="Text 28"/>
          <p:cNvSpPr/>
          <p:nvPr/>
        </p:nvSpPr>
        <p:spPr>
          <a:xfrm>
            <a:off x="11153987" y="6235700"/>
            <a:ext cx="225213" cy="2413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6616D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14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3F1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A84F1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HISOBOT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02358"/>
            <a:ext cx="10883392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360"/>
              </a:lnSpc>
              <a:buNone/>
            </a:pPr>
            <a:r>
              <a:rPr lang="en-US" sz="3000" b="1" i="0" dirty="0">
                <a:solidFill>
                  <a:srgbClr val="17212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Hisobot mazmuni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15975" y="1735454"/>
            <a:ext cx="10560050" cy="2741930"/>
          </a:xfrm>
          <a:prstGeom prst="roundRect">
            <a:avLst>
              <a:gd name="adj" fmla="val 3126"/>
            </a:avLst>
          </a:prstGeom>
          <a:solidFill>
            <a:srgbClr val="FBFAF7"/>
          </a:solidFill>
          <a:ln w="6350">
            <a:solidFill>
              <a:srgbClr val="DCD7C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71880" y="1889758"/>
            <a:ext cx="355600" cy="345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b="1" dirty="0">
                <a:solidFill>
                  <a:srgbClr val="C8621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529080" y="1925321"/>
            <a:ext cx="987877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17212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Fₛₜ = f(pₛ) ni nazariy pₛ·A₁ chizigʻi bilan solishtirish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1021080" y="2314575"/>
            <a:ext cx="10149840" cy="0"/>
          </a:xfrm>
          <a:prstGeom prst="line">
            <a:avLst/>
          </a:prstGeom>
          <a:noFill/>
          <a:ln w="6350">
            <a:solidFill>
              <a:srgbClr val="DCD7C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71880" y="2418079"/>
            <a:ext cx="355600" cy="345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b="1" dirty="0">
                <a:solidFill>
                  <a:srgbClr val="C8621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2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529080" y="2453642"/>
            <a:ext cx="987877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17212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Ikki bosimda v = f(F) ni bitta grafikda qurish, Fₖᵣ va Fₘₐₓ ni topish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1021080" y="2842896"/>
            <a:ext cx="10149840" cy="0"/>
          </a:xfrm>
          <a:prstGeom prst="line">
            <a:avLst/>
          </a:prstGeom>
          <a:noFill/>
          <a:ln w="6350">
            <a:solidFill>
              <a:srgbClr val="DCD7C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71880" y="2946400"/>
            <a:ext cx="355600" cy="345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b="1" dirty="0">
                <a:solidFill>
                  <a:srgbClr val="C8621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3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529080" y="2981958"/>
            <a:ext cx="987877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17212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p₂ = f(F) ni qurish va p₂ &gt; p₁ sababini tushuntirish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1021080" y="3371217"/>
            <a:ext cx="10149840" cy="0"/>
          </a:xfrm>
          <a:prstGeom prst="line">
            <a:avLst/>
          </a:prstGeom>
          <a:noFill/>
          <a:ln w="6350">
            <a:solidFill>
              <a:srgbClr val="DCD7C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71880" y="3474721"/>
            <a:ext cx="355600" cy="345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b="1" dirty="0">
                <a:solidFill>
                  <a:srgbClr val="C8621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4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529080" y="3510279"/>
            <a:ext cx="987877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17212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 ni aniqlab, model va tajriba farqini tahlil qilish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1021080" y="3899533"/>
            <a:ext cx="10149840" cy="0"/>
          </a:xfrm>
          <a:prstGeom prst="line">
            <a:avLst/>
          </a:prstGeom>
          <a:noFill/>
          <a:ln w="6350">
            <a:solidFill>
              <a:srgbClr val="DCD7C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71880" y="4003042"/>
            <a:ext cx="355600" cy="345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b="1" dirty="0">
                <a:solidFill>
                  <a:srgbClr val="C8621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5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529080" y="4038600"/>
            <a:ext cx="987877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17212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N = f(F) boʻyicha robot uchun ish rejimi xulosasi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812800" y="6235700"/>
            <a:ext cx="5898388" cy="2413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6616D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Mexatron modul va robotlarning yuritmalari · Tajriba mashgʻuloti №2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1153987" y="6235700"/>
            <a:ext cx="225213" cy="2413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6616D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15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3F1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A84F1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NAZORAT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02358"/>
            <a:ext cx="10883392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360"/>
              </a:lnSpc>
              <a:buNone/>
            </a:pPr>
            <a:r>
              <a:rPr lang="en-US" sz="3000" b="1" i="0" dirty="0">
                <a:solidFill>
                  <a:srgbClr val="17212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Nazorat savollari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15975" y="1735460"/>
            <a:ext cx="5207000" cy="763270"/>
          </a:xfrm>
          <a:prstGeom prst="roundRect">
            <a:avLst>
              <a:gd name="adj" fmla="val 11231"/>
            </a:avLst>
          </a:prstGeom>
          <a:solidFill>
            <a:srgbClr val="FBFAF7"/>
          </a:solidFill>
          <a:ln w="6350">
            <a:solidFill>
              <a:srgbClr val="DCD7C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82980" y="1877058"/>
            <a:ext cx="3556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2000" b="1" dirty="0">
                <a:solidFill>
                  <a:srgbClr val="C8621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414780" y="1877058"/>
            <a:ext cx="4574426" cy="5054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350" dirty="0">
                <a:solidFill>
                  <a:srgbClr val="17212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Yuklama xarakteristikasi nima va u elektr yuritmaning mexanik xarakteristikasidan nimasi bilan farq qiladi?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169025" y="1735460"/>
            <a:ext cx="5207000" cy="763270"/>
          </a:xfrm>
          <a:prstGeom prst="roundRect">
            <a:avLst>
              <a:gd name="adj" fmla="val 11231"/>
            </a:avLst>
          </a:prstGeom>
          <a:solidFill>
            <a:srgbClr val="FBFAF7"/>
          </a:solidFill>
          <a:ln w="6350">
            <a:solidFill>
              <a:srgbClr val="DCD7C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336030" y="1877058"/>
            <a:ext cx="3556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2000" b="1" dirty="0">
                <a:solidFill>
                  <a:srgbClr val="C8621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2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6767830" y="1877058"/>
            <a:ext cx="4574426" cy="5054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350" dirty="0">
                <a:solidFill>
                  <a:srgbClr val="17212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Nima uchun kritik rejimda tezlik yuklamaga ham, bosimga ham bogʻliq emas?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815975" y="2644775"/>
            <a:ext cx="5207000" cy="763270"/>
          </a:xfrm>
          <a:prstGeom prst="roundRect">
            <a:avLst>
              <a:gd name="adj" fmla="val 11231"/>
            </a:avLst>
          </a:prstGeom>
          <a:solidFill>
            <a:srgbClr val="FBFAF7"/>
          </a:solidFill>
          <a:ln w="6350">
            <a:solidFill>
              <a:srgbClr val="DCD7C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82980" y="2786385"/>
            <a:ext cx="3556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2000" b="1" dirty="0">
                <a:solidFill>
                  <a:srgbClr val="C8621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3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414780" y="2786385"/>
            <a:ext cx="4574426" cy="5054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350" dirty="0">
                <a:solidFill>
                  <a:srgbClr val="17212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Kritik yuklama qanday aniqlanadi va bosimga qanday bogʻliq?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169025" y="2644775"/>
            <a:ext cx="5207000" cy="763270"/>
          </a:xfrm>
          <a:prstGeom prst="roundRect">
            <a:avLst>
              <a:gd name="adj" fmla="val 11231"/>
            </a:avLst>
          </a:prstGeom>
          <a:solidFill>
            <a:srgbClr val="FBFAF7"/>
          </a:solidFill>
          <a:ln w="6350">
            <a:solidFill>
              <a:srgbClr val="DCD7C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36030" y="2786385"/>
            <a:ext cx="3556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2000" b="1" dirty="0">
                <a:solidFill>
                  <a:srgbClr val="C8621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4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6767830" y="2786385"/>
            <a:ext cx="4574426" cy="5054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350" dirty="0">
                <a:solidFill>
                  <a:srgbClr val="17212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Kichik yuklamalarda p₂ nima uchun taʼminot bosimidan yuqori boʻladi?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815975" y="3554090"/>
            <a:ext cx="5207000" cy="763270"/>
          </a:xfrm>
          <a:prstGeom prst="roundRect">
            <a:avLst>
              <a:gd name="adj" fmla="val 11231"/>
            </a:avLst>
          </a:prstGeom>
          <a:solidFill>
            <a:srgbClr val="FBFAF7"/>
          </a:solidFill>
          <a:ln w="6350">
            <a:solidFill>
              <a:srgbClr val="DCD7C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82980" y="3695700"/>
            <a:ext cx="3556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2000" b="1" dirty="0">
                <a:solidFill>
                  <a:srgbClr val="C8621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5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1414780" y="3695700"/>
            <a:ext cx="4574426" cy="5054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350" dirty="0">
                <a:solidFill>
                  <a:srgbClr val="17212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Nima uchun bosim ortishi bilan mexanik FIK biroz oshadi?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6169025" y="3554090"/>
            <a:ext cx="5207000" cy="763270"/>
          </a:xfrm>
          <a:prstGeom prst="roundRect">
            <a:avLst>
              <a:gd name="adj" fmla="val 11231"/>
            </a:avLst>
          </a:prstGeom>
          <a:solidFill>
            <a:srgbClr val="FBFAF7"/>
          </a:solidFill>
          <a:ln w="6350">
            <a:solidFill>
              <a:srgbClr val="DCD7C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336030" y="3695700"/>
            <a:ext cx="3556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2000" b="1" dirty="0">
                <a:solidFill>
                  <a:srgbClr val="C8621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6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6767830" y="3695700"/>
            <a:ext cx="4574426" cy="5054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350" dirty="0">
                <a:solidFill>
                  <a:srgbClr val="17212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Quvvat nima uchun Fₘₐₓ dan kichik yuklamada maksimumga erishadi?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812800" y="6235700"/>
            <a:ext cx="5898388" cy="2413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6616D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Mexatron modul va robotlarning yuritmalari · Tajriba mashgʻuloti №2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1153987" y="6235700"/>
            <a:ext cx="225213" cy="2413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6616D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16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nevmoyuritma yuklama xarakteristikasini aniqlash">
  <a:themeElements>
    <a:clrScheme name="Pnevmoyuritma yuklama xarakteristikasini aniqlash">
      <a:dk1>
        <a:srgbClr val="17212B"/>
      </a:dk1>
      <a:lt1>
        <a:srgbClr val="F3F1EB"/>
      </a:lt1>
      <a:dk2>
        <a:srgbClr val="4E555B"/>
      </a:dk2>
      <a:lt2>
        <a:srgbClr val="DDDCD8"/>
      </a:lt2>
      <a:accent1>
        <a:srgbClr val="A84F12"/>
      </a:accent1>
      <a:accent2>
        <a:srgbClr val="C8621A"/>
      </a:accent2>
      <a:accent3>
        <a:srgbClr val="1D5F9E"/>
      </a:accent3>
      <a:accent4>
        <a:srgbClr val="F08A3C"/>
      </a:accent4>
      <a:accent5>
        <a:srgbClr val="C0504D"/>
      </a:accent5>
      <a:accent6>
        <a:srgbClr val="56616D"/>
      </a:accent6>
      <a:hlink>
        <a:srgbClr val="0563C1"/>
      </a:hlink>
      <a:folHlink>
        <a:srgbClr val="954F72"/>
      </a:folHlink>
    </a:clrScheme>
    <a:fontScheme name="Pnevmoyuritma yuklama xarakteristikasini aniqlash">
      <a:majorFont>
        <a:latin typeface="Noto Sans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Noto San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Pnevmoyuritma yuklama xarakteristikasini aniqlash</dc:title>
  <dc:subject/>
  <dc:creator/>
  <cp:lastModifiedBy/>
  <cp:revision>1</cp:revision>
  <dcterms:created xsi:type="dcterms:W3CDTF">2026-10-19T07:02:57Z</dcterms:created>
  <dcterms:modified xsi:type="dcterms:W3CDTF">2026-10-19T07:02:57Z</dcterms:modified>
</cp:coreProperties>
</file>